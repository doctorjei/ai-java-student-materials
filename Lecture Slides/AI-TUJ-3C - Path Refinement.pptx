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www.gamedev.net/forums/topic/539575-string-pulling-explained/" TargetMode="External"/><Relationship Id="rId3" Type="http://schemas.openxmlformats.org/officeDocument/2006/relationships/hyperlink" Target="http://ahamnett.blogspot.com/2012/10/funnel-algorithm.html" TargetMode="External"/><Relationship Id="rId4" Type="http://schemas.openxmlformats.org/officeDocument/2006/relationships/hyperlink" Target="http://geomalgorithms.com/a01-_area.html" TargetMode="External"/><Relationship Id="rId5" Type="http://schemas.openxmlformats.org/officeDocument/2006/relationships/hyperlink" Target="https://www.gamasutra.com/view/feature/131505/toward_more_realistic_pathfinding.php" TargetMode="External"/><Relationship Id="rId6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2800" cy="4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Problem Space Representation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8640" cy="79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92" strike="noStrike">
                <a:solidFill>
                  <a:schemeClr val="lt1"/>
                </a:solidFill>
                <a:latin typeface="Garamond"/>
              </a:rPr>
              <a:t>Search Graphs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Graphic 9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71600" y="2440080"/>
            <a:ext cx="8941680" cy="223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9"/>
          <p:cNvSpPr/>
          <p:nvPr/>
        </p:nvSpPr>
        <p:spPr>
          <a:xfrm>
            <a:off x="5448600" y="4204080"/>
            <a:ext cx="109584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604440" y="1272600"/>
            <a:ext cx="10981800" cy="37306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algn="just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When our path is an abstraction of the traversable space, we can further enhance that path refine its trajectory and aesthetics, making it more “natural”.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algn="just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chemeClr val="lt1"/>
                </a:solidFill>
                <a:uFillTx/>
                <a:latin typeface="Garamond"/>
              </a:rPr>
              <a:t>Path Refinement Techniques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600" spc="-1" strike="noStrike">
                <a:solidFill>
                  <a:schemeClr val="lt1"/>
                </a:solidFill>
                <a:latin typeface="Garamond"/>
              </a:rPr>
              <a:t>String-Pulling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Funneling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Path Smoothing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Steering Behaviors (later!)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3240" cy="69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Path Refinement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Rectangle 30"/>
          <p:cNvSpPr/>
          <p:nvPr/>
        </p:nvSpPr>
        <p:spPr>
          <a:xfrm>
            <a:off x="4912200" y="2551680"/>
            <a:ext cx="2741760" cy="2741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3" name="Rectangle 31"/>
          <p:cNvSpPr/>
          <p:nvPr/>
        </p:nvSpPr>
        <p:spPr>
          <a:xfrm>
            <a:off x="6009480" y="3648960"/>
            <a:ext cx="164592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4" name="Rectangle 32"/>
          <p:cNvSpPr/>
          <p:nvPr/>
        </p:nvSpPr>
        <p:spPr>
          <a:xfrm>
            <a:off x="5460840" y="2551680"/>
            <a:ext cx="54720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5" name="Rectangle 33"/>
          <p:cNvSpPr/>
          <p:nvPr/>
        </p:nvSpPr>
        <p:spPr>
          <a:xfrm>
            <a:off x="7106760" y="4197600"/>
            <a:ext cx="54720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6" name="Rectangle 34"/>
          <p:cNvSpPr/>
          <p:nvPr/>
        </p:nvSpPr>
        <p:spPr>
          <a:xfrm>
            <a:off x="6009480" y="4746240"/>
            <a:ext cx="109584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7" name="Rectangle 35"/>
          <p:cNvSpPr/>
          <p:nvPr/>
        </p:nvSpPr>
        <p:spPr>
          <a:xfrm>
            <a:off x="6558120" y="4197600"/>
            <a:ext cx="544680" cy="54720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8" name="Rectangle 36"/>
          <p:cNvSpPr/>
          <p:nvPr/>
        </p:nvSpPr>
        <p:spPr>
          <a:xfrm>
            <a:off x="6021720" y="2551680"/>
            <a:ext cx="1644120" cy="1089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9" name="Rectangle 37"/>
          <p:cNvSpPr/>
          <p:nvPr/>
        </p:nvSpPr>
        <p:spPr>
          <a:xfrm>
            <a:off x="6558120" y="4746240"/>
            <a:ext cx="544680" cy="54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0" name="Rectangle 38"/>
          <p:cNvSpPr/>
          <p:nvPr/>
        </p:nvSpPr>
        <p:spPr>
          <a:xfrm>
            <a:off x="6008400" y="3100320"/>
            <a:ext cx="1094400" cy="109584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" name="Oval 5"/>
          <p:cNvSpPr/>
          <p:nvPr/>
        </p:nvSpPr>
        <p:spPr>
          <a:xfrm>
            <a:off x="5003640" y="2642760"/>
            <a:ext cx="364320" cy="364320"/>
          </a:xfrm>
          <a:prstGeom prst="ellipse">
            <a:avLst/>
          </a:prstGeom>
          <a:gradFill rotWithShape="0">
            <a:gsLst>
              <a:gs pos="0">
                <a:srgbClr val="008000"/>
              </a:gs>
              <a:gs pos="20000">
                <a:srgbClr val="33cc33"/>
              </a:gs>
              <a:gs pos="100000">
                <a:srgbClr val="00ff00"/>
              </a:gs>
            </a:gsLst>
            <a:lin ang="5400000"/>
          </a:gradFill>
          <a:ln w="38100">
            <a:solidFill>
              <a:srgbClr val="006600"/>
            </a:solidFill>
            <a:round/>
          </a:ln>
          <a:effectLst>
            <a:outerShdw blurRad="39960"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Garamond"/>
              <a:ea typeface="ＭＳ Ｐゴシック"/>
            </a:endParaRPr>
          </a:p>
        </p:txBody>
      </p:sp>
      <p:sp>
        <p:nvSpPr>
          <p:cNvPr id="22" name="Oval 6"/>
          <p:cNvSpPr/>
          <p:nvPr/>
        </p:nvSpPr>
        <p:spPr>
          <a:xfrm>
            <a:off x="7202880" y="4850640"/>
            <a:ext cx="364320" cy="364320"/>
          </a:xfrm>
          <a:prstGeom prst="ellipse">
            <a:avLst/>
          </a:prstGeom>
          <a:gradFill rotWithShape="0">
            <a:gsLst>
              <a:gs pos="0">
                <a:srgbClr val="800000"/>
              </a:gs>
              <a:gs pos="20000">
                <a:srgbClr val="ff0000"/>
              </a:gs>
              <a:gs pos="100000">
                <a:srgbClr val="ff0200"/>
              </a:gs>
            </a:gsLst>
            <a:lin ang="5400000"/>
          </a:gradFill>
          <a:ln w="38100">
            <a:solidFill>
              <a:srgbClr val="800000"/>
            </a:solidFill>
            <a:round/>
          </a:ln>
          <a:effectLst>
            <a:outerShdw blurRad="39960"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Garamond"/>
              <a:ea typeface="ＭＳ Ｐゴシック"/>
            </a:endParaRPr>
          </a:p>
        </p:txBody>
      </p:sp>
      <p:cxnSp>
        <p:nvCxnSpPr>
          <p:cNvPr id="23" name="Straight Arrow Connector 7"/>
          <p:cNvCxnSpPr/>
          <p:nvPr/>
        </p:nvCxnSpPr>
        <p:spPr>
          <a:xfrm>
            <a:off x="6281640" y="5033160"/>
            <a:ext cx="550080" cy="144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24" name="Straight Arrow Connector 8"/>
          <p:cNvCxnSpPr/>
          <p:nvPr/>
        </p:nvCxnSpPr>
        <p:spPr>
          <a:xfrm>
            <a:off x="6829560" y="5040360"/>
            <a:ext cx="550080" cy="144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25" name="Straight Arrow Connector 9"/>
          <p:cNvCxnSpPr/>
          <p:nvPr/>
        </p:nvCxnSpPr>
        <p:spPr>
          <a:xfrm>
            <a:off x="5717520" y="4442400"/>
            <a:ext cx="553680" cy="56340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26" name="Straight Arrow Connector 10"/>
          <p:cNvCxnSpPr/>
          <p:nvPr/>
        </p:nvCxnSpPr>
        <p:spPr>
          <a:xfrm>
            <a:off x="5733720" y="3907080"/>
            <a:ext cx="1440" cy="55008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27" name="Straight Arrow Connector 11"/>
          <p:cNvCxnSpPr/>
          <p:nvPr/>
        </p:nvCxnSpPr>
        <p:spPr>
          <a:xfrm>
            <a:off x="5172480" y="3345120"/>
            <a:ext cx="553680" cy="56340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28" name="Straight Arrow Connector 13"/>
          <p:cNvCxnSpPr/>
          <p:nvPr/>
        </p:nvCxnSpPr>
        <p:spPr>
          <a:xfrm>
            <a:off x="5193720" y="2822400"/>
            <a:ext cx="1440" cy="55008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sp>
        <p:nvSpPr>
          <p:cNvPr id="29" name="Rectangle 39"/>
          <p:cNvSpPr/>
          <p:nvPr/>
        </p:nvSpPr>
        <p:spPr>
          <a:xfrm>
            <a:off x="9170280" y="4201920"/>
            <a:ext cx="109584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0" name="Rectangle 40"/>
          <p:cNvSpPr/>
          <p:nvPr/>
        </p:nvSpPr>
        <p:spPr>
          <a:xfrm>
            <a:off x="8633880" y="2549160"/>
            <a:ext cx="2741760" cy="2741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1" name="Rectangle 41"/>
          <p:cNvSpPr/>
          <p:nvPr/>
        </p:nvSpPr>
        <p:spPr>
          <a:xfrm>
            <a:off x="9731160" y="3646440"/>
            <a:ext cx="164592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2" name="Rectangle 42"/>
          <p:cNvSpPr/>
          <p:nvPr/>
        </p:nvSpPr>
        <p:spPr>
          <a:xfrm>
            <a:off x="9182520" y="2549160"/>
            <a:ext cx="54720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3" name="Rectangle 64"/>
          <p:cNvSpPr/>
          <p:nvPr/>
        </p:nvSpPr>
        <p:spPr>
          <a:xfrm>
            <a:off x="10828440" y="4195080"/>
            <a:ext cx="54720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4" name="Rectangle 65"/>
          <p:cNvSpPr/>
          <p:nvPr/>
        </p:nvSpPr>
        <p:spPr>
          <a:xfrm>
            <a:off x="9731160" y="4743720"/>
            <a:ext cx="109584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5" name="Rectangle 66"/>
          <p:cNvSpPr/>
          <p:nvPr/>
        </p:nvSpPr>
        <p:spPr>
          <a:xfrm>
            <a:off x="10279800" y="4195080"/>
            <a:ext cx="544680" cy="54720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6" name="Rectangle 67"/>
          <p:cNvSpPr/>
          <p:nvPr/>
        </p:nvSpPr>
        <p:spPr>
          <a:xfrm>
            <a:off x="9731160" y="2549160"/>
            <a:ext cx="1644120" cy="1089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7" name="Rectangle 68"/>
          <p:cNvSpPr/>
          <p:nvPr/>
        </p:nvSpPr>
        <p:spPr>
          <a:xfrm>
            <a:off x="10279800" y="4743720"/>
            <a:ext cx="544680" cy="54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8" name="Rectangle 69"/>
          <p:cNvSpPr/>
          <p:nvPr/>
        </p:nvSpPr>
        <p:spPr>
          <a:xfrm>
            <a:off x="9730080" y="3097800"/>
            <a:ext cx="1094400" cy="109584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9" name="Oval 7"/>
          <p:cNvSpPr/>
          <p:nvPr/>
        </p:nvSpPr>
        <p:spPr>
          <a:xfrm>
            <a:off x="8725320" y="2640240"/>
            <a:ext cx="364320" cy="364320"/>
          </a:xfrm>
          <a:prstGeom prst="ellipse">
            <a:avLst/>
          </a:prstGeom>
          <a:gradFill rotWithShape="0">
            <a:gsLst>
              <a:gs pos="0">
                <a:srgbClr val="008000"/>
              </a:gs>
              <a:gs pos="20000">
                <a:srgbClr val="33cc33"/>
              </a:gs>
              <a:gs pos="100000">
                <a:srgbClr val="00ff00"/>
              </a:gs>
            </a:gsLst>
            <a:lin ang="5400000"/>
          </a:gradFill>
          <a:ln w="38100">
            <a:solidFill>
              <a:srgbClr val="006600"/>
            </a:solidFill>
            <a:round/>
          </a:ln>
          <a:effectLst>
            <a:outerShdw blurRad="39960"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Garamond"/>
              <a:ea typeface="ＭＳ Ｐゴシック"/>
            </a:endParaRPr>
          </a:p>
        </p:txBody>
      </p:sp>
      <p:sp>
        <p:nvSpPr>
          <p:cNvPr id="40" name="Oval 8"/>
          <p:cNvSpPr/>
          <p:nvPr/>
        </p:nvSpPr>
        <p:spPr>
          <a:xfrm>
            <a:off x="10924560" y="4848120"/>
            <a:ext cx="364320" cy="364320"/>
          </a:xfrm>
          <a:prstGeom prst="ellipse">
            <a:avLst/>
          </a:prstGeom>
          <a:gradFill rotWithShape="0">
            <a:gsLst>
              <a:gs pos="0">
                <a:srgbClr val="800000"/>
              </a:gs>
              <a:gs pos="20000">
                <a:srgbClr val="ff0000"/>
              </a:gs>
              <a:gs pos="100000">
                <a:srgbClr val="ff0200"/>
              </a:gs>
            </a:gsLst>
            <a:lin ang="5400000"/>
          </a:gradFill>
          <a:ln w="38100">
            <a:solidFill>
              <a:srgbClr val="800000"/>
            </a:solidFill>
            <a:round/>
          </a:ln>
          <a:effectLst>
            <a:outerShdw blurRad="39960"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Garamond"/>
              <a:ea typeface="ＭＳ Ｐゴシック"/>
            </a:endParaRPr>
          </a:p>
        </p:txBody>
      </p:sp>
      <p:grpSp>
        <p:nvGrpSpPr>
          <p:cNvPr id="41" name=""/>
          <p:cNvGrpSpPr/>
          <p:nvPr/>
        </p:nvGrpSpPr>
        <p:grpSpPr>
          <a:xfrm>
            <a:off x="8826120" y="1537560"/>
            <a:ext cx="2265840" cy="3513960"/>
            <a:chOff x="8826120" y="1537560"/>
            <a:chExt cx="2265840" cy="3513960"/>
          </a:xfrm>
        </p:grpSpPr>
        <p:sp>
          <p:nvSpPr>
            <p:cNvPr id="42" name="Arc 68"/>
            <p:cNvSpPr/>
            <p:nvPr/>
          </p:nvSpPr>
          <p:spPr>
            <a:xfrm rot="10971600">
              <a:off x="8890200" y="1571400"/>
              <a:ext cx="1420200" cy="2615400"/>
            </a:xfrm>
            <a:prstGeom prst="arc">
              <a:avLst>
                <a:gd name="adj1" fmla="val 17497394"/>
                <a:gd name="adj2" fmla="val 0"/>
              </a:avLst>
            </a:prstGeom>
            <a:noFill/>
            <a:ln w="50800">
              <a:solidFill>
                <a:srgbClr val="ffc000"/>
              </a:solidFill>
              <a:rou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cxnSp>
          <p:nvCxnSpPr>
            <p:cNvPr id="43" name="Straight Connector 70"/>
            <p:cNvCxnSpPr/>
            <p:nvPr/>
          </p:nvCxnSpPr>
          <p:spPr>
            <a:xfrm>
              <a:off x="9121680" y="3904920"/>
              <a:ext cx="958320" cy="949680"/>
            </a:xfrm>
            <a:prstGeom prst="straightConnector1">
              <a:avLst/>
            </a:prstGeom>
            <a:ln cap="rnd" w="50800">
              <a:solidFill>
                <a:srgbClr val="ffc000"/>
              </a:solidFill>
              <a:round/>
            </a:ln>
          </p:spPr>
        </p:cxnSp>
        <p:sp>
          <p:nvSpPr>
            <p:cNvPr id="44" name="Arc 71"/>
            <p:cNvSpPr/>
            <p:nvPr/>
          </p:nvSpPr>
          <p:spPr>
            <a:xfrm rot="10800000">
              <a:off x="9933120" y="3871440"/>
              <a:ext cx="1158120" cy="1179360"/>
            </a:xfrm>
            <a:prstGeom prst="arc">
              <a:avLst>
                <a:gd name="adj1" fmla="val 16378512"/>
                <a:gd name="adj2" fmla="val 19042746"/>
              </a:avLst>
            </a:prstGeom>
            <a:noFill/>
            <a:ln cap="sq" w="50800">
              <a:solidFill>
                <a:srgbClr val="ffc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cxnSp>
          <p:nvCxnSpPr>
            <p:cNvPr id="45" name="Straight Connector 73"/>
            <p:cNvCxnSpPr>
              <a:stCxn id="44" idx="0"/>
            </p:cNvCxnSpPr>
            <p:nvPr/>
          </p:nvCxnSpPr>
          <p:spPr>
            <a:xfrm>
              <a:off x="10512360" y="5050800"/>
              <a:ext cx="579960" cy="1080"/>
            </a:xfrm>
            <a:prstGeom prst="straightConnector1">
              <a:avLst/>
            </a:prstGeom>
            <a:ln cap="sq" w="50800">
              <a:solidFill>
                <a:srgbClr val="ffc000"/>
              </a:solidFill>
              <a:round/>
            </a:ln>
          </p:spPr>
        </p:cxnSp>
      </p:grpSp>
      <p:sp>
        <p:nvSpPr>
          <p:cNvPr id="46" name="Arrow: Right 2"/>
          <p:cNvSpPr/>
          <p:nvPr/>
        </p:nvSpPr>
        <p:spPr>
          <a:xfrm>
            <a:off x="7911000" y="3763080"/>
            <a:ext cx="477360" cy="36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>
            <a:solidFill>
              <a:srgbClr val="ff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/>
          </p:nvPr>
        </p:nvSpPr>
        <p:spPr>
          <a:xfrm>
            <a:off x="884160" y="1421640"/>
            <a:ext cx="10710000" cy="11570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The String-Pulling algorithm identifies intermediary steps that can be removed from a path to improve it.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3240" cy="69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String-Pulling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Rectangle 1"/>
          <p:cNvSpPr/>
          <p:nvPr/>
        </p:nvSpPr>
        <p:spPr>
          <a:xfrm>
            <a:off x="1667520" y="4536360"/>
            <a:ext cx="109584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0" name="Rectangle 2"/>
          <p:cNvSpPr/>
          <p:nvPr/>
        </p:nvSpPr>
        <p:spPr>
          <a:xfrm>
            <a:off x="1131120" y="2883600"/>
            <a:ext cx="2741760" cy="2741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1" name="Rectangle 4"/>
          <p:cNvSpPr/>
          <p:nvPr/>
        </p:nvSpPr>
        <p:spPr>
          <a:xfrm>
            <a:off x="2228400" y="3980880"/>
            <a:ext cx="164592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2" name="Rectangle 16"/>
          <p:cNvSpPr/>
          <p:nvPr/>
        </p:nvSpPr>
        <p:spPr>
          <a:xfrm>
            <a:off x="1679760" y="2883600"/>
            <a:ext cx="54720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3" name="Rectangle 17"/>
          <p:cNvSpPr/>
          <p:nvPr/>
        </p:nvSpPr>
        <p:spPr>
          <a:xfrm>
            <a:off x="3325680" y="4529520"/>
            <a:ext cx="54720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4" name="Rectangle 18"/>
          <p:cNvSpPr/>
          <p:nvPr/>
        </p:nvSpPr>
        <p:spPr>
          <a:xfrm>
            <a:off x="2228400" y="5078160"/>
            <a:ext cx="109584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5" name="Rectangle 19"/>
          <p:cNvSpPr/>
          <p:nvPr/>
        </p:nvSpPr>
        <p:spPr>
          <a:xfrm>
            <a:off x="2777040" y="4529520"/>
            <a:ext cx="544680" cy="54720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6" name="Rectangle 20"/>
          <p:cNvSpPr/>
          <p:nvPr/>
        </p:nvSpPr>
        <p:spPr>
          <a:xfrm>
            <a:off x="2240640" y="2883600"/>
            <a:ext cx="1644120" cy="1089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7" name="Rectangle 21"/>
          <p:cNvSpPr/>
          <p:nvPr/>
        </p:nvSpPr>
        <p:spPr>
          <a:xfrm>
            <a:off x="2777040" y="5078160"/>
            <a:ext cx="544680" cy="54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8" name="Rectangle 22"/>
          <p:cNvSpPr/>
          <p:nvPr/>
        </p:nvSpPr>
        <p:spPr>
          <a:xfrm>
            <a:off x="2227320" y="3432240"/>
            <a:ext cx="1094400" cy="109584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9" name="Oval 1"/>
          <p:cNvSpPr/>
          <p:nvPr/>
        </p:nvSpPr>
        <p:spPr>
          <a:xfrm>
            <a:off x="1222560" y="2974680"/>
            <a:ext cx="364320" cy="364320"/>
          </a:xfrm>
          <a:prstGeom prst="ellipse">
            <a:avLst/>
          </a:prstGeom>
          <a:gradFill rotWithShape="0">
            <a:gsLst>
              <a:gs pos="0">
                <a:srgbClr val="008000"/>
              </a:gs>
              <a:gs pos="20000">
                <a:srgbClr val="33cc33"/>
              </a:gs>
              <a:gs pos="100000">
                <a:srgbClr val="00ff00"/>
              </a:gs>
            </a:gsLst>
            <a:lin ang="5400000"/>
          </a:gradFill>
          <a:ln w="38100">
            <a:solidFill>
              <a:srgbClr val="006600"/>
            </a:solidFill>
            <a:round/>
          </a:ln>
          <a:effectLst>
            <a:outerShdw blurRad="39960"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Garamond"/>
              <a:ea typeface="ＭＳ Ｐゴシック"/>
            </a:endParaRPr>
          </a:p>
        </p:txBody>
      </p:sp>
      <p:sp>
        <p:nvSpPr>
          <p:cNvPr id="60" name="Oval 2"/>
          <p:cNvSpPr/>
          <p:nvPr/>
        </p:nvSpPr>
        <p:spPr>
          <a:xfrm>
            <a:off x="3421800" y="5182560"/>
            <a:ext cx="364320" cy="364320"/>
          </a:xfrm>
          <a:prstGeom prst="ellipse">
            <a:avLst/>
          </a:prstGeom>
          <a:gradFill rotWithShape="0">
            <a:gsLst>
              <a:gs pos="0">
                <a:srgbClr val="800000"/>
              </a:gs>
              <a:gs pos="20000">
                <a:srgbClr val="ff0000"/>
              </a:gs>
              <a:gs pos="100000">
                <a:srgbClr val="ff0200"/>
              </a:gs>
            </a:gsLst>
            <a:lin ang="5400000"/>
          </a:gradFill>
          <a:ln w="38100">
            <a:solidFill>
              <a:srgbClr val="800000"/>
            </a:solidFill>
            <a:round/>
          </a:ln>
          <a:effectLst>
            <a:outerShdw blurRad="39960"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Garamond"/>
              <a:ea typeface="ＭＳ Ｐゴシック"/>
            </a:endParaRPr>
          </a:p>
        </p:txBody>
      </p:sp>
      <p:cxnSp>
        <p:nvCxnSpPr>
          <p:cNvPr id="61" name="Straight Arrow Connector 1"/>
          <p:cNvCxnSpPr/>
          <p:nvPr/>
        </p:nvCxnSpPr>
        <p:spPr>
          <a:xfrm>
            <a:off x="2500560" y="5365440"/>
            <a:ext cx="550080" cy="144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62" name="Straight Arrow Connector 2"/>
          <p:cNvCxnSpPr/>
          <p:nvPr/>
        </p:nvCxnSpPr>
        <p:spPr>
          <a:xfrm>
            <a:off x="3048480" y="5372280"/>
            <a:ext cx="550080" cy="144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63" name="Straight Arrow Connector 3"/>
          <p:cNvCxnSpPr/>
          <p:nvPr/>
        </p:nvCxnSpPr>
        <p:spPr>
          <a:xfrm>
            <a:off x="1936080" y="4774320"/>
            <a:ext cx="554040" cy="56376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64" name="Straight Arrow Connector 4"/>
          <p:cNvCxnSpPr/>
          <p:nvPr/>
        </p:nvCxnSpPr>
        <p:spPr>
          <a:xfrm>
            <a:off x="1952640" y="4239360"/>
            <a:ext cx="1440" cy="55008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65" name="Straight Arrow Connector 5"/>
          <p:cNvCxnSpPr/>
          <p:nvPr/>
        </p:nvCxnSpPr>
        <p:spPr>
          <a:xfrm>
            <a:off x="1391040" y="3677040"/>
            <a:ext cx="554040" cy="56376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66" name="Straight Arrow Connector 6"/>
          <p:cNvCxnSpPr/>
          <p:nvPr/>
        </p:nvCxnSpPr>
        <p:spPr>
          <a:xfrm>
            <a:off x="1412640" y="3154320"/>
            <a:ext cx="1440" cy="55008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sp>
        <p:nvSpPr>
          <p:cNvPr id="67" name="TextBox 2"/>
          <p:cNvSpPr/>
          <p:nvPr/>
        </p:nvSpPr>
        <p:spPr>
          <a:xfrm>
            <a:off x="4652640" y="2846520"/>
            <a:ext cx="6335280" cy="286092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def string_pull(old_path):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path = list(old_path)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index = 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while len(path) &gt; index + 2: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if walkable(path[index], path[index+2]):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del path[index+1]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else: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index = index + 1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return path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8" name="Straight Arrow Connector 26"/>
          <p:cNvCxnSpPr/>
          <p:nvPr/>
        </p:nvCxnSpPr>
        <p:spPr>
          <a:xfrm>
            <a:off x="1394280" y="3128040"/>
            <a:ext cx="557640" cy="109944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69" name="Straight Arrow Connector 30"/>
          <p:cNvCxnSpPr/>
          <p:nvPr/>
        </p:nvCxnSpPr>
        <p:spPr>
          <a:xfrm>
            <a:off x="1412640" y="3154320"/>
            <a:ext cx="555120" cy="163512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70" name="Straight Arrow Connector 32"/>
          <p:cNvCxnSpPr/>
          <p:nvPr/>
        </p:nvCxnSpPr>
        <p:spPr>
          <a:xfrm>
            <a:off x="1410120" y="3128040"/>
            <a:ext cx="1071360" cy="219636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71" name="Straight Arrow Connector 33"/>
          <p:cNvCxnSpPr/>
          <p:nvPr/>
        </p:nvCxnSpPr>
        <p:spPr>
          <a:xfrm>
            <a:off x="2500560" y="5377320"/>
            <a:ext cx="1107720" cy="144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0" dur="indefinite" restart="never" nodeType="tmRoot">
          <p:childTnLst>
            <p:seq>
              <p:cTn id="141" dur="indefinite" nodeType="mainSeq">
                <p:childTnLst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0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5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0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5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0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5" dur="500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0" dur="500"/>
                                        <p:tgtEl>
                                          <p:spTgt spid="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5" dur="500"/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0" dur="500"/>
                                        <p:tgtEl>
                                          <p:spTgt spid="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Isosceles Triangle 14"/>
          <p:cNvSpPr/>
          <p:nvPr/>
        </p:nvSpPr>
        <p:spPr>
          <a:xfrm rot="2898000">
            <a:off x="3830040" y="2445480"/>
            <a:ext cx="1133640" cy="1091160"/>
          </a:xfrm>
          <a:prstGeom prst="triangle">
            <a:avLst>
              <a:gd name="adj" fmla="val 100000"/>
            </a:avLst>
          </a:prstGeom>
          <a:solidFill>
            <a:schemeClr val="bg1">
              <a:lumMod val="50000"/>
            </a:schemeClr>
          </a:solidFill>
          <a:ln>
            <a:solidFill>
              <a:srgbClr val="bfbfb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3" name="Isosceles Triangle 15"/>
          <p:cNvSpPr/>
          <p:nvPr/>
        </p:nvSpPr>
        <p:spPr>
          <a:xfrm rot="20695800">
            <a:off x="3553200" y="2876760"/>
            <a:ext cx="692640" cy="1010880"/>
          </a:xfrm>
          <a:prstGeom prst="triangle">
            <a:avLst>
              <a:gd name="adj" fmla="val 25748"/>
            </a:avLst>
          </a:prstGeom>
          <a:solidFill>
            <a:schemeClr val="bg1">
              <a:lumMod val="50000"/>
            </a:schemeClr>
          </a:solidFill>
          <a:ln>
            <a:solidFill>
              <a:srgbClr val="bfbfb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4" name="Isosceles Triangle 16"/>
          <p:cNvSpPr/>
          <p:nvPr/>
        </p:nvSpPr>
        <p:spPr>
          <a:xfrm rot="8351400">
            <a:off x="4601880" y="3282120"/>
            <a:ext cx="1082880" cy="1091160"/>
          </a:xfrm>
          <a:prstGeom prst="triangle">
            <a:avLst>
              <a:gd name="adj" fmla="val 100000"/>
            </a:avLst>
          </a:prstGeom>
          <a:solidFill>
            <a:schemeClr val="bg1">
              <a:lumMod val="50000"/>
            </a:schemeClr>
          </a:solidFill>
          <a:ln>
            <a:solidFill>
              <a:srgbClr val="bfbfb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5" name="Isosceles Triangle 17"/>
          <p:cNvSpPr/>
          <p:nvPr/>
        </p:nvSpPr>
        <p:spPr>
          <a:xfrm rot="19196400">
            <a:off x="4613400" y="3268800"/>
            <a:ext cx="1092240" cy="1104840"/>
          </a:xfrm>
          <a:prstGeom prst="triangle">
            <a:avLst>
              <a:gd name="adj" fmla="val 97317"/>
            </a:avLst>
          </a:prstGeom>
          <a:solidFill>
            <a:schemeClr val="bg1">
              <a:lumMod val="50000"/>
            </a:schemeClr>
          </a:solidFill>
          <a:ln>
            <a:solidFill>
              <a:srgbClr val="bfbfb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6" name="Isosceles Triangle 18"/>
          <p:cNvSpPr/>
          <p:nvPr/>
        </p:nvSpPr>
        <p:spPr>
          <a:xfrm flipV="1" rot="20727000">
            <a:off x="3648240" y="3869280"/>
            <a:ext cx="873000" cy="1185120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solidFill>
              <a:srgbClr val="bfbfb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7" name="Isosceles Triangle 19"/>
          <p:cNvSpPr/>
          <p:nvPr/>
        </p:nvSpPr>
        <p:spPr>
          <a:xfrm rot="21295200">
            <a:off x="1277640" y="2787120"/>
            <a:ext cx="2358000" cy="1266480"/>
          </a:xfrm>
          <a:prstGeom prst="triangle">
            <a:avLst>
              <a:gd name="adj" fmla="val 21277"/>
            </a:avLst>
          </a:prstGeom>
          <a:solidFill>
            <a:schemeClr val="bg1">
              <a:lumMod val="50000"/>
            </a:schemeClr>
          </a:solidFill>
          <a:ln>
            <a:solidFill>
              <a:srgbClr val="bfbfb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8" name="Isosceles Triangle 20"/>
          <p:cNvSpPr/>
          <p:nvPr/>
        </p:nvSpPr>
        <p:spPr>
          <a:xfrm rot="10494600">
            <a:off x="1380240" y="4056840"/>
            <a:ext cx="2371680" cy="1198800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solidFill>
              <a:srgbClr val="bfbfb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79" name="Straight Connector 9"/>
          <p:cNvCxnSpPr>
            <a:stCxn id="78" idx="2"/>
            <a:endCxn id="77" idx="2"/>
          </p:cNvCxnSpPr>
          <p:nvPr/>
        </p:nvCxnSpPr>
        <p:spPr>
          <a:xfrm flipH="1">
            <a:off x="1338840" y="3954240"/>
            <a:ext cx="2355840" cy="201600"/>
          </a:xfrm>
          <a:prstGeom prst="straightConnector1">
            <a:avLst/>
          </a:prstGeom>
          <a:ln w="38100">
            <a:solidFill>
              <a:srgbClr val="bf00bf"/>
            </a:solidFill>
            <a:round/>
          </a:ln>
        </p:spPr>
      </p:cxnSp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298080" y="1334880"/>
            <a:ext cx="5544360" cy="1477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algn="just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The </a:t>
            </a:r>
            <a:r>
              <a:rPr b="1" lang="en-US" sz="2400" spc="-1" strike="noStrike">
                <a:solidFill>
                  <a:srgbClr val="00ff00"/>
                </a:solidFill>
                <a:latin typeface="Garamond"/>
              </a:rPr>
              <a:t>funnel algorithm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plots an optimized path when the vertices in a graph are polygons (such as tiles or triangles).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468720" y="368280"/>
            <a:ext cx="11253240" cy="69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Funneling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Isosceles Triangle 21"/>
          <p:cNvSpPr/>
          <p:nvPr/>
        </p:nvSpPr>
        <p:spPr>
          <a:xfrm rot="2587800">
            <a:off x="700200" y="2678040"/>
            <a:ext cx="1204920" cy="1230480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rgbClr val="bfbfb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83" name="Straight Arrow Connector 14"/>
          <p:cNvCxnSpPr>
            <a:endCxn id="78" idx="4"/>
          </p:cNvCxnSpPr>
          <p:nvPr/>
        </p:nvCxnSpPr>
        <p:spPr>
          <a:xfrm>
            <a:off x="1145160" y="3395880"/>
            <a:ext cx="187200" cy="768960"/>
          </a:xfrm>
          <a:prstGeom prst="straightConnector1">
            <a:avLst/>
          </a:prstGeom>
          <a:ln w="381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84" name="Straight Arrow Connector 47"/>
          <p:cNvCxnSpPr>
            <a:endCxn id="77" idx="0"/>
          </p:cNvCxnSpPr>
          <p:nvPr/>
        </p:nvCxnSpPr>
        <p:spPr>
          <a:xfrm flipV="1">
            <a:off x="1139040" y="2850120"/>
            <a:ext cx="587520" cy="538920"/>
          </a:xfrm>
          <a:prstGeom prst="straightConnector1">
            <a:avLst/>
          </a:prstGeom>
          <a:ln w="38100">
            <a:solidFill>
              <a:srgbClr val="0070c0"/>
            </a:solidFill>
            <a:round/>
            <a:tailEnd len="med" type="diamond" w="med"/>
          </a:ln>
        </p:spPr>
      </p:cxnSp>
      <p:sp>
        <p:nvSpPr>
          <p:cNvPr id="85" name="Oval 3"/>
          <p:cNvSpPr/>
          <p:nvPr/>
        </p:nvSpPr>
        <p:spPr>
          <a:xfrm>
            <a:off x="1048680" y="3291120"/>
            <a:ext cx="181440" cy="18144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47791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86" name="Straight Arrow Connector 48"/>
          <p:cNvCxnSpPr>
            <a:endCxn id="78" idx="2"/>
          </p:cNvCxnSpPr>
          <p:nvPr/>
        </p:nvCxnSpPr>
        <p:spPr>
          <a:xfrm>
            <a:off x="1107720" y="3391200"/>
            <a:ext cx="2586960" cy="563400"/>
          </a:xfrm>
          <a:prstGeom prst="straightConnector1">
            <a:avLst/>
          </a:prstGeom>
          <a:ln w="38100">
            <a:solidFill>
              <a:srgbClr val="0070c0"/>
            </a:solidFill>
            <a:round/>
            <a:tailEnd len="med" type="diamond" w="med"/>
          </a:ln>
        </p:spPr>
      </p:cxnSp>
      <p:cxnSp>
        <p:nvCxnSpPr>
          <p:cNvPr id="87" name="Straight Arrow Connector 49"/>
          <p:cNvCxnSpPr/>
          <p:nvPr/>
        </p:nvCxnSpPr>
        <p:spPr>
          <a:xfrm>
            <a:off x="1130400" y="3380040"/>
            <a:ext cx="2674440" cy="1754640"/>
          </a:xfrm>
          <a:prstGeom prst="straightConnector1">
            <a:avLst/>
          </a:prstGeom>
          <a:ln w="38100">
            <a:solidFill>
              <a:srgbClr val="ffa200"/>
            </a:solidFill>
            <a:round/>
            <a:tailEnd len="med" type="diamond" w="med"/>
          </a:ln>
        </p:spPr>
      </p:cxnSp>
      <p:sp>
        <p:nvSpPr>
          <p:cNvPr id="88" name="TextBox 1"/>
          <p:cNvSpPr/>
          <p:nvPr/>
        </p:nvSpPr>
        <p:spPr>
          <a:xfrm>
            <a:off x="6019560" y="1344960"/>
            <a:ext cx="5778000" cy="535356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def funnel_path(start, goal, channel):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apex = start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path = [start]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portals = getPortals(channel) + [(end, end)]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right, left = portals.pop(0)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for portal in portals: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if apex == right or clockwise(apex, portal[0], right):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if clockwise(apex, left, portal[0]: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right = portal[0]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else: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apex = left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path.append(apex)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right, left = portal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if apex == left or clockwise(apex, left, portal[1]):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if clockwise(apex, portal[1], right):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left = portal[1]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else: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apex = right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path.append(apex)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right, left = portal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path.append(goal)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chemeClr val="lt1"/>
                </a:solidFill>
                <a:latin typeface="Consolas"/>
              </a:rPr>
              <a:t>return path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9" name="Straight Connector 10"/>
          <p:cNvCxnSpPr>
            <a:stCxn id="77" idx="0"/>
            <a:endCxn id="78" idx="4"/>
          </p:cNvCxnSpPr>
          <p:nvPr/>
        </p:nvCxnSpPr>
        <p:spPr>
          <a:xfrm flipH="1">
            <a:off x="1332000" y="2850120"/>
            <a:ext cx="394560" cy="1314720"/>
          </a:xfrm>
          <a:prstGeom prst="straightConnector1">
            <a:avLst/>
          </a:prstGeom>
          <a:ln w="38100">
            <a:solidFill>
              <a:srgbClr val="bf00bf"/>
            </a:solidFill>
            <a:round/>
          </a:ln>
        </p:spPr>
      </p:cxnSp>
      <p:cxnSp>
        <p:nvCxnSpPr>
          <p:cNvPr id="90" name="Straight Connector 11"/>
          <p:cNvCxnSpPr>
            <a:stCxn id="73" idx="2"/>
            <a:endCxn id="76" idx="0"/>
          </p:cNvCxnSpPr>
          <p:nvPr/>
        </p:nvCxnSpPr>
        <p:spPr>
          <a:xfrm>
            <a:off x="3697200" y="3960360"/>
            <a:ext cx="115200" cy="1185480"/>
          </a:xfrm>
          <a:prstGeom prst="straightConnector1">
            <a:avLst/>
          </a:prstGeom>
          <a:ln w="38100">
            <a:solidFill>
              <a:srgbClr val="bf00bf"/>
            </a:solidFill>
            <a:round/>
          </a:ln>
        </p:spPr>
      </p:cxnSp>
      <p:cxnSp>
        <p:nvCxnSpPr>
          <p:cNvPr id="91" name="Straight Connector 12"/>
          <p:cNvCxnSpPr>
            <a:stCxn id="73" idx="0"/>
            <a:endCxn id="73" idx="4"/>
          </p:cNvCxnSpPr>
          <p:nvPr/>
        </p:nvCxnSpPr>
        <p:spPr>
          <a:xfrm>
            <a:off x="3606480" y="2938320"/>
            <a:ext cx="759600" cy="842760"/>
          </a:xfrm>
          <a:prstGeom prst="straightConnector1">
            <a:avLst/>
          </a:prstGeom>
          <a:ln w="38100">
            <a:solidFill>
              <a:srgbClr val="bf00bf"/>
            </a:solidFill>
            <a:round/>
          </a:ln>
        </p:spPr>
      </p:cxnSp>
      <p:cxnSp>
        <p:nvCxnSpPr>
          <p:cNvPr id="92" name="Straight Arrow Connector 50"/>
          <p:cNvCxnSpPr/>
          <p:nvPr/>
        </p:nvCxnSpPr>
        <p:spPr>
          <a:xfrm>
            <a:off x="1130400" y="3388680"/>
            <a:ext cx="2567520" cy="567360"/>
          </a:xfrm>
          <a:prstGeom prst="straightConnector1">
            <a:avLst/>
          </a:prstGeom>
          <a:ln w="38100">
            <a:solidFill>
              <a:srgbClr val="18f9cb"/>
            </a:solidFill>
            <a:prstDash val="sysDot"/>
            <a:round/>
            <a:tailEnd len="med" type="diamond" w="med"/>
          </a:ln>
        </p:spPr>
      </p:cxnSp>
      <p:cxnSp>
        <p:nvCxnSpPr>
          <p:cNvPr id="93" name="Straight Arrow Connector 51"/>
          <p:cNvCxnSpPr>
            <a:endCxn id="78" idx="0"/>
          </p:cNvCxnSpPr>
          <p:nvPr/>
        </p:nvCxnSpPr>
        <p:spPr>
          <a:xfrm>
            <a:off x="1128960" y="3380040"/>
            <a:ext cx="2671920" cy="176868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diamond" w="med"/>
          </a:ln>
        </p:spPr>
      </p:cxnSp>
      <p:cxnSp>
        <p:nvCxnSpPr>
          <p:cNvPr id="94" name="Straight Arrow Connector 52"/>
          <p:cNvCxnSpPr>
            <a:endCxn id="73" idx="4"/>
          </p:cNvCxnSpPr>
          <p:nvPr/>
        </p:nvCxnSpPr>
        <p:spPr>
          <a:xfrm>
            <a:off x="1144440" y="3401640"/>
            <a:ext cx="3221640" cy="37944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diamond" w="med"/>
          </a:ln>
        </p:spPr>
      </p:cxnSp>
      <p:sp>
        <p:nvSpPr>
          <p:cNvPr id="95" name="Rectangle 23"/>
          <p:cNvSpPr/>
          <p:nvPr/>
        </p:nvSpPr>
        <p:spPr>
          <a:xfrm>
            <a:off x="6372000" y="6273000"/>
            <a:ext cx="5332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# clockwise() returns “False” if any points same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6" name="Straight Connector 13"/>
          <p:cNvCxnSpPr>
            <a:stCxn id="73" idx="4"/>
            <a:endCxn id="73" idx="2"/>
          </p:cNvCxnSpPr>
          <p:nvPr/>
        </p:nvCxnSpPr>
        <p:spPr>
          <a:xfrm flipH="1">
            <a:off x="3697200" y="3780720"/>
            <a:ext cx="668880" cy="180000"/>
          </a:xfrm>
          <a:prstGeom prst="straightConnector1">
            <a:avLst/>
          </a:prstGeom>
          <a:ln w="38100">
            <a:solidFill>
              <a:srgbClr val="bf00bf"/>
            </a:solidFill>
            <a:round/>
          </a:ln>
        </p:spPr>
      </p:cxnSp>
      <p:cxnSp>
        <p:nvCxnSpPr>
          <p:cNvPr id="97" name="Straight Arrow Connector 53"/>
          <p:cNvCxnSpPr>
            <a:endCxn id="82" idx="4"/>
          </p:cNvCxnSpPr>
          <p:nvPr/>
        </p:nvCxnSpPr>
        <p:spPr>
          <a:xfrm>
            <a:off x="1144440" y="3391560"/>
            <a:ext cx="177840" cy="76320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diamond" w="med"/>
          </a:ln>
        </p:spPr>
      </p:cxnSp>
      <p:cxnSp>
        <p:nvCxnSpPr>
          <p:cNvPr id="98" name="Straight Arrow Connector 54"/>
          <p:cNvCxnSpPr>
            <a:stCxn id="78" idx="2"/>
            <a:endCxn id="74" idx="3"/>
          </p:cNvCxnSpPr>
          <p:nvPr/>
        </p:nvCxnSpPr>
        <p:spPr>
          <a:xfrm flipV="1">
            <a:off x="3694320" y="3769200"/>
            <a:ext cx="682920" cy="185400"/>
          </a:xfrm>
          <a:prstGeom prst="straightConnector1">
            <a:avLst/>
          </a:prstGeom>
          <a:ln w="381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99" name="Straight Arrow Connector 55"/>
          <p:cNvCxnSpPr>
            <a:stCxn id="77" idx="4"/>
            <a:endCxn id="73" idx="0"/>
          </p:cNvCxnSpPr>
          <p:nvPr/>
        </p:nvCxnSpPr>
        <p:spPr>
          <a:xfrm flipH="1" flipV="1">
            <a:off x="3606480" y="2938320"/>
            <a:ext cx="81360" cy="1009440"/>
          </a:xfrm>
          <a:prstGeom prst="straightConnector1">
            <a:avLst/>
          </a:prstGeom>
          <a:ln w="38100">
            <a:solidFill>
              <a:srgbClr val="0070c0"/>
            </a:solidFill>
            <a:round/>
            <a:tailEnd len="med" type="diamond" w="med"/>
          </a:ln>
        </p:spPr>
      </p:cxnSp>
      <p:cxnSp>
        <p:nvCxnSpPr>
          <p:cNvPr id="100" name="Straight Connector 14"/>
          <p:cNvCxnSpPr>
            <a:stCxn id="75" idx="0"/>
            <a:endCxn id="76" idx="4"/>
          </p:cNvCxnSpPr>
          <p:nvPr/>
        </p:nvCxnSpPr>
        <p:spPr>
          <a:xfrm flipH="1">
            <a:off x="4359600" y="3066120"/>
            <a:ext cx="840240" cy="713520"/>
          </a:xfrm>
          <a:prstGeom prst="straightConnector1">
            <a:avLst/>
          </a:prstGeom>
          <a:ln w="38100">
            <a:solidFill>
              <a:srgbClr val="bf00bf"/>
            </a:solidFill>
            <a:round/>
          </a:ln>
        </p:spPr>
      </p:cxnSp>
      <p:cxnSp>
        <p:nvCxnSpPr>
          <p:cNvPr id="101" name="Straight Connector 15"/>
          <p:cNvCxnSpPr>
            <a:stCxn id="75" idx="0"/>
            <a:endCxn id="74" idx="0"/>
          </p:cNvCxnSpPr>
          <p:nvPr/>
        </p:nvCxnSpPr>
        <p:spPr>
          <a:xfrm flipH="1">
            <a:off x="5090040" y="3066120"/>
            <a:ext cx="109800" cy="1528920"/>
          </a:xfrm>
          <a:prstGeom prst="straightConnector1">
            <a:avLst/>
          </a:prstGeom>
          <a:ln w="38100">
            <a:solidFill>
              <a:srgbClr val="bf00bf"/>
            </a:solidFill>
            <a:round/>
          </a:ln>
        </p:spPr>
      </p:cxnSp>
      <p:sp>
        <p:nvSpPr>
          <p:cNvPr id="102" name="Oval 4"/>
          <p:cNvSpPr/>
          <p:nvPr/>
        </p:nvSpPr>
        <p:spPr>
          <a:xfrm>
            <a:off x="5412240" y="3898440"/>
            <a:ext cx="181440" cy="18144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103" name="Straight Arrow Connector 56"/>
          <p:cNvCxnSpPr>
            <a:stCxn id="73" idx="2"/>
            <a:endCxn id="74" idx="3"/>
          </p:cNvCxnSpPr>
          <p:nvPr/>
        </p:nvCxnSpPr>
        <p:spPr>
          <a:xfrm flipV="1">
            <a:off x="3697200" y="3769200"/>
            <a:ext cx="680040" cy="19152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diamond" w="med"/>
          </a:ln>
        </p:spPr>
      </p:cxnSp>
      <p:cxnSp>
        <p:nvCxnSpPr>
          <p:cNvPr id="104" name="Straight Arrow Connector 57"/>
          <p:cNvCxnSpPr>
            <a:stCxn id="73" idx="2"/>
            <a:endCxn id="73" idx="0"/>
          </p:cNvCxnSpPr>
          <p:nvPr/>
        </p:nvCxnSpPr>
        <p:spPr>
          <a:xfrm flipH="1" flipV="1">
            <a:off x="3606480" y="2938320"/>
            <a:ext cx="91080" cy="1022400"/>
          </a:xfrm>
          <a:prstGeom prst="straightConnector1">
            <a:avLst/>
          </a:prstGeom>
          <a:ln w="38100">
            <a:solidFill>
              <a:srgbClr val="18f9cb"/>
            </a:solidFill>
            <a:prstDash val="sysDot"/>
            <a:round/>
            <a:tailEnd len="med" type="diamond" w="med"/>
          </a:ln>
        </p:spPr>
      </p:cxnSp>
      <p:cxnSp>
        <p:nvCxnSpPr>
          <p:cNvPr id="105" name="Straight Arrow Connector 58"/>
          <p:cNvCxnSpPr>
            <a:stCxn id="77" idx="4"/>
            <a:endCxn id="78" idx="2"/>
          </p:cNvCxnSpPr>
          <p:nvPr/>
        </p:nvCxnSpPr>
        <p:spPr>
          <a:xfrm>
            <a:off x="3687480" y="3947400"/>
            <a:ext cx="7200" cy="7200"/>
          </a:xfrm>
          <a:prstGeom prst="straightConnector1">
            <a:avLst/>
          </a:prstGeom>
          <a:ln w="38100">
            <a:solidFill>
              <a:srgbClr val="0070c0"/>
            </a:solidFill>
            <a:round/>
            <a:tailEnd len="med" type="diamond" w="med"/>
          </a:ln>
        </p:spPr>
      </p:cxnSp>
      <p:cxnSp>
        <p:nvCxnSpPr>
          <p:cNvPr id="106" name="Straight Arrow Connector 59"/>
          <p:cNvCxnSpPr>
            <a:stCxn id="78" idx="2"/>
            <a:endCxn id="75" idx="0"/>
          </p:cNvCxnSpPr>
          <p:nvPr/>
        </p:nvCxnSpPr>
        <p:spPr>
          <a:xfrm flipV="1">
            <a:off x="3694320" y="3066120"/>
            <a:ext cx="1505520" cy="888480"/>
          </a:xfrm>
          <a:prstGeom prst="straightConnector1">
            <a:avLst/>
          </a:prstGeom>
          <a:ln w="38100">
            <a:solidFill>
              <a:srgbClr val="0070c0"/>
            </a:solidFill>
            <a:round/>
            <a:tailEnd len="med" type="diamond" w="med"/>
          </a:ln>
        </p:spPr>
      </p:cxnSp>
      <p:cxnSp>
        <p:nvCxnSpPr>
          <p:cNvPr id="107" name="Straight Arrow Connector 61"/>
          <p:cNvCxnSpPr>
            <a:stCxn id="73" idx="2"/>
            <a:endCxn id="75" idx="0"/>
          </p:cNvCxnSpPr>
          <p:nvPr/>
        </p:nvCxnSpPr>
        <p:spPr>
          <a:xfrm flipV="1">
            <a:off x="3697200" y="3066120"/>
            <a:ext cx="1502640" cy="894600"/>
          </a:xfrm>
          <a:prstGeom prst="straightConnector1">
            <a:avLst/>
          </a:prstGeom>
          <a:ln w="38100">
            <a:solidFill>
              <a:srgbClr val="18f9cb"/>
            </a:solidFill>
            <a:prstDash val="sysDot"/>
            <a:round/>
            <a:tailEnd len="med" type="diamond" w="med"/>
          </a:ln>
        </p:spPr>
      </p:cxnSp>
      <p:cxnSp>
        <p:nvCxnSpPr>
          <p:cNvPr id="108" name="Straight Arrow Connector 62"/>
          <p:cNvCxnSpPr>
            <a:stCxn id="78" idx="2"/>
            <a:endCxn id="75" idx="2"/>
          </p:cNvCxnSpPr>
          <p:nvPr/>
        </p:nvCxnSpPr>
        <p:spPr>
          <a:xfrm>
            <a:off x="3694320" y="3954240"/>
            <a:ext cx="1403280" cy="64188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diamond" w="med"/>
          </a:ln>
        </p:spPr>
      </p:cxnSp>
      <p:cxnSp>
        <p:nvCxnSpPr>
          <p:cNvPr id="109" name="Straight Arrow Connector 63"/>
          <p:cNvCxnSpPr/>
          <p:nvPr/>
        </p:nvCxnSpPr>
        <p:spPr>
          <a:xfrm>
            <a:off x="4367160" y="3744360"/>
            <a:ext cx="1150200" cy="222120"/>
          </a:xfrm>
          <a:prstGeom prst="straightConnector1">
            <a:avLst/>
          </a:prstGeom>
          <a:ln w="38100">
            <a:solidFill>
              <a:srgbClr val="0070c0"/>
            </a:solidFill>
            <a:round/>
            <a:tailEnd len="med" type="diamond" w="med"/>
          </a:ln>
        </p:spPr>
      </p:cxnSp>
      <p:cxnSp>
        <p:nvCxnSpPr>
          <p:cNvPr id="110" name="Straight Arrow Connector 64"/>
          <p:cNvCxnSpPr/>
          <p:nvPr/>
        </p:nvCxnSpPr>
        <p:spPr>
          <a:xfrm>
            <a:off x="4339800" y="3774960"/>
            <a:ext cx="1154520" cy="229680"/>
          </a:xfrm>
          <a:prstGeom prst="straightConnector1">
            <a:avLst/>
          </a:prstGeom>
          <a:ln w="381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111" name="Straight Arrow Connector 65"/>
          <p:cNvCxnSpPr/>
          <p:nvPr/>
        </p:nvCxnSpPr>
        <p:spPr>
          <a:xfrm>
            <a:off x="3819600" y="3956040"/>
            <a:ext cx="1691280" cy="2844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diamond" w="med"/>
          </a:ln>
        </p:spPr>
      </p:cxnSp>
      <p:cxnSp>
        <p:nvCxnSpPr>
          <p:cNvPr id="112" name="Straight Arrow Connector 67"/>
          <p:cNvCxnSpPr>
            <a:stCxn id="77" idx="4"/>
          </p:cNvCxnSpPr>
          <p:nvPr/>
        </p:nvCxnSpPr>
        <p:spPr>
          <a:xfrm>
            <a:off x="3687480" y="3947400"/>
            <a:ext cx="1817280" cy="40320"/>
          </a:xfrm>
          <a:prstGeom prst="straightConnector1">
            <a:avLst/>
          </a:prstGeom>
          <a:ln w="38100">
            <a:solidFill>
              <a:srgbClr val="18f9cb"/>
            </a:solidFill>
            <a:prstDash val="sysDot"/>
            <a:round/>
            <a:tailEnd len="med" type="diamond" w="med"/>
          </a:ln>
        </p:spPr>
      </p:cxnSp>
      <p:cxnSp>
        <p:nvCxnSpPr>
          <p:cNvPr id="113" name="Straight Connector 16"/>
          <p:cNvCxnSpPr>
            <a:stCxn id="74" idx="3"/>
          </p:cNvCxnSpPr>
          <p:nvPr/>
        </p:nvCxnSpPr>
        <p:spPr>
          <a:xfrm>
            <a:off x="4376880" y="3769200"/>
            <a:ext cx="1155240" cy="22284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sp>
        <p:nvSpPr>
          <p:cNvPr id="114" name="Content Placeholder 5"/>
          <p:cNvSpPr/>
          <p:nvPr/>
        </p:nvSpPr>
        <p:spPr>
          <a:xfrm>
            <a:off x="442080" y="6215040"/>
            <a:ext cx="554436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rmAutofit fontScale="68333"/>
          </a:bodyPr>
          <a:p>
            <a:pPr marL="91440" indent="-91440" algn="just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Don’t forget the agent has width!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Content Placeholder 6"/>
          <p:cNvSpPr/>
          <p:nvPr/>
        </p:nvSpPr>
        <p:spPr>
          <a:xfrm>
            <a:off x="1918800" y="5249160"/>
            <a:ext cx="1176840" cy="91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1" lang="en-US" sz="2200" spc="-1" strike="noStrike">
                <a:solidFill>
                  <a:srgbClr val="0070c0"/>
                </a:solidFill>
                <a:latin typeface="Consolas"/>
              </a:rPr>
              <a:t>left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1" lang="en-US" sz="2200" spc="-1" strike="noStrike">
                <a:solidFill>
                  <a:srgbClr val="ffc000"/>
                </a:solidFill>
                <a:latin typeface="Consolas"/>
              </a:rPr>
              <a:t>right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Content Placeholder 7"/>
          <p:cNvSpPr/>
          <p:nvPr/>
        </p:nvSpPr>
        <p:spPr>
          <a:xfrm>
            <a:off x="3094560" y="5245560"/>
            <a:ext cx="2086920" cy="9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1" lang="en-US" sz="2200" spc="-1" strike="noStrike">
                <a:solidFill>
                  <a:schemeClr val="accent2"/>
                </a:solidFill>
                <a:latin typeface="Consolas"/>
              </a:rPr>
              <a:t>portal[1]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1" lang="en-US" sz="2200" spc="-1" strike="noStrike">
                <a:solidFill>
                  <a:srgbClr val="ffff00"/>
                </a:solidFill>
                <a:latin typeface="Consolas"/>
              </a:rPr>
              <a:t>portal[0]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5" dur="indefinite" restart="never" nodeType="tmRoot">
          <p:childTnLst>
            <p:seq>
              <p:cTn id="296" dur="indefinite" nodeType="mainSeq">
                <p:childTnLst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6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9" dur="50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5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5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0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0" dur="500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8" dur="500"/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0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4" dur="500"/>
                                        <p:tgtEl>
                                          <p:spTgt spid="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0" dur="500"/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8" dur="500"/>
                                        <p:tgtEl>
                                          <p:spTgt spid="8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3" dur="500"/>
                                        <p:tgtEl>
                                          <p:spTgt spid="8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8" dur="500"/>
                                        <p:tgtEl>
                                          <p:spTgt spid="8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5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2" dur="500"/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7" dur="500"/>
                                        <p:tgtEl>
                                          <p:spTgt spid="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indefinite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9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9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1" dur="500"/>
                                        <p:tgtEl>
                                          <p:spTgt spid="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6" dur="500"/>
                                        <p:tgtEl>
                                          <p:spTgt spid="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9" dur="500"/>
                                        <p:tgtEl>
                                          <p:spTgt spid="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51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9" dur="500"/>
                                        <p:tgtEl>
                                          <p:spTgt spid="8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>
                      <p:stCondLst>
                        <p:cond delay="indefinite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4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6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7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7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ite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8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9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2" dur="500"/>
                                        <p:tgtEl>
                                          <p:spTgt spid="8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5" dur="500"/>
                                        <p:tgtEl>
                                          <p:spTgt spid="8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8" dur="500"/>
                                        <p:tgtEl>
                                          <p:spTgt spid="8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1" dur="500"/>
                                        <p:tgtEl>
                                          <p:spTgt spid="8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indefinite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1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61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5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2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3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>
                      <p:stCondLst>
                        <p:cond delay="indefinite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0" dur="500"/>
                                        <p:tgtEl>
                                          <p:spTgt spid="8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1" fill="hold">
                      <p:stCondLst>
                        <p:cond delay="indefinite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5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indefinite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id="6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6" dur="500"/>
                                        <p:tgtEl>
                                          <p:spTgt spid="8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1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468720" y="1682280"/>
            <a:ext cx="11142000" cy="2908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64999"/>
          </a:bodyPr>
          <a:p>
            <a:pPr marL="91440" indent="-91440" algn="just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Even after refining, the resulting path often has unrealistic hard edges / turns. We can use </a:t>
            </a:r>
            <a:r>
              <a:rPr b="1" lang="en-US" sz="3600" spc="-1" strike="noStrike">
                <a:solidFill>
                  <a:srgbClr val="00ff00"/>
                </a:solidFill>
                <a:latin typeface="Garamond"/>
              </a:rPr>
              <a:t>path smoothing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techniques to achieve a result that is less jarring.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3600" spc="-1" strike="noStrike" u="sng">
                <a:solidFill>
                  <a:schemeClr val="lt1"/>
                </a:solidFill>
                <a:uFillTx/>
                <a:latin typeface="Garamond"/>
              </a:rPr>
              <a:t>Approaches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Splines (rare)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Turn radius integration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Directional A*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8" name="Group 14"/>
          <p:cNvGrpSpPr/>
          <p:nvPr/>
        </p:nvGrpSpPr>
        <p:grpSpPr>
          <a:xfrm>
            <a:off x="6510240" y="2552400"/>
            <a:ext cx="806040" cy="815040"/>
            <a:chOff x="6510240" y="2552400"/>
            <a:chExt cx="806040" cy="815040"/>
          </a:xfrm>
        </p:grpSpPr>
        <p:sp>
          <p:nvSpPr>
            <p:cNvPr id="119" name="Rectangle 24"/>
            <p:cNvSpPr/>
            <p:nvPr/>
          </p:nvSpPr>
          <p:spPr>
            <a:xfrm>
              <a:off x="6775560" y="3094560"/>
              <a:ext cx="272880" cy="27288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7043400" y="2552400"/>
              <a:ext cx="272880" cy="27288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21" name="Rectangle 26"/>
            <p:cNvSpPr/>
            <p:nvPr/>
          </p:nvSpPr>
          <p:spPr>
            <a:xfrm>
              <a:off x="6775560" y="2828520"/>
              <a:ext cx="272880" cy="27288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6786000" y="2552400"/>
              <a:ext cx="272880" cy="27288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6510240" y="2552400"/>
              <a:ext cx="272880" cy="27288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24" name="Rectangle 125"/>
            <p:cNvSpPr/>
            <p:nvPr/>
          </p:nvSpPr>
          <p:spPr>
            <a:xfrm>
              <a:off x="6510240" y="2828520"/>
              <a:ext cx="272880" cy="27288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125" name="Rectangle 126"/>
            <p:cNvSpPr/>
            <p:nvPr/>
          </p:nvSpPr>
          <p:spPr>
            <a:xfrm>
              <a:off x="6510240" y="3094560"/>
              <a:ext cx="272880" cy="27288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</p:grpSp>
      <p:sp>
        <p:nvSpPr>
          <p:cNvPr id="126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3240" cy="69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Path Smoothing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27" name="Group 15"/>
          <p:cNvGrpSpPr/>
          <p:nvPr/>
        </p:nvGrpSpPr>
        <p:grpSpPr>
          <a:xfrm>
            <a:off x="7060320" y="2841480"/>
            <a:ext cx="1370160" cy="1370160"/>
            <a:chOff x="7060320" y="2841480"/>
            <a:chExt cx="1370160" cy="1370160"/>
          </a:xfrm>
        </p:grpSpPr>
        <p:grpSp>
          <p:nvGrpSpPr>
            <p:cNvPr id="128" name="Group 16"/>
            <p:cNvGrpSpPr/>
            <p:nvPr/>
          </p:nvGrpSpPr>
          <p:grpSpPr>
            <a:xfrm>
              <a:off x="7060320" y="2841480"/>
              <a:ext cx="1370160" cy="1370160"/>
              <a:chOff x="7060320" y="2841480"/>
              <a:chExt cx="1370160" cy="1370160"/>
            </a:xfrm>
          </p:grpSpPr>
          <p:sp>
            <p:nvSpPr>
              <p:cNvPr id="129" name="Rectangle 127"/>
              <p:cNvSpPr/>
              <p:nvPr/>
            </p:nvSpPr>
            <p:spPr>
              <a:xfrm>
                <a:off x="7328520" y="3667680"/>
                <a:ext cx="54684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30" name="Rectangle 128"/>
              <p:cNvSpPr/>
              <p:nvPr/>
            </p:nvSpPr>
            <p:spPr>
              <a:xfrm>
                <a:off x="7060320" y="2841480"/>
                <a:ext cx="1369440" cy="137016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31" name="Rectangle 129"/>
              <p:cNvSpPr/>
              <p:nvPr/>
            </p:nvSpPr>
            <p:spPr>
              <a:xfrm>
                <a:off x="7608600" y="3390120"/>
                <a:ext cx="821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32" name="Rectangle 130"/>
              <p:cNvSpPr/>
              <p:nvPr/>
            </p:nvSpPr>
            <p:spPr>
              <a:xfrm>
                <a:off x="7334640" y="284148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33" name="Rectangle 145"/>
              <p:cNvSpPr/>
              <p:nvPr/>
            </p:nvSpPr>
            <p:spPr>
              <a:xfrm>
                <a:off x="8156880" y="366444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34" name="Rectangle 146"/>
              <p:cNvSpPr/>
              <p:nvPr/>
            </p:nvSpPr>
            <p:spPr>
              <a:xfrm>
                <a:off x="7608600" y="3938760"/>
                <a:ext cx="54684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35" name="Rectangle 147"/>
              <p:cNvSpPr/>
              <p:nvPr/>
            </p:nvSpPr>
            <p:spPr>
              <a:xfrm>
                <a:off x="7882920" y="3664440"/>
                <a:ext cx="271440" cy="2728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36" name="Rectangle 148"/>
              <p:cNvSpPr/>
              <p:nvPr/>
            </p:nvSpPr>
            <p:spPr>
              <a:xfrm>
                <a:off x="7608600" y="2841480"/>
                <a:ext cx="820800" cy="543960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37" name="Rectangle 149"/>
              <p:cNvSpPr/>
              <p:nvPr/>
            </p:nvSpPr>
            <p:spPr>
              <a:xfrm>
                <a:off x="7882920" y="3938760"/>
                <a:ext cx="271440" cy="272880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38" name="Rectangle 150"/>
              <p:cNvSpPr/>
              <p:nvPr/>
            </p:nvSpPr>
            <p:spPr>
              <a:xfrm>
                <a:off x="7607880" y="3115800"/>
                <a:ext cx="546120" cy="5472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</p:grpSp>
        <p:grpSp>
          <p:nvGrpSpPr>
            <p:cNvPr id="139" name="Group 17"/>
            <p:cNvGrpSpPr/>
            <p:nvPr/>
          </p:nvGrpSpPr>
          <p:grpSpPr>
            <a:xfrm>
              <a:off x="7173720" y="2973240"/>
              <a:ext cx="1125720" cy="1126080"/>
              <a:chOff x="7173720" y="2973240"/>
              <a:chExt cx="1125720" cy="1126080"/>
            </a:xfrm>
          </p:grpSpPr>
          <p:cxnSp>
            <p:nvCxnSpPr>
              <p:cNvPr id="140" name="Straight Arrow Connector 38"/>
              <p:cNvCxnSpPr/>
              <p:nvPr/>
            </p:nvCxnSpPr>
            <p:spPr>
              <a:xfrm>
                <a:off x="7739280" y="4094640"/>
                <a:ext cx="281160" cy="1440"/>
              </a:xfrm>
              <a:prstGeom prst="straightConnector1">
                <a:avLst/>
              </a:prstGeom>
              <a:ln w="76200">
                <a:solidFill>
                  <a:srgbClr val="ffa200"/>
                </a:solidFill>
                <a:round/>
                <a:tailEnd len="med" type="diamond" w="med"/>
              </a:ln>
            </p:spPr>
          </p:cxnSp>
          <p:cxnSp>
            <p:nvCxnSpPr>
              <p:cNvPr id="141" name="Straight Arrow Connector 39"/>
              <p:cNvCxnSpPr/>
              <p:nvPr/>
            </p:nvCxnSpPr>
            <p:spPr>
              <a:xfrm>
                <a:off x="8018640" y="4098240"/>
                <a:ext cx="281160" cy="1440"/>
              </a:xfrm>
              <a:prstGeom prst="straightConnector1">
                <a:avLst/>
              </a:prstGeom>
              <a:ln w="76200">
                <a:solidFill>
                  <a:srgbClr val="ffa200"/>
                </a:solidFill>
                <a:round/>
                <a:tailEnd len="med" type="diamond" w="med"/>
              </a:ln>
            </p:spPr>
          </p:cxnSp>
          <p:cxnSp>
            <p:nvCxnSpPr>
              <p:cNvPr id="142" name="Straight Arrow Connector 40"/>
              <p:cNvCxnSpPr/>
              <p:nvPr/>
            </p:nvCxnSpPr>
            <p:spPr>
              <a:xfrm>
                <a:off x="7451640" y="3794760"/>
                <a:ext cx="282960" cy="286560"/>
              </a:xfrm>
              <a:prstGeom prst="straightConnector1">
                <a:avLst/>
              </a:prstGeom>
              <a:ln w="76200">
                <a:solidFill>
                  <a:srgbClr val="ffa200"/>
                </a:solidFill>
                <a:round/>
                <a:tailEnd len="med" type="diamond" w="med"/>
              </a:ln>
            </p:spPr>
          </p:cxnSp>
          <p:cxnSp>
            <p:nvCxnSpPr>
              <p:cNvPr id="143" name="Straight Arrow Connector 42"/>
              <p:cNvCxnSpPr/>
              <p:nvPr/>
            </p:nvCxnSpPr>
            <p:spPr>
              <a:xfrm>
                <a:off x="7459920" y="3523680"/>
                <a:ext cx="1440" cy="279360"/>
              </a:xfrm>
              <a:prstGeom prst="straightConnector1">
                <a:avLst/>
              </a:prstGeom>
              <a:ln w="76200">
                <a:solidFill>
                  <a:srgbClr val="ffa200"/>
                </a:solidFill>
                <a:round/>
                <a:tailEnd len="med" type="diamond" w="med"/>
              </a:ln>
            </p:spPr>
          </p:cxnSp>
          <p:cxnSp>
            <p:nvCxnSpPr>
              <p:cNvPr id="144" name="Straight Arrow Connector 43"/>
              <p:cNvCxnSpPr/>
              <p:nvPr/>
            </p:nvCxnSpPr>
            <p:spPr>
              <a:xfrm>
                <a:off x="7173720" y="3238560"/>
                <a:ext cx="283320" cy="286560"/>
              </a:xfrm>
              <a:prstGeom prst="straightConnector1">
                <a:avLst/>
              </a:prstGeom>
              <a:ln w="76200">
                <a:solidFill>
                  <a:srgbClr val="ffa200"/>
                </a:solidFill>
                <a:round/>
                <a:tailEnd len="med" type="diamond" w="med"/>
              </a:ln>
            </p:spPr>
          </p:cxnSp>
          <p:cxnSp>
            <p:nvCxnSpPr>
              <p:cNvPr id="145" name="Straight Arrow Connector 45"/>
              <p:cNvCxnSpPr/>
              <p:nvPr/>
            </p:nvCxnSpPr>
            <p:spPr>
              <a:xfrm>
                <a:off x="7184880" y="2973240"/>
                <a:ext cx="1440" cy="279720"/>
              </a:xfrm>
              <a:prstGeom prst="straightConnector1">
                <a:avLst/>
              </a:prstGeom>
              <a:ln w="76200">
                <a:solidFill>
                  <a:srgbClr val="ffa200"/>
                </a:solidFill>
                <a:round/>
                <a:tailEnd len="med" type="diamond" w="med"/>
              </a:ln>
            </p:spPr>
          </p:cxnSp>
        </p:grpSp>
      </p:grpSp>
      <p:grpSp>
        <p:nvGrpSpPr>
          <p:cNvPr id="146" name="Group 18"/>
          <p:cNvGrpSpPr/>
          <p:nvPr/>
        </p:nvGrpSpPr>
        <p:grpSpPr>
          <a:xfrm>
            <a:off x="4406400" y="4855680"/>
            <a:ext cx="1370160" cy="1370160"/>
            <a:chOff x="4406400" y="4855680"/>
            <a:chExt cx="1370160" cy="1370160"/>
          </a:xfrm>
        </p:grpSpPr>
        <p:grpSp>
          <p:nvGrpSpPr>
            <p:cNvPr id="147" name="Group 19"/>
            <p:cNvGrpSpPr/>
            <p:nvPr/>
          </p:nvGrpSpPr>
          <p:grpSpPr>
            <a:xfrm>
              <a:off x="4406400" y="4855680"/>
              <a:ext cx="1370160" cy="1370160"/>
              <a:chOff x="4406400" y="4855680"/>
              <a:chExt cx="1370160" cy="1370160"/>
            </a:xfrm>
          </p:grpSpPr>
          <p:sp>
            <p:nvSpPr>
              <p:cNvPr id="148" name="Rectangle 151"/>
              <p:cNvSpPr/>
              <p:nvPr/>
            </p:nvSpPr>
            <p:spPr>
              <a:xfrm>
                <a:off x="4674600" y="5682240"/>
                <a:ext cx="54684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49" name="Rectangle 152"/>
              <p:cNvSpPr/>
              <p:nvPr/>
            </p:nvSpPr>
            <p:spPr>
              <a:xfrm>
                <a:off x="4406400" y="4855680"/>
                <a:ext cx="1369440" cy="137016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50" name="Rectangle 153"/>
              <p:cNvSpPr/>
              <p:nvPr/>
            </p:nvSpPr>
            <p:spPr>
              <a:xfrm>
                <a:off x="4954680" y="5404320"/>
                <a:ext cx="821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51" name="Rectangle 154"/>
              <p:cNvSpPr/>
              <p:nvPr/>
            </p:nvSpPr>
            <p:spPr>
              <a:xfrm>
                <a:off x="4680360" y="485568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52" name="Rectangle 155"/>
              <p:cNvSpPr/>
              <p:nvPr/>
            </p:nvSpPr>
            <p:spPr>
              <a:xfrm>
                <a:off x="5502960" y="567864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53" name="Rectangle 156"/>
              <p:cNvSpPr/>
              <p:nvPr/>
            </p:nvSpPr>
            <p:spPr>
              <a:xfrm>
                <a:off x="4954680" y="5952960"/>
                <a:ext cx="54684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54" name="Rectangle 157"/>
              <p:cNvSpPr/>
              <p:nvPr/>
            </p:nvSpPr>
            <p:spPr>
              <a:xfrm>
                <a:off x="5229000" y="5678640"/>
                <a:ext cx="271440" cy="2728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55" name="Rectangle 158"/>
              <p:cNvSpPr/>
              <p:nvPr/>
            </p:nvSpPr>
            <p:spPr>
              <a:xfrm>
                <a:off x="4954680" y="4855680"/>
                <a:ext cx="820800" cy="543960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56" name="Rectangle 159"/>
              <p:cNvSpPr/>
              <p:nvPr/>
            </p:nvSpPr>
            <p:spPr>
              <a:xfrm>
                <a:off x="5229000" y="5952960"/>
                <a:ext cx="271440" cy="272880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57" name="Rectangle 160"/>
              <p:cNvSpPr/>
              <p:nvPr/>
            </p:nvSpPr>
            <p:spPr>
              <a:xfrm>
                <a:off x="4953960" y="5130000"/>
                <a:ext cx="546120" cy="5472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</p:grpSp>
        <p:grpSp>
          <p:nvGrpSpPr>
            <p:cNvPr id="158" name="Group 20"/>
            <p:cNvGrpSpPr/>
            <p:nvPr/>
          </p:nvGrpSpPr>
          <p:grpSpPr>
            <a:xfrm>
              <a:off x="4530960" y="4981680"/>
              <a:ext cx="1116360" cy="1137960"/>
              <a:chOff x="4530960" y="4981680"/>
              <a:chExt cx="1116360" cy="1137960"/>
            </a:xfrm>
          </p:grpSpPr>
          <p:cxnSp>
            <p:nvCxnSpPr>
              <p:cNvPr id="159" name="Straight Arrow Connector 68"/>
              <p:cNvCxnSpPr/>
              <p:nvPr/>
            </p:nvCxnSpPr>
            <p:spPr>
              <a:xfrm>
                <a:off x="5189760" y="6097680"/>
                <a:ext cx="457920" cy="4680"/>
              </a:xfrm>
              <a:prstGeom prst="straightConnector1">
                <a:avLst/>
              </a:prstGeom>
              <a:ln w="76200">
                <a:solidFill>
                  <a:srgbClr val="ffa200"/>
                </a:solidFill>
                <a:round/>
                <a:tailEnd len="med" type="diamond" w="med"/>
              </a:ln>
            </p:spPr>
          </p:cxnSp>
          <p:cxnSp>
            <p:nvCxnSpPr>
              <p:cNvPr id="160" name="Straight Arrow Connector 71"/>
              <p:cNvCxnSpPr/>
              <p:nvPr/>
            </p:nvCxnSpPr>
            <p:spPr>
              <a:xfrm flipH="1">
                <a:off x="4801320" y="5513760"/>
                <a:ext cx="6840" cy="199800"/>
              </a:xfrm>
              <a:prstGeom prst="straightConnector1">
                <a:avLst/>
              </a:prstGeom>
              <a:ln w="76200">
                <a:solidFill>
                  <a:srgbClr val="ffa200"/>
                </a:solidFill>
                <a:round/>
              </a:ln>
            </p:spPr>
          </p:cxnSp>
          <p:cxnSp>
            <p:nvCxnSpPr>
              <p:cNvPr id="161" name="Straight Arrow Connector 72"/>
              <p:cNvCxnSpPr/>
              <p:nvPr/>
            </p:nvCxnSpPr>
            <p:spPr>
              <a:xfrm>
                <a:off x="4536360" y="4981680"/>
                <a:ext cx="1440" cy="280080"/>
              </a:xfrm>
              <a:prstGeom prst="straightConnector1">
                <a:avLst/>
              </a:prstGeom>
              <a:ln w="76200">
                <a:solidFill>
                  <a:srgbClr val="ffa200"/>
                </a:solidFill>
                <a:round/>
              </a:ln>
            </p:spPr>
          </p:cxnSp>
          <p:sp>
            <p:nvSpPr>
              <p:cNvPr id="162" name="Arc 12"/>
              <p:cNvSpPr/>
              <p:nvPr/>
            </p:nvSpPr>
            <p:spPr>
              <a:xfrm rot="10800000">
                <a:off x="4537440" y="5116680"/>
                <a:ext cx="273600" cy="2736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76200">
                <a:solidFill>
                  <a:srgbClr val="ffa2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63" name="Arc 13"/>
              <p:cNvSpPr/>
              <p:nvPr/>
            </p:nvSpPr>
            <p:spPr>
              <a:xfrm>
                <a:off x="4530960" y="5389920"/>
                <a:ext cx="273600" cy="2736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76200">
                <a:solidFill>
                  <a:srgbClr val="ffa2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64" name="Arc 14"/>
              <p:cNvSpPr/>
              <p:nvPr/>
            </p:nvSpPr>
            <p:spPr>
              <a:xfrm rot="10800000">
                <a:off x="4806720" y="5572440"/>
                <a:ext cx="273600" cy="2736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76200">
                <a:solidFill>
                  <a:srgbClr val="ffa2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65" name="Arc 15"/>
              <p:cNvSpPr/>
              <p:nvPr/>
            </p:nvSpPr>
            <p:spPr>
              <a:xfrm>
                <a:off x="4777920" y="5846040"/>
                <a:ext cx="273600" cy="2736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76200">
                <a:solidFill>
                  <a:srgbClr val="ffa2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66" name="Arc 16"/>
              <p:cNvSpPr/>
              <p:nvPr/>
            </p:nvSpPr>
            <p:spPr>
              <a:xfrm rot="10800000">
                <a:off x="5054040" y="5824080"/>
                <a:ext cx="273600" cy="2736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76200">
                <a:solidFill>
                  <a:srgbClr val="ffa2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167" name="Group 21"/>
          <p:cNvGrpSpPr/>
          <p:nvPr/>
        </p:nvGrpSpPr>
        <p:grpSpPr>
          <a:xfrm>
            <a:off x="7060320" y="4855680"/>
            <a:ext cx="1370160" cy="1370160"/>
            <a:chOff x="7060320" y="4855680"/>
            <a:chExt cx="1370160" cy="1370160"/>
          </a:xfrm>
        </p:grpSpPr>
        <p:grpSp>
          <p:nvGrpSpPr>
            <p:cNvPr id="168" name="Group 23"/>
            <p:cNvGrpSpPr/>
            <p:nvPr/>
          </p:nvGrpSpPr>
          <p:grpSpPr>
            <a:xfrm>
              <a:off x="7060320" y="4855680"/>
              <a:ext cx="1370160" cy="1370160"/>
              <a:chOff x="7060320" y="4855680"/>
              <a:chExt cx="1370160" cy="1370160"/>
            </a:xfrm>
          </p:grpSpPr>
          <p:sp>
            <p:nvSpPr>
              <p:cNvPr id="169" name="Rectangle 161"/>
              <p:cNvSpPr/>
              <p:nvPr/>
            </p:nvSpPr>
            <p:spPr>
              <a:xfrm>
                <a:off x="7328520" y="5682240"/>
                <a:ext cx="54684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0" name="Rectangle 162"/>
              <p:cNvSpPr/>
              <p:nvPr/>
            </p:nvSpPr>
            <p:spPr>
              <a:xfrm>
                <a:off x="7060320" y="4855680"/>
                <a:ext cx="1369440" cy="137016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1" name="Rectangle 163"/>
              <p:cNvSpPr/>
              <p:nvPr/>
            </p:nvSpPr>
            <p:spPr>
              <a:xfrm>
                <a:off x="7608600" y="5404320"/>
                <a:ext cx="821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2" name="Rectangle 164"/>
              <p:cNvSpPr/>
              <p:nvPr/>
            </p:nvSpPr>
            <p:spPr>
              <a:xfrm>
                <a:off x="7334640" y="485568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3" name="Rectangle 165"/>
              <p:cNvSpPr/>
              <p:nvPr/>
            </p:nvSpPr>
            <p:spPr>
              <a:xfrm>
                <a:off x="8156880" y="567864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4" name="Rectangle 166"/>
              <p:cNvSpPr/>
              <p:nvPr/>
            </p:nvSpPr>
            <p:spPr>
              <a:xfrm>
                <a:off x="7608600" y="5952960"/>
                <a:ext cx="54684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5" name="Rectangle 167"/>
              <p:cNvSpPr/>
              <p:nvPr/>
            </p:nvSpPr>
            <p:spPr>
              <a:xfrm>
                <a:off x="7882920" y="5678640"/>
                <a:ext cx="271440" cy="2728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6" name="Rectangle 168"/>
              <p:cNvSpPr/>
              <p:nvPr/>
            </p:nvSpPr>
            <p:spPr>
              <a:xfrm>
                <a:off x="7608600" y="4855680"/>
                <a:ext cx="820800" cy="543960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7" name="Rectangle 169"/>
              <p:cNvSpPr/>
              <p:nvPr/>
            </p:nvSpPr>
            <p:spPr>
              <a:xfrm>
                <a:off x="7882920" y="5952960"/>
                <a:ext cx="271440" cy="272880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8" name="Rectangle 170"/>
              <p:cNvSpPr/>
              <p:nvPr/>
            </p:nvSpPr>
            <p:spPr>
              <a:xfrm>
                <a:off x="7607880" y="5130000"/>
                <a:ext cx="546120" cy="5472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</p:grpSp>
        <p:cxnSp>
          <p:nvCxnSpPr>
            <p:cNvPr id="179" name="Straight Arrow Connector 73"/>
            <p:cNvCxnSpPr/>
            <p:nvPr/>
          </p:nvCxnSpPr>
          <p:spPr>
            <a:xfrm flipV="1">
              <a:off x="7450200" y="6112440"/>
              <a:ext cx="841320" cy="9720"/>
            </a:xfrm>
            <a:prstGeom prst="straightConnector1">
              <a:avLst/>
            </a:prstGeom>
            <a:ln w="76200">
              <a:solidFill>
                <a:srgbClr val="ffa200"/>
              </a:solidFill>
              <a:round/>
              <a:tailEnd len="med" type="diamond" w="med"/>
            </a:ln>
          </p:spPr>
        </p:cxnSp>
        <p:cxnSp>
          <p:nvCxnSpPr>
            <p:cNvPr id="180" name="Straight Arrow Connector 75"/>
            <p:cNvCxnSpPr/>
            <p:nvPr/>
          </p:nvCxnSpPr>
          <p:spPr>
            <a:xfrm flipH="1">
              <a:off x="7184160" y="4996440"/>
              <a:ext cx="2160" cy="860040"/>
            </a:xfrm>
            <a:prstGeom prst="straightConnector1">
              <a:avLst/>
            </a:prstGeom>
            <a:ln w="76200">
              <a:solidFill>
                <a:srgbClr val="ffa200"/>
              </a:solidFill>
              <a:round/>
            </a:ln>
          </p:spPr>
        </p:cxnSp>
        <p:sp>
          <p:nvSpPr>
            <p:cNvPr id="181" name="Arc 17"/>
            <p:cNvSpPr/>
            <p:nvPr/>
          </p:nvSpPr>
          <p:spPr>
            <a:xfrm rot="10800000">
              <a:off x="7185960" y="5569560"/>
              <a:ext cx="547200" cy="5472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76200">
              <a:solidFill>
                <a:srgbClr val="ffa2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182" name="Group 24"/>
          <p:cNvGrpSpPr/>
          <p:nvPr/>
        </p:nvGrpSpPr>
        <p:grpSpPr>
          <a:xfrm>
            <a:off x="7188840" y="2848680"/>
            <a:ext cx="1440" cy="229680"/>
            <a:chOff x="7188840" y="2848680"/>
            <a:chExt cx="1440" cy="229680"/>
          </a:xfrm>
        </p:grpSpPr>
        <p:cxnSp>
          <p:nvCxnSpPr>
            <p:cNvPr id="183" name="Straight Arrow Connector 76"/>
            <p:cNvCxnSpPr/>
            <p:nvPr/>
          </p:nvCxnSpPr>
          <p:spPr>
            <a:xfrm flipV="1">
              <a:off x="7189200" y="2848680"/>
              <a:ext cx="1440" cy="230040"/>
            </a:xfrm>
            <a:prstGeom prst="straightConnector1">
              <a:avLst/>
            </a:prstGeom>
            <a:ln w="63500">
              <a:solidFill>
                <a:srgbClr val="000000"/>
              </a:solidFill>
              <a:round/>
              <a:tailEnd len="med" type="stealth" w="med"/>
            </a:ln>
          </p:spPr>
        </p:cxnSp>
        <p:cxnSp>
          <p:nvCxnSpPr>
            <p:cNvPr id="184" name="Straight Arrow Connector 77"/>
            <p:cNvCxnSpPr/>
            <p:nvPr/>
          </p:nvCxnSpPr>
          <p:spPr>
            <a:xfrm flipV="1">
              <a:off x="7188840" y="2873880"/>
              <a:ext cx="1440" cy="184320"/>
            </a:xfrm>
            <a:prstGeom prst="straightConnector1">
              <a:avLst/>
            </a:prstGeom>
            <a:ln w="38100">
              <a:solidFill>
                <a:srgbClr val="00ff00"/>
              </a:solidFill>
              <a:round/>
              <a:tailEnd len="med" type="stealth" w="med"/>
            </a:ln>
          </p:spPr>
        </p:cxnSp>
      </p:grpSp>
      <p:grpSp>
        <p:nvGrpSpPr>
          <p:cNvPr id="185" name="Group 25"/>
          <p:cNvGrpSpPr/>
          <p:nvPr/>
        </p:nvGrpSpPr>
        <p:grpSpPr>
          <a:xfrm>
            <a:off x="9167400" y="4575240"/>
            <a:ext cx="1916280" cy="1656000"/>
            <a:chOff x="9167400" y="4575240"/>
            <a:chExt cx="1916280" cy="1656000"/>
          </a:xfrm>
        </p:grpSpPr>
        <p:grpSp>
          <p:nvGrpSpPr>
            <p:cNvPr id="186" name="Group 26"/>
            <p:cNvGrpSpPr/>
            <p:nvPr/>
          </p:nvGrpSpPr>
          <p:grpSpPr>
            <a:xfrm>
              <a:off x="9167400" y="4575240"/>
              <a:ext cx="807120" cy="834120"/>
              <a:chOff x="9167400" y="4575240"/>
              <a:chExt cx="807120" cy="834120"/>
            </a:xfrm>
          </p:grpSpPr>
          <p:sp>
            <p:nvSpPr>
              <p:cNvPr id="187" name="Rectangle 171"/>
              <p:cNvSpPr/>
              <p:nvPr/>
            </p:nvSpPr>
            <p:spPr>
              <a:xfrm>
                <a:off x="9424440" y="513648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88" name="Rectangle 172"/>
              <p:cNvSpPr/>
              <p:nvPr/>
            </p:nvSpPr>
            <p:spPr>
              <a:xfrm>
                <a:off x="9168120" y="513648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89" name="Rectangle 173"/>
              <p:cNvSpPr/>
              <p:nvPr/>
            </p:nvSpPr>
            <p:spPr>
              <a:xfrm>
                <a:off x="9701640" y="457668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90" name="Rectangle 174"/>
              <p:cNvSpPr/>
              <p:nvPr/>
            </p:nvSpPr>
            <p:spPr>
              <a:xfrm>
                <a:off x="9423720" y="485280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91" name="Rectangle 175"/>
              <p:cNvSpPr/>
              <p:nvPr/>
            </p:nvSpPr>
            <p:spPr>
              <a:xfrm>
                <a:off x="9448200" y="4577760"/>
                <a:ext cx="266400" cy="27576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92" name="Rectangle 176"/>
              <p:cNvSpPr/>
              <p:nvPr/>
            </p:nvSpPr>
            <p:spPr>
              <a:xfrm>
                <a:off x="9167400" y="457524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93" name="Rectangle 177"/>
              <p:cNvSpPr/>
              <p:nvPr/>
            </p:nvSpPr>
            <p:spPr>
              <a:xfrm>
                <a:off x="9167400" y="485280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</p:grpSp>
        <p:grpSp>
          <p:nvGrpSpPr>
            <p:cNvPr id="194" name="Group 27"/>
            <p:cNvGrpSpPr/>
            <p:nvPr/>
          </p:nvGrpSpPr>
          <p:grpSpPr>
            <a:xfrm>
              <a:off x="9713520" y="4861080"/>
              <a:ext cx="1370160" cy="1370160"/>
              <a:chOff x="9713520" y="4861080"/>
              <a:chExt cx="1370160" cy="1370160"/>
            </a:xfrm>
          </p:grpSpPr>
          <p:sp>
            <p:nvSpPr>
              <p:cNvPr id="195" name="Rectangle 178"/>
              <p:cNvSpPr/>
              <p:nvPr/>
            </p:nvSpPr>
            <p:spPr>
              <a:xfrm>
                <a:off x="9981720" y="5687280"/>
                <a:ext cx="54684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96" name="Rectangle 179"/>
              <p:cNvSpPr/>
              <p:nvPr/>
            </p:nvSpPr>
            <p:spPr>
              <a:xfrm>
                <a:off x="9713520" y="4861080"/>
                <a:ext cx="1369440" cy="137016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97" name="Rectangle 180"/>
              <p:cNvSpPr/>
              <p:nvPr/>
            </p:nvSpPr>
            <p:spPr>
              <a:xfrm>
                <a:off x="10261800" y="5409720"/>
                <a:ext cx="821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98" name="Rectangle 181"/>
              <p:cNvSpPr/>
              <p:nvPr/>
            </p:nvSpPr>
            <p:spPr>
              <a:xfrm>
                <a:off x="9987840" y="486108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99" name="Rectangle 182"/>
              <p:cNvSpPr/>
              <p:nvPr/>
            </p:nvSpPr>
            <p:spPr>
              <a:xfrm>
                <a:off x="10810080" y="5684040"/>
                <a:ext cx="27288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200" name="Rectangle 183"/>
              <p:cNvSpPr/>
              <p:nvPr/>
            </p:nvSpPr>
            <p:spPr>
              <a:xfrm>
                <a:off x="10261800" y="5958360"/>
                <a:ext cx="546840" cy="272880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201" name="Rectangle 184"/>
              <p:cNvSpPr/>
              <p:nvPr/>
            </p:nvSpPr>
            <p:spPr>
              <a:xfrm>
                <a:off x="10536120" y="5684040"/>
                <a:ext cx="271440" cy="2728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202" name="Rectangle 185"/>
              <p:cNvSpPr/>
              <p:nvPr/>
            </p:nvSpPr>
            <p:spPr>
              <a:xfrm>
                <a:off x="10261800" y="4861080"/>
                <a:ext cx="820800" cy="543960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203" name="Rectangle 186"/>
              <p:cNvSpPr/>
              <p:nvPr/>
            </p:nvSpPr>
            <p:spPr>
              <a:xfrm>
                <a:off x="10536120" y="5958360"/>
                <a:ext cx="271440" cy="272880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204" name="Rectangle 187"/>
              <p:cNvSpPr/>
              <p:nvPr/>
            </p:nvSpPr>
            <p:spPr>
              <a:xfrm>
                <a:off x="10261440" y="5135400"/>
                <a:ext cx="546120" cy="5472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</p:grpSp>
        <p:cxnSp>
          <p:nvCxnSpPr>
            <p:cNvPr id="205" name="Straight Arrow Connector 78"/>
            <p:cNvCxnSpPr/>
            <p:nvPr/>
          </p:nvCxnSpPr>
          <p:spPr>
            <a:xfrm flipV="1">
              <a:off x="10112040" y="6117480"/>
              <a:ext cx="833040" cy="4680"/>
            </a:xfrm>
            <a:prstGeom prst="straightConnector1">
              <a:avLst/>
            </a:prstGeom>
            <a:ln w="76200">
              <a:solidFill>
                <a:srgbClr val="ffa200"/>
              </a:solidFill>
              <a:round/>
              <a:tailEnd len="med" type="diamond" w="med"/>
            </a:ln>
          </p:spPr>
        </p:cxnSp>
        <p:cxnSp>
          <p:nvCxnSpPr>
            <p:cNvPr id="206" name="Straight Arrow Connector 79"/>
            <p:cNvCxnSpPr/>
            <p:nvPr/>
          </p:nvCxnSpPr>
          <p:spPr>
            <a:xfrm flipH="1">
              <a:off x="9838800" y="5552640"/>
              <a:ext cx="5400" cy="304200"/>
            </a:xfrm>
            <a:prstGeom prst="straightConnector1">
              <a:avLst/>
            </a:prstGeom>
            <a:ln w="76200">
              <a:solidFill>
                <a:srgbClr val="ffa200"/>
              </a:solidFill>
              <a:round/>
            </a:ln>
          </p:spPr>
        </p:cxnSp>
        <p:sp>
          <p:nvSpPr>
            <p:cNvPr id="207" name="Arc 18"/>
            <p:cNvSpPr/>
            <p:nvPr/>
          </p:nvSpPr>
          <p:spPr>
            <a:xfrm rot="10800000">
              <a:off x="9295200" y="4738320"/>
              <a:ext cx="547200" cy="5472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76200">
              <a:solidFill>
                <a:srgbClr val="ffa2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" name="Arc 19"/>
            <p:cNvSpPr/>
            <p:nvPr/>
          </p:nvSpPr>
          <p:spPr>
            <a:xfrm>
              <a:off x="9285840" y="4741920"/>
              <a:ext cx="547200" cy="5472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76200">
              <a:solidFill>
                <a:srgbClr val="ffa2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" name="Arc 20"/>
            <p:cNvSpPr/>
            <p:nvPr/>
          </p:nvSpPr>
          <p:spPr>
            <a:xfrm flipH="1">
              <a:off x="9293040" y="4740480"/>
              <a:ext cx="547200" cy="5472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76200">
              <a:solidFill>
                <a:srgbClr val="ffa2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" name="Arc 21"/>
            <p:cNvSpPr/>
            <p:nvPr/>
          </p:nvSpPr>
          <p:spPr>
            <a:xfrm>
              <a:off x="9296640" y="5285520"/>
              <a:ext cx="547200" cy="5472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76200">
              <a:solidFill>
                <a:srgbClr val="ffa2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" name="Arc 22"/>
            <p:cNvSpPr/>
            <p:nvPr/>
          </p:nvSpPr>
          <p:spPr>
            <a:xfrm rot="10800000">
              <a:off x="9840240" y="5576760"/>
              <a:ext cx="547200" cy="5472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76200">
              <a:solidFill>
                <a:srgbClr val="ffa2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212" name="Arrow: Right 1"/>
          <p:cNvSpPr/>
          <p:nvPr/>
        </p:nvSpPr>
        <p:spPr>
          <a:xfrm rot="5400000">
            <a:off x="7594200" y="4413600"/>
            <a:ext cx="331920" cy="27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a200"/>
          </a:solidFill>
          <a:ln>
            <a:solidFill>
              <a:srgbClr val="843d0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3" name="Arrow: Right 5"/>
          <p:cNvSpPr/>
          <p:nvPr/>
        </p:nvSpPr>
        <p:spPr>
          <a:xfrm rot="8826000">
            <a:off x="6387120" y="4413600"/>
            <a:ext cx="331920" cy="27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a200"/>
          </a:solidFill>
          <a:ln>
            <a:solidFill>
              <a:srgbClr val="843d0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4" name="Arrow: Right 6"/>
          <p:cNvSpPr/>
          <p:nvPr/>
        </p:nvSpPr>
        <p:spPr>
          <a:xfrm flipH="1" rot="12774000">
            <a:off x="8816400" y="4415760"/>
            <a:ext cx="331920" cy="273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a200"/>
          </a:solidFill>
          <a:ln>
            <a:solidFill>
              <a:srgbClr val="843d0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2" dur="indefinite" restart="never" nodeType="tmRoot">
          <p:childTnLst>
            <p:seq>
              <p:cTn id="663" dur="indefinite" nodeType="mainSeq">
                <p:childTnLst>
                  <p:par>
                    <p:cTn id="664" fill="hold">
                      <p:stCondLst>
                        <p:cond delay="indefinite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id="6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8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indefinite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3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indefinite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1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2" fill="hold">
                      <p:stCondLst>
                        <p:cond delay="indefinite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4" dur="500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5" fill="hold">
                      <p:stCondLst>
                        <p:cond delay="indefinite"/>
                      </p:stCondLst>
                      <p:childTnLst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3" fill="hold">
                      <p:stCondLst>
                        <p:cond delay="indefinite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par>
                                <p:cTn id="7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7" dur="500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fill="hold">
                      <p:stCondLst>
                        <p:cond delay="indefinite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6" fill="hold">
                      <p:stCondLst>
                        <p:cond delay="indefinite"/>
                      </p:stCondLst>
                      <p:childTnLst>
                        <p:par>
                          <p:cTn id="717" fill="hold">
                            <p:stCondLst>
                              <p:cond delay="0"/>
                            </p:stCondLst>
                            <p:childTnLst>
                              <p:par>
                                <p:cTn id="7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28160" y="1396440"/>
            <a:ext cx="1193472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194" strike="noStrike">
                <a:solidFill>
                  <a:schemeClr val="lt1"/>
                </a:solidFill>
                <a:latin typeface="Arial"/>
              </a:rPr>
              <a:t>References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Content Placeholder 3"/>
          <p:cNvSpPr/>
          <p:nvPr/>
        </p:nvSpPr>
        <p:spPr>
          <a:xfrm>
            <a:off x="880920" y="2366280"/>
            <a:ext cx="10786680" cy="30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2777"/>
          </a:bodyPr>
          <a:p>
            <a:pPr marL="91440" indent="-91440" defTabSz="914400">
              <a:lnSpc>
                <a:spcPct val="90000"/>
              </a:lnSpc>
              <a:buClr>
                <a:srgbClr val="ff00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Infinite_Loop84. 2009. 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String Pulling Explained.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Gamedev.net Forums.</a:t>
            </a:r>
            <a:br>
              <a:rPr sz="3200"/>
            </a:b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  <a:hlinkClick r:id="rId2"/>
              </a:rPr>
              <a:t>https://www.gamedev.net/forums/topic/539575-string-pulling-explained/</a:t>
            </a:r>
            <a:br>
              <a:rPr sz="1900"/>
            </a:br>
            <a:r>
              <a:rPr b="0" i="1" lang="en-US" sz="1900" spc="-1" strike="noStrike">
                <a:solidFill>
                  <a:schemeClr val="lt1"/>
                </a:solidFill>
                <a:latin typeface="Garamond"/>
              </a:rPr>
              <a:t> 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00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Ash Hamnett. 2012. 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Funnel Algorithm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. Ash Hamnett: Junior Games Programmer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.</a:t>
            </a:r>
            <a:br>
              <a:rPr sz="3200"/>
            </a:b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  <a:hlinkClick r:id="rId3"/>
              </a:rPr>
              <a:t>http://ahamnett.blogspot.com/2012/10/funnel-algorithm.html</a:t>
            </a:r>
            <a:br>
              <a:rPr sz="1900"/>
            </a:br>
            <a:r>
              <a:rPr b="0" i="1" lang="en-US" sz="1900" spc="-1" strike="noStrike">
                <a:solidFill>
                  <a:schemeClr val="lt1"/>
                </a:solidFill>
                <a:latin typeface="Garamond"/>
              </a:rPr>
              <a:t> 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00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Dan Sunday. 2012. 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Area of Triangles and Polygons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. Geometry Algorithms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.</a:t>
            </a:r>
            <a:br>
              <a:rPr sz="3200"/>
            </a:b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  <a:hlinkClick r:id="rId4"/>
              </a:rPr>
              <a:t>http://geomalgorithms.com/a01-_area.html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00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Marco Pinter. 2001. 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Toward More Realistic Pathfinding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. Gamasutra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. </a:t>
            </a: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  <a:hlinkClick r:id="rId5"/>
              </a:rPr>
              <a:t>https://www.gamasutra.com/view/feature/131505/toward_more_realistic_pathfinding.php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1316</TotalTime>
  <Application>LibreOffice/24.2.7.2$Linux_X86_64 LibreOffice_project/420$Build-2</Application>
  <AppVersion>15.0000</AppVersion>
  <Words>674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en-US</dc:language>
  <cp:lastModifiedBy/>
  <dcterms:modified xsi:type="dcterms:W3CDTF">2025-09-30T09:51:49Z</dcterms:modified>
  <cp:revision>163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lides">
    <vt:i4>8</vt:i4>
  </property>
</Properties>
</file>