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3.wmf" ContentType="image/x-wmf"/>
  <Override PartName="/ppt/media/image9.wmf" ContentType="image/x-wmf"/>
  <Override PartName="/ppt/media/image18.wmf" ContentType="image/x-wmf"/>
  <Override PartName="/ppt/media/image20.wmf" ContentType="image/x-wmf"/>
  <Override PartName="/ppt/media/image12.wmf" ContentType="image/x-wmf"/>
  <Override PartName="/ppt/media/image8.wmf" ContentType="image/x-wmf"/>
  <Override PartName="/ppt/media/image17.wmf" ContentType="image/x-wmf"/>
  <Override PartName="/ppt/media/image7.wmf" ContentType="image/x-wmf"/>
  <Override PartName="/ppt/media/image6.png" ContentType="image/png"/>
  <Override PartName="/ppt/media/image15.png" ContentType="image/png"/>
  <Override PartName="/ppt/media/image23.png" ContentType="image/png"/>
  <Override PartName="/ppt/media/image22.wmf" ContentType="image/x-wmf"/>
  <Override PartName="/ppt/media/image4.svg" ContentType="image/svg"/>
  <Override PartName="/ppt/media/image10.wmf" ContentType="image/x-wmf"/>
  <Override PartName="/ppt/media/image21.wmf" ContentType="image/x-wmf"/>
  <Override PartName="/ppt/media/image5.wmf" ContentType="image/x-wmf"/>
  <Override PartName="/ppt/media/image19.png" ContentType="image/png"/>
  <Override PartName="/ppt/media/image11.png" ContentType="image/png"/>
  <Override PartName="/ppt/media/image2.png" ContentType="image/png"/>
  <Override PartName="/ppt/media/image16.png" ContentType="image/png"/>
  <Override PartName="/ppt/media/image14.png" ContentType="image/png"/>
  <Override PartName="/ppt/media/image1.png" ContentType="image/png"/>
  <Override PartName="/ppt/media/image3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r">
              <a:buNone/>
            </a:pPr>
            <a:fld id="{507AFF81-B9B5-4AE3-887C-C3598457FC04}" type="slidenum"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rgbClr val="00ff00"/>
                </a:solidFill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41400AE-E4E1-4B16-B59D-95DF9B9B7787}" type="slidenum">
              <a:rPr b="0" lang="en-US" sz="1200" spc="-1" strike="noStrike" u="sng">
                <a:solidFill>
                  <a:srgbClr val="00ff00"/>
                </a:solidFill>
                <a:uFillTx/>
                <a:latin typeface="Garamond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rgbClr val="00ff00"/>
                </a:solidFill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5E4BA12-D67D-4C58-A509-D8FFA58C22A9}" type="slidenum">
              <a:rPr b="0" lang="en-US" sz="1200" spc="-1" strike="noStrike" u="sng">
                <a:solidFill>
                  <a:srgbClr val="00ff00"/>
                </a:solidFill>
                <a:uFillTx/>
                <a:latin typeface="Garamond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rgbClr val="00ff00"/>
                </a:solidFill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E009D38-C0F3-423A-833D-D46D20BD1188}" type="slidenum">
              <a:rPr b="0" lang="en-US" sz="1200" spc="-1" strike="noStrike" u="sng">
                <a:solidFill>
                  <a:srgbClr val="00ff00"/>
                </a:solidFill>
                <a:uFillTx/>
                <a:latin typeface="Garamond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rgbClr val="00ff00"/>
                </a:solidFill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9CAE2D3-16F3-4CB7-8416-DE2E804F50D2}" type="slidenum">
              <a:rPr b="0" lang="en-US" sz="1200" spc="-1" strike="noStrike" u="sng">
                <a:solidFill>
                  <a:srgbClr val="00ff00"/>
                </a:solidFill>
                <a:uFillTx/>
                <a:latin typeface="Garamond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rgbClr val="00ff00"/>
                </a:solidFill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65D8E61-FF1D-4A66-BF72-5B92C5130046}" type="slidenum">
              <a:rPr b="0" lang="en-US" sz="1200" spc="-1" strike="noStrike" u="sng">
                <a:solidFill>
                  <a:srgbClr val="00ff00"/>
                </a:solidFill>
                <a:uFillTx/>
                <a:latin typeface="Garamond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rgbClr val="00ff00"/>
                </a:solidFill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0B93AAE-3B50-4FB9-8D0D-72B2159721F9}" type="slidenum">
              <a:rPr b="0" lang="en-US" sz="1200" spc="-1" strike="noStrike" u="sng">
                <a:solidFill>
                  <a:srgbClr val="00ff00"/>
                </a:solidFill>
                <a:uFillTx/>
                <a:latin typeface="Garamond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rgbClr val="00ff00"/>
                </a:solidFill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C1C9749-FBB0-4BBC-BF96-C62C53089801}" type="slidenum">
              <a:rPr b="0" lang="en-US" sz="1200" spc="-1" strike="noStrike" u="sng">
                <a:solidFill>
                  <a:srgbClr val="00ff00"/>
                </a:solidFill>
                <a:uFillTx/>
                <a:latin typeface="Garamond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rgbClr val="00ff00"/>
                </a:solidFill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98C14-7E01-4392-BD20-4EC32504B973}" type="slidenum">
              <a:rPr b="0" lang="en-US" sz="1200" spc="-1" strike="noStrike" u="sng">
                <a:solidFill>
                  <a:srgbClr val="00ff00"/>
                </a:solidFill>
                <a:uFillTx/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rgbClr val="00ff00"/>
                </a:solidFill>
                <a:uFillTx/>
                <a:latin typeface="Garamond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4128EC-9969-4806-B24B-FD66888B3744}" type="slidenum">
              <a:rPr b="0" lang="en-US" sz="1200" spc="-1" strike="noStrike" u="sng">
                <a:solidFill>
                  <a:srgbClr val="00ff00"/>
                </a:solidFill>
                <a:uFillTx/>
                <a:latin typeface="Garamond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>
            <a:off x="879120" y="3003480"/>
            <a:ext cx="10433520" cy="406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736200" y="1939320"/>
            <a:ext cx="10719360" cy="7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7987"/>
          </a:bodyPr>
          <a:p>
            <a:pPr indent="0"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573280" y="2431080"/>
            <a:ext cx="7045200" cy="167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000" spc="199" strike="noStrike">
                <a:solidFill>
                  <a:schemeClr val="lt1"/>
                </a:solidFill>
                <a:latin typeface="Arial"/>
              </a:rPr>
              <a:t>You have reached the end of this presentation.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chemeClr val="dk1"/>
                </a:solidFill>
                <a:latin typeface="Arial Regular"/>
              </a:rPr>
              <a:t>Click to edit the outline text format</a:t>
            </a:r>
            <a:endParaRPr b="0" lang="en-US" sz="2200" spc="-1" strike="noStrike">
              <a:solidFill>
                <a:schemeClr val="dk1"/>
              </a:solidFill>
              <a:latin typeface="Arial Regula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Arial Regular"/>
              </a:rPr>
              <a:t>Second Outline Level</a:t>
            </a: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Arial Regular"/>
              </a:rPr>
              <a:t>Third Outline Level</a:t>
            </a: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Arial Regular"/>
              </a:rPr>
              <a:t>Fourth Outline Level</a:t>
            </a: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 Regular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 Regula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 Regular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 Regula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 Regular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 Regula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740160" y="1682280"/>
            <a:ext cx="10711080" cy="46198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Edit Master text styles</a:t>
            </a:r>
            <a:endParaRPr b="0" lang="en-US" sz="3600" spc="-1" strike="noStrike">
              <a:solidFill>
                <a:schemeClr val="dk1"/>
              </a:solidFill>
              <a:latin typeface="Arial Regular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Second level</a:t>
            </a:r>
            <a:endParaRPr b="0" lang="en-US" sz="3200" spc="-1" strike="noStrike">
              <a:solidFill>
                <a:schemeClr val="dk1"/>
              </a:solidFill>
              <a:latin typeface="Arial Regular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◦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Wingdings 3" charset="2"/>
              <a:buChar char="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Fourth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−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Fifth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4320" cy="69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image" Target="../media/image8.wmf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wmf"/><Relationship Id="rId2" Type="http://schemas.openxmlformats.org/officeDocument/2006/relationships/image" Target="../media/image10.wmf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wmf"/><Relationship Id="rId3" Type="http://schemas.openxmlformats.org/officeDocument/2006/relationships/image" Target="../media/image13.wmf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wmf"/><Relationship Id="rId2" Type="http://schemas.openxmlformats.org/officeDocument/2006/relationships/image" Target="../media/image18.wmf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wmf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wmf"/><Relationship Id="rId2" Type="http://schemas.openxmlformats.org/officeDocument/2006/relationships/image" Target="../media/image22.wmf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879120" y="4998960"/>
            <a:ext cx="10433520" cy="4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Techniques for Turn-Based Games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736200" y="1526760"/>
            <a:ext cx="10719360" cy="7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818"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6000" spc="97" strike="noStrike">
                <a:solidFill>
                  <a:schemeClr val="lt1"/>
                </a:solidFill>
                <a:latin typeface="Garamond"/>
              </a:rPr>
              <a:t>Game Playing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4" name="Graphic 9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371600" y="2440080"/>
            <a:ext cx="8942400" cy="2235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981080" y="135000"/>
            <a:ext cx="8229240" cy="126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Multiplayer Games</a:t>
            </a:r>
            <a:br>
              <a:rPr sz="4800"/>
            </a:br>
            <a:r>
              <a:rPr b="0" lang="en-US" sz="3200" spc="97" strike="noStrike">
                <a:solidFill>
                  <a:schemeClr val="lt1"/>
                </a:solidFill>
                <a:latin typeface="Garamond"/>
              </a:rPr>
              <a:t>Overview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20120" y="1405080"/>
            <a:ext cx="11051640" cy="51987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6830" lnSpcReduction="10000"/>
          </a:bodyPr>
          <a:p>
            <a:pPr indent="0" algn="just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We cannot apply standard search techniques to multiplayer games because we do not exclusively control the state of the problem (game). </a:t>
            </a:r>
            <a:r>
              <a:rPr b="1" lang="en-US" sz="2200" spc="-1" strike="noStrike">
                <a:solidFill>
                  <a:srgbClr val="00ff00"/>
                </a:solidFill>
                <a:latin typeface="Arial Regular"/>
              </a:rPr>
              <a:t>Game playing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 techniques let us predict the actions of other agents.</a:t>
            </a: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  <a:p>
            <a:pPr indent="0" algn="just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Multiplayer games come in two main variants: </a:t>
            </a:r>
            <a:r>
              <a:rPr b="1" lang="en-US" sz="2200" spc="-1" strike="noStrike">
                <a:solidFill>
                  <a:srgbClr val="00ff00"/>
                </a:solidFill>
                <a:latin typeface="Arial Regular"/>
              </a:rPr>
              <a:t>symmetric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 games (players have the same abilities) and </a:t>
            </a:r>
            <a:r>
              <a:rPr b="1" lang="en-US" sz="2200" spc="-1" strike="noStrike">
                <a:solidFill>
                  <a:srgbClr val="00ff00"/>
                </a:solidFill>
                <a:latin typeface="Arial Regular"/>
              </a:rPr>
              <a:t>asymmetric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 games (players have different abilities.)</a:t>
            </a: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  <a:p>
            <a:pPr indent="0" algn="just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 u="sng">
                <a:solidFill>
                  <a:srgbClr val="ffffff"/>
                </a:solidFill>
                <a:uFillTx/>
                <a:latin typeface="Arial Regular"/>
              </a:rPr>
              <a:t>Examples of Symmetric Games:</a:t>
            </a: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Real-Time: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	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Doom, Warcraft (Original)</a:t>
            </a: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Turn-Based: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	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Go, Settlers, Poker, Magic, Civilization</a:t>
            </a: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 u="sng">
                <a:solidFill>
                  <a:srgbClr val="ffffff"/>
                </a:solidFill>
                <a:uFillTx/>
                <a:latin typeface="Arial Regular"/>
              </a:rPr>
              <a:t>Examples of Asymmetric Games:</a:t>
            </a: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Real-Time: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	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StarCraft, GoldenEye, Street Fighter II </a:t>
            </a: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Turn-Based: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	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Final Fantasy, Civilization III</a:t>
            </a: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</p:txBody>
      </p:sp>
      <p:pic>
        <p:nvPicPr>
          <p:cNvPr id="17" name="Picture 5" descr="MCj01539000000[1]"/>
          <p:cNvPicPr/>
          <p:nvPr/>
        </p:nvPicPr>
        <p:blipFill>
          <a:blip r:embed="rId1"/>
          <a:stretch/>
        </p:blipFill>
        <p:spPr>
          <a:xfrm>
            <a:off x="7974360" y="4205160"/>
            <a:ext cx="3076200" cy="205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981080" y="135000"/>
            <a:ext cx="8229240" cy="126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Game-Playing</a:t>
            </a:r>
            <a:br>
              <a:rPr sz="4800"/>
            </a:br>
            <a:r>
              <a:rPr b="0" lang="en-US" sz="3200" spc="97" strike="noStrike">
                <a:solidFill>
                  <a:schemeClr val="lt1"/>
                </a:solidFill>
                <a:latin typeface="Garamond"/>
              </a:rPr>
              <a:t>Data Structures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066680" y="1423800"/>
            <a:ext cx="8472240" cy="49993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3195"/>
          </a:bodyPr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ffffff"/>
                </a:solidFill>
                <a:uFillTx/>
                <a:latin typeface="Arial Regular"/>
              </a:rPr>
              <a:t>Turn-based game playing is a well-defined problem. It has: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An initial state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A set of goal states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A set of reachable states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1+ Operators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Because of this, we can approach it using search techniques.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ffffff"/>
                </a:solidFill>
                <a:uFillTx/>
                <a:latin typeface="Arial Regular"/>
              </a:rPr>
              <a:t>We’ll need a few data structures and functions to play games: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Game state class (contains information about pieces, cards, players, etc)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Move class (represents a single move by a player in a game)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Terminal function (tells us when the game is over)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2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Evaluation function (tells of the value of the game’s state)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</p:txBody>
      </p:sp>
      <p:pic>
        <p:nvPicPr>
          <p:cNvPr id="20" name="Picture 6" descr="MCj01107320000[1]"/>
          <p:cNvPicPr/>
          <p:nvPr/>
        </p:nvPicPr>
        <p:blipFill>
          <a:blip r:embed="rId1"/>
          <a:stretch/>
        </p:blipFill>
        <p:spPr>
          <a:xfrm>
            <a:off x="8396640" y="1200600"/>
            <a:ext cx="2968560" cy="296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981080" y="0"/>
            <a:ext cx="8229240" cy="126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Game-Playing</a:t>
            </a:r>
            <a:br>
              <a:rPr sz="4800"/>
            </a:br>
            <a:r>
              <a:rPr b="0" lang="en-US" sz="3200" spc="97" strike="noStrike">
                <a:solidFill>
                  <a:schemeClr val="lt1"/>
                </a:solidFill>
                <a:latin typeface="Garamond"/>
              </a:rPr>
              <a:t>The Greedy Method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1097280" y="1405080"/>
            <a:ext cx="9186120" cy="522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6830"/>
          </a:bodyPr>
          <a:p>
            <a:pPr indent="0" algn="ctr" defTabSz="914400">
              <a:lnSpc>
                <a:spcPct val="12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Arial Regular"/>
              </a:rPr>
              <a:t>The </a:t>
            </a:r>
            <a:r>
              <a:rPr b="1" lang="en-US" sz="1800" spc="-1" strike="noStrike">
                <a:solidFill>
                  <a:srgbClr val="00ff00"/>
                </a:solidFill>
                <a:latin typeface="Arial Regular"/>
              </a:rPr>
              <a:t>Greedy Method</a:t>
            </a:r>
            <a:r>
              <a:rPr b="0" lang="en-US" sz="1800" spc="-1" strike="noStrike">
                <a:solidFill>
                  <a:schemeClr val="dk1"/>
                </a:solidFill>
                <a:latin typeface="Arial Regular"/>
              </a:rPr>
              <a:t> picks the move that yields the most immediately valuable game state.</a:t>
            </a:r>
            <a:endParaRPr b="0" lang="en-US" sz="18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23" name="Rectangle 3"/>
          <p:cNvSpPr/>
          <p:nvPr/>
        </p:nvSpPr>
        <p:spPr>
          <a:xfrm>
            <a:off x="1636920" y="1872360"/>
            <a:ext cx="7767360" cy="4550760"/>
          </a:xfrm>
          <a:prstGeom prst="rect">
            <a:avLst/>
          </a:prstGeom>
          <a:solidFill>
            <a:srgbClr val="00206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rmAutofit/>
          </a:bodyPr>
          <a:p>
            <a:pPr defTabSz="914400">
              <a:lnSpc>
                <a:spcPct val="12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def get_move_greedy(player, game_state):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best_move = None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new_state = GameState()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move_list = generate_moves(player, game_state)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spcAft>
                <a:spcPts val="201"/>
              </a:spcAft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for move in move_list: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new_state.copy(game_state)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new_state.apply(move)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move.rank = evaluate(new_state)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spcAft>
                <a:spcPts val="201"/>
              </a:spcAft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if not best_move or move.rank IsBetterThan best_move.rank: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      </a:t>
            </a: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best_move = move;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spcAft>
                <a:spcPts val="201"/>
              </a:spcAft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urier New"/>
              </a:rPr>
              <a:t>return best_move;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" name="Picture 6" descr="MCj02408050000[1]"/>
          <p:cNvPicPr/>
          <p:nvPr/>
        </p:nvPicPr>
        <p:blipFill>
          <a:blip r:embed="rId1"/>
          <a:stretch/>
        </p:blipFill>
        <p:spPr>
          <a:xfrm>
            <a:off x="7898040" y="1781280"/>
            <a:ext cx="3012840" cy="2366640"/>
          </a:xfrm>
          <a:prstGeom prst="rect">
            <a:avLst/>
          </a:prstGeom>
          <a:ln w="0">
            <a:noFill/>
          </a:ln>
        </p:spPr>
      </p:pic>
      <p:pic>
        <p:nvPicPr>
          <p:cNvPr id="25" name="Picture 5" descr="MCBD07032_0000[1]"/>
          <p:cNvPicPr/>
          <p:nvPr/>
        </p:nvPicPr>
        <p:blipFill>
          <a:blip r:embed="rId2"/>
          <a:stretch/>
        </p:blipFill>
        <p:spPr>
          <a:xfrm>
            <a:off x="8957160" y="4141800"/>
            <a:ext cx="2192040" cy="2373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2" dur="5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" dur="500"/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" dur="500"/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7" dur="500"/>
                                        <p:tgtEl>
                                          <p:spTgt spid="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981080" y="0"/>
            <a:ext cx="8229240" cy="126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Game-Playing</a:t>
            </a:r>
            <a:br>
              <a:rPr sz="4800"/>
            </a:br>
            <a:r>
              <a:rPr b="0" lang="en-US" sz="3200" spc="97" strike="noStrike">
                <a:solidFill>
                  <a:schemeClr val="lt1"/>
                </a:solidFill>
                <a:latin typeface="Garamond"/>
              </a:rPr>
              <a:t>Greedy Method Analyzed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725760" y="1597680"/>
            <a:ext cx="10711080" cy="46198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rgbClr val="ffffff"/>
                </a:solidFill>
                <a:uFillTx/>
                <a:latin typeface="Arial Regular"/>
              </a:rPr>
              <a:t>Greedy Method Benefits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Fast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Moderate Memory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Moderate CPU time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rgbClr val="ffffff"/>
                </a:solidFill>
                <a:uFillTx/>
                <a:latin typeface="Arial Regular"/>
              </a:rPr>
              <a:t>Greedy Method Drawbacks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Ignores opponent’s reaction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Short sighted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</p:txBody>
      </p:sp>
      <p:pic>
        <p:nvPicPr>
          <p:cNvPr id="28" name="Picture 7" descr="MCj04257860000[1]"/>
          <p:cNvPicPr/>
          <p:nvPr/>
        </p:nvPicPr>
        <p:blipFill>
          <a:blip r:embed="rId1"/>
          <a:stretch/>
        </p:blipFill>
        <p:spPr>
          <a:xfrm>
            <a:off x="7647120" y="3855960"/>
            <a:ext cx="1980720" cy="2623680"/>
          </a:xfrm>
          <a:prstGeom prst="rect">
            <a:avLst/>
          </a:prstGeom>
          <a:ln w="0">
            <a:noFill/>
          </a:ln>
        </p:spPr>
      </p:pic>
      <p:pic>
        <p:nvPicPr>
          <p:cNvPr id="29" name="Picture 9" descr="MCj03561490000[1]"/>
          <p:cNvPicPr/>
          <p:nvPr/>
        </p:nvPicPr>
        <p:blipFill>
          <a:blip r:embed="rId2"/>
          <a:stretch/>
        </p:blipFill>
        <p:spPr>
          <a:xfrm>
            <a:off x="6343560" y="2087640"/>
            <a:ext cx="3607920" cy="126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8" dur="indefinite" restart="never" nodeType="tmRoot">
          <p:childTnLst>
            <p:seq>
              <p:cTn id="59" dur="indefinite" nodeType="mainSeq">
                <p:childTnLst>
                  <p:par>
                    <p:cTn id="60" nodeType="clickEffect" fill="hold">
                      <p:stCondLst>
                        <p:cond delay="indefinite"/>
                      </p:stCondLst>
                      <p:childTnLst>
                        <p:par>
                          <p:cTn id="6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4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nodeType="clickEffect" fill="hold">
                      <p:stCondLst>
                        <p:cond delay="indefinite"/>
                      </p:stCondLst>
                      <p:childTnLst>
                        <p:par>
                          <p:cTn id="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9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nodeType="clickEffect" fill="hold">
                      <p:stCondLst>
                        <p:cond delay="indefinite"/>
                      </p:stCondLst>
                      <p:childTnLst>
                        <p:par>
                          <p:cTn id="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4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nodeType="clickEffect" fill="hold">
                      <p:stCondLst>
                        <p:cond delay="indefinite"/>
                      </p:stCondLst>
                      <p:childTnLst>
                        <p:par>
                          <p:cTn id="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9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nodeType="clickEffect" fill="hold">
                      <p:stCondLst>
                        <p:cond delay="indefinite"/>
                      </p:stCondLst>
                      <p:childTnLst>
                        <p:par>
                          <p:cTn id="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4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nodeType="clickEffect" fill="hold">
                      <p:stCondLst>
                        <p:cond delay="indefinite"/>
                      </p:stCondLst>
                      <p:childTnLst>
                        <p:par>
                          <p:cTn id="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9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4" dur="500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4320" cy="69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Prediction in Games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1828800" y="1295280"/>
            <a:ext cx="8518320" cy="3428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algn="just" defTabSz="914400">
              <a:lnSpc>
                <a:spcPct val="11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Often our predictions about other players are based on our perception of their </a:t>
            </a:r>
            <a:r>
              <a:rPr b="1" lang="en-US" sz="2400" spc="-1" strike="noStrike">
                <a:solidFill>
                  <a:srgbClr val="00ff00"/>
                </a:solidFill>
                <a:latin typeface="Arial Regular"/>
              </a:rPr>
              <a:t>rationality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(the degree to which the use reasoning to make decisions.)</a:t>
            </a:r>
            <a:endParaRPr b="0" lang="en-US" sz="24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10000"/>
              </a:lnSpc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1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 u="sng">
                <a:solidFill>
                  <a:srgbClr val="ffffff"/>
                </a:solidFill>
                <a:uFillTx/>
                <a:latin typeface="Arial Regular"/>
              </a:rPr>
              <a:t>A perfectly rational agent…</a:t>
            </a:r>
            <a:endParaRPr b="0" lang="en-US" sz="24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1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Assumes that its opponents are perfectly rational</a:t>
            </a:r>
            <a:endParaRPr b="0" lang="en-US" sz="24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1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Uses this assumption to make a prediction of behaviors</a:t>
            </a:r>
            <a:endParaRPr b="0" lang="en-US" sz="24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1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Makes a reasoned decision based on those predictions</a:t>
            </a:r>
            <a:endParaRPr b="0" lang="en-US" sz="24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10000"/>
              </a:lnSpc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10000"/>
              </a:lnSpc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 Regular"/>
            </a:endParaRPr>
          </a:p>
        </p:txBody>
      </p:sp>
      <p:pic>
        <p:nvPicPr>
          <p:cNvPr id="32" name="Picture 5" descr="C:\Users\Jeremiah Blanchard\AppData\Local\Microsoft\Windows\Temporary Internet Files\Content.IE5\15OSIHYH\MC900441765[1].png"/>
          <p:cNvPicPr/>
          <p:nvPr/>
        </p:nvPicPr>
        <p:blipFill>
          <a:blip r:embed="rId1"/>
          <a:stretch/>
        </p:blipFill>
        <p:spPr>
          <a:xfrm>
            <a:off x="10140120" y="3560040"/>
            <a:ext cx="1294920" cy="1294920"/>
          </a:xfrm>
          <a:prstGeom prst="rect">
            <a:avLst/>
          </a:prstGeom>
          <a:ln w="0">
            <a:noFill/>
          </a:ln>
        </p:spPr>
      </p:pic>
      <p:pic>
        <p:nvPicPr>
          <p:cNvPr id="33" name="Picture 8" descr="C:\Users\Jeremiah Blanchard\AppData\Local\Microsoft\Windows\Temporary Internet Files\Content.IE5\15OSIHYH\MC900445118[1].wmf"/>
          <p:cNvPicPr/>
          <p:nvPr/>
        </p:nvPicPr>
        <p:blipFill>
          <a:blip r:embed="rId2"/>
          <a:stretch/>
        </p:blipFill>
        <p:spPr>
          <a:xfrm>
            <a:off x="9911520" y="4627080"/>
            <a:ext cx="707760" cy="1698120"/>
          </a:xfrm>
          <a:prstGeom prst="rect">
            <a:avLst/>
          </a:prstGeom>
          <a:ln w="0">
            <a:noFill/>
          </a:ln>
        </p:spPr>
      </p:pic>
      <p:pic>
        <p:nvPicPr>
          <p:cNvPr id="34" name="Picture 121" descr="C:\Users\Jeremiah Blanchard\AppData\Local\Microsoft\Windows\Temporary Internet Files\Content.IE5\L502ARVZ\MC900434389[1].wmf"/>
          <p:cNvPicPr/>
          <p:nvPr/>
        </p:nvPicPr>
        <p:blipFill>
          <a:blip r:embed="rId3"/>
          <a:stretch/>
        </p:blipFill>
        <p:spPr>
          <a:xfrm>
            <a:off x="469440" y="4087080"/>
            <a:ext cx="1206000" cy="190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5" dur="indefinite" restart="never" nodeType="tmRoot">
          <p:childTnLst>
            <p:seq>
              <p:cTn id="96" dur="indefinite" nodeType="mainSeq">
                <p:childTnLst>
                  <p:par>
                    <p:cTn id="97" nodeType="clickEffect" fill="hold">
                      <p:stCondLst>
                        <p:cond delay="indefinite"/>
                      </p:stCondLst>
                      <p:childTnLst>
                        <p:par>
                          <p:cTn id="9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nodeType="clickEffect" fill="hold">
                      <p:stCondLst>
                        <p:cond delay="indefinite"/>
                      </p:stCondLst>
                      <p:childTnLst>
                        <p:par>
                          <p:cTn id="1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6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nodeType="clickEffect" fill="hold">
                      <p:stCondLst>
                        <p:cond delay="indefinite"/>
                      </p:stCondLst>
                      <p:childTnLst>
                        <p:par>
                          <p:cTn id="1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1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nodeType="clickEffect" fill="hold">
                      <p:stCondLst>
                        <p:cond delay="indefinite"/>
                      </p:stCondLst>
                      <p:childTnLst>
                        <p:par>
                          <p:cTn id="1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6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nodeType="clickEffect" fill="hold">
                      <p:stCondLst>
                        <p:cond delay="indefinite"/>
                      </p:stCondLst>
                      <p:childTnLst>
                        <p:par>
                          <p:cTn id="1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1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143"/>
          <p:cNvSpPr/>
          <p:nvPr/>
        </p:nvSpPr>
        <p:spPr>
          <a:xfrm>
            <a:off x="6211440" y="624816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Oval 144"/>
          <p:cNvSpPr/>
          <p:nvPr/>
        </p:nvSpPr>
        <p:spPr>
          <a:xfrm>
            <a:off x="4640760" y="624816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Oval 145"/>
          <p:cNvSpPr/>
          <p:nvPr/>
        </p:nvSpPr>
        <p:spPr>
          <a:xfrm>
            <a:off x="4258800" y="624816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Oval 146"/>
          <p:cNvSpPr/>
          <p:nvPr/>
        </p:nvSpPr>
        <p:spPr>
          <a:xfrm>
            <a:off x="5823720" y="624816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Oval 150"/>
          <p:cNvSpPr/>
          <p:nvPr/>
        </p:nvSpPr>
        <p:spPr>
          <a:xfrm>
            <a:off x="5019840" y="625680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Oval 152"/>
          <p:cNvSpPr/>
          <p:nvPr/>
        </p:nvSpPr>
        <p:spPr>
          <a:xfrm>
            <a:off x="5409000" y="624816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Oval 142"/>
          <p:cNvSpPr/>
          <p:nvPr/>
        </p:nvSpPr>
        <p:spPr>
          <a:xfrm>
            <a:off x="3878280" y="624816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Oval 141"/>
          <p:cNvSpPr/>
          <p:nvPr/>
        </p:nvSpPr>
        <p:spPr>
          <a:xfrm>
            <a:off x="3495960" y="625392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Oval 140"/>
          <p:cNvSpPr/>
          <p:nvPr/>
        </p:nvSpPr>
        <p:spPr>
          <a:xfrm>
            <a:off x="3119040" y="625680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Oval 139"/>
          <p:cNvSpPr/>
          <p:nvPr/>
        </p:nvSpPr>
        <p:spPr>
          <a:xfrm>
            <a:off x="2738160" y="624816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Oval 138"/>
          <p:cNvSpPr/>
          <p:nvPr/>
        </p:nvSpPr>
        <p:spPr>
          <a:xfrm>
            <a:off x="2323080" y="625140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Oval 134"/>
          <p:cNvSpPr/>
          <p:nvPr/>
        </p:nvSpPr>
        <p:spPr>
          <a:xfrm>
            <a:off x="1929600" y="6261120"/>
            <a:ext cx="365400" cy="365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2000">
                <a:srgbClr val="ffffff"/>
              </a:gs>
              <a:gs pos="89000">
                <a:srgbClr val="595959"/>
              </a:gs>
              <a:gs pos="100000">
                <a:srgbClr val="000000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Oval 136"/>
          <p:cNvSpPr/>
          <p:nvPr/>
        </p:nvSpPr>
        <p:spPr>
          <a:xfrm>
            <a:off x="5649120" y="3689280"/>
            <a:ext cx="365400" cy="365400"/>
          </a:xfrm>
          <a:prstGeom prst="ellipse">
            <a:avLst/>
          </a:prstGeom>
          <a:gradFill rotWithShape="0">
            <a:gsLst>
              <a:gs pos="0">
                <a:srgbClr val="000000"/>
              </a:gs>
              <a:gs pos="12000">
                <a:srgbClr val="000000"/>
              </a:gs>
              <a:gs pos="89000">
                <a:srgbClr val="595959"/>
              </a:gs>
              <a:gs pos="100000">
                <a:srgbClr val="fff2ff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B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Oval 137"/>
          <p:cNvSpPr/>
          <p:nvPr/>
        </p:nvSpPr>
        <p:spPr>
          <a:xfrm>
            <a:off x="4499280" y="3686400"/>
            <a:ext cx="365400" cy="365400"/>
          </a:xfrm>
          <a:prstGeom prst="ellipse">
            <a:avLst/>
          </a:prstGeom>
          <a:gradFill rotWithShape="0">
            <a:gsLst>
              <a:gs pos="0">
                <a:srgbClr val="000000"/>
              </a:gs>
              <a:gs pos="12000">
                <a:srgbClr val="000000"/>
              </a:gs>
              <a:gs pos="89000">
                <a:srgbClr val="595959"/>
              </a:gs>
              <a:gs pos="100000">
                <a:srgbClr val="fff2ff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B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981080" y="46080"/>
            <a:ext cx="8229240" cy="110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Game-Playing</a:t>
            </a:r>
            <a:br>
              <a:rPr sz="4800"/>
            </a:br>
            <a:r>
              <a:rPr b="0" lang="en-US" sz="3200" spc="97" strike="noStrike">
                <a:solidFill>
                  <a:schemeClr val="lt1"/>
                </a:solidFill>
                <a:latin typeface="Garamond"/>
              </a:rPr>
              <a:t>The Minimax Method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817200" y="1289880"/>
            <a:ext cx="10557360" cy="602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indent="0" algn="just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Arial Regular"/>
              </a:rPr>
              <a:t>The </a:t>
            </a:r>
            <a:r>
              <a:rPr b="1" lang="en-US" sz="1800" spc="-1" strike="noStrike">
                <a:solidFill>
                  <a:srgbClr val="00ff00"/>
                </a:solidFill>
                <a:latin typeface="Arial Regular"/>
              </a:rPr>
              <a:t>Minimax Method</a:t>
            </a:r>
            <a:r>
              <a:rPr b="0" lang="en-US" sz="1800" spc="-1" strike="noStrike">
                <a:solidFill>
                  <a:srgbClr val="ffffff"/>
                </a:solidFill>
                <a:latin typeface="Arial Regular"/>
              </a:rPr>
              <a:t> searches through several levels of moves, assuming the opponent always makes the best move available. It makes use of </a:t>
            </a:r>
            <a:r>
              <a:rPr b="1" i="1" lang="en-US" sz="1800" spc="-1" strike="noStrike">
                <a:solidFill>
                  <a:srgbClr val="00ff00"/>
                </a:solidFill>
                <a:latin typeface="Arial Regular"/>
              </a:rPr>
              <a:t>alpha-beta trees</a:t>
            </a:r>
            <a:r>
              <a:rPr b="0" lang="en-US" sz="1800" spc="-1" strike="noStrike">
                <a:solidFill>
                  <a:srgbClr val="ffffff"/>
                </a:solidFill>
                <a:latin typeface="Arial Regular"/>
              </a:rPr>
              <a:t>, also known as </a:t>
            </a:r>
            <a:r>
              <a:rPr b="1" i="1" lang="en-US" sz="1800" spc="-1" strike="noStrike">
                <a:solidFill>
                  <a:srgbClr val="00ff00"/>
                </a:solidFill>
                <a:latin typeface="Arial Regular"/>
              </a:rPr>
              <a:t>game trees</a:t>
            </a:r>
            <a:r>
              <a:rPr b="0" lang="en-US" sz="1800" spc="-1" strike="noStrike">
                <a:solidFill>
                  <a:srgbClr val="ffffff"/>
                </a:solidFill>
                <a:latin typeface="Arial Regular"/>
              </a:rPr>
              <a:t>.</a:t>
            </a:r>
            <a:endParaRPr b="0" lang="en-US" sz="1800" spc="-1" strike="noStrike">
              <a:solidFill>
                <a:srgbClr val="ffffff"/>
              </a:solidFill>
              <a:latin typeface="Arial Regular"/>
            </a:endParaRPr>
          </a:p>
        </p:txBody>
      </p:sp>
      <p:pic>
        <p:nvPicPr>
          <p:cNvPr id="51" name="Picture 290" descr="chessboard"/>
          <p:cNvPicPr/>
          <p:nvPr/>
        </p:nvPicPr>
        <p:blipFill>
          <a:blip r:embed="rId1"/>
          <a:stretch/>
        </p:blipFill>
        <p:spPr>
          <a:xfrm>
            <a:off x="7287840" y="2860200"/>
            <a:ext cx="3249000" cy="3249000"/>
          </a:xfrm>
          <a:prstGeom prst="rect">
            <a:avLst/>
          </a:prstGeom>
          <a:ln w="0">
            <a:noFill/>
          </a:ln>
        </p:spPr>
      </p:pic>
      <p:sp>
        <p:nvSpPr>
          <p:cNvPr id="52" name="Line 291"/>
          <p:cNvSpPr/>
          <p:nvPr/>
        </p:nvSpPr>
        <p:spPr>
          <a:xfrm flipH="1">
            <a:off x="2303280" y="2400120"/>
            <a:ext cx="1828800" cy="129528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3" name="Line 292"/>
          <p:cNvSpPr/>
          <p:nvPr/>
        </p:nvSpPr>
        <p:spPr>
          <a:xfrm flipH="1">
            <a:off x="3446280" y="2476440"/>
            <a:ext cx="762120" cy="121896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4" name="Line 293"/>
          <p:cNvSpPr/>
          <p:nvPr/>
        </p:nvSpPr>
        <p:spPr>
          <a:xfrm flipH="1">
            <a:off x="2074680" y="4000320"/>
            <a:ext cx="228600" cy="167652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Oval 294"/>
          <p:cNvSpPr/>
          <p:nvPr/>
        </p:nvSpPr>
        <p:spPr>
          <a:xfrm>
            <a:off x="4132440" y="2171520"/>
            <a:ext cx="320400" cy="320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Line 295"/>
          <p:cNvSpPr/>
          <p:nvPr/>
        </p:nvSpPr>
        <p:spPr>
          <a:xfrm>
            <a:off x="2303280" y="4000320"/>
            <a:ext cx="225720" cy="175248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7" name="Line 296"/>
          <p:cNvSpPr/>
          <p:nvPr/>
        </p:nvSpPr>
        <p:spPr>
          <a:xfrm flipH="1">
            <a:off x="3217680" y="4033800"/>
            <a:ext cx="228600" cy="175248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8" name="Line 297"/>
          <p:cNvSpPr/>
          <p:nvPr/>
        </p:nvSpPr>
        <p:spPr>
          <a:xfrm>
            <a:off x="3446280" y="4000320"/>
            <a:ext cx="228600" cy="167652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9" name="Line 298"/>
          <p:cNvSpPr/>
          <p:nvPr/>
        </p:nvSpPr>
        <p:spPr>
          <a:xfrm flipH="1">
            <a:off x="2912760" y="4033800"/>
            <a:ext cx="533520" cy="175248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Line 299"/>
          <p:cNvSpPr/>
          <p:nvPr/>
        </p:nvSpPr>
        <p:spPr>
          <a:xfrm>
            <a:off x="3446280" y="4033800"/>
            <a:ext cx="533520" cy="175248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1" name="Rectangle 300"/>
          <p:cNvSpPr/>
          <p:nvPr/>
        </p:nvSpPr>
        <p:spPr>
          <a:xfrm>
            <a:off x="2151000" y="3695760"/>
            <a:ext cx="320400" cy="3186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2" name="Rectangle 301"/>
          <p:cNvSpPr/>
          <p:nvPr/>
        </p:nvSpPr>
        <p:spPr>
          <a:xfrm>
            <a:off x="3294000" y="3695760"/>
            <a:ext cx="320400" cy="3186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Oval 302"/>
          <p:cNvSpPr/>
          <p:nvPr/>
        </p:nvSpPr>
        <p:spPr>
          <a:xfrm>
            <a:off x="1968120" y="5676840"/>
            <a:ext cx="320400" cy="320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4" name="Text Box 303"/>
          <p:cNvSpPr/>
          <p:nvPr/>
        </p:nvSpPr>
        <p:spPr>
          <a:xfrm>
            <a:off x="3792960" y="1791000"/>
            <a:ext cx="99864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2000" spc="-1" strike="noStrike">
                <a:solidFill>
                  <a:srgbClr val="ffc000"/>
                </a:solidFill>
                <a:latin typeface="Garamond"/>
              </a:rPr>
              <a:t>Max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Box 304"/>
          <p:cNvSpPr/>
          <p:nvPr/>
        </p:nvSpPr>
        <p:spPr>
          <a:xfrm>
            <a:off x="3848040" y="3269160"/>
            <a:ext cx="102348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2000" spc="-1" strike="noStrike">
                <a:solidFill>
                  <a:srgbClr val="ffc000"/>
                </a:solidFill>
                <a:latin typeface="Garamond"/>
              </a:rPr>
              <a:t>Min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Oval 345"/>
          <p:cNvSpPr/>
          <p:nvPr/>
        </p:nvSpPr>
        <p:spPr>
          <a:xfrm>
            <a:off x="2343240" y="5676840"/>
            <a:ext cx="320400" cy="320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7" name="Oval 346"/>
          <p:cNvSpPr/>
          <p:nvPr/>
        </p:nvSpPr>
        <p:spPr>
          <a:xfrm>
            <a:off x="2760840" y="5676840"/>
            <a:ext cx="320400" cy="320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8" name="Oval 347"/>
          <p:cNvSpPr/>
          <p:nvPr/>
        </p:nvSpPr>
        <p:spPr>
          <a:xfrm>
            <a:off x="3141720" y="5676840"/>
            <a:ext cx="320400" cy="320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9" name="Oval 348"/>
          <p:cNvSpPr/>
          <p:nvPr/>
        </p:nvSpPr>
        <p:spPr>
          <a:xfrm>
            <a:off x="3522600" y="5676840"/>
            <a:ext cx="320400" cy="320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0" name="Oval 349"/>
          <p:cNvSpPr/>
          <p:nvPr/>
        </p:nvSpPr>
        <p:spPr>
          <a:xfrm>
            <a:off x="3903840" y="5676840"/>
            <a:ext cx="320400" cy="320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1" name="Text Box 350"/>
          <p:cNvSpPr/>
          <p:nvPr/>
        </p:nvSpPr>
        <p:spPr>
          <a:xfrm>
            <a:off x="1960200" y="5600520"/>
            <a:ext cx="30456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0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Box 351"/>
          <p:cNvSpPr/>
          <p:nvPr/>
        </p:nvSpPr>
        <p:spPr>
          <a:xfrm>
            <a:off x="3471840" y="5608800"/>
            <a:ext cx="44892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-1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Box 352"/>
          <p:cNvSpPr/>
          <p:nvPr/>
        </p:nvSpPr>
        <p:spPr>
          <a:xfrm>
            <a:off x="2144880" y="3611520"/>
            <a:ext cx="30456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0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Line 353"/>
          <p:cNvSpPr/>
          <p:nvPr/>
        </p:nvSpPr>
        <p:spPr>
          <a:xfrm flipV="1">
            <a:off x="1998360" y="4076640"/>
            <a:ext cx="228600" cy="1523880"/>
          </a:xfrm>
          <a:prstGeom prst="line">
            <a:avLst/>
          </a:prstGeom>
          <a:ln w="31750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5" name="Line 354"/>
          <p:cNvSpPr/>
          <p:nvPr/>
        </p:nvSpPr>
        <p:spPr>
          <a:xfrm flipH="1" flipV="1">
            <a:off x="3446280" y="4076640"/>
            <a:ext cx="304920" cy="1523880"/>
          </a:xfrm>
          <a:prstGeom prst="line">
            <a:avLst/>
          </a:prstGeom>
          <a:ln w="2857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76" name="Group 355"/>
          <p:cNvGrpSpPr/>
          <p:nvPr/>
        </p:nvGrpSpPr>
        <p:grpSpPr>
          <a:xfrm>
            <a:off x="4284720" y="2400120"/>
            <a:ext cx="2263320" cy="3830760"/>
            <a:chOff x="4284720" y="2400120"/>
            <a:chExt cx="2263320" cy="3830760"/>
          </a:xfrm>
        </p:grpSpPr>
        <p:sp>
          <p:nvSpPr>
            <p:cNvPr id="77" name="Line 356"/>
            <p:cNvSpPr/>
            <p:nvPr/>
          </p:nvSpPr>
          <p:spPr>
            <a:xfrm>
              <a:off x="4360680" y="2476440"/>
              <a:ext cx="685800" cy="121896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Garamond"/>
              </a:endParaRPr>
            </a:p>
          </p:txBody>
        </p:sp>
        <p:sp>
          <p:nvSpPr>
            <p:cNvPr id="78" name="Line 357"/>
            <p:cNvSpPr/>
            <p:nvPr/>
          </p:nvSpPr>
          <p:spPr>
            <a:xfrm>
              <a:off x="4437000" y="2400120"/>
              <a:ext cx="1752480" cy="129528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highlight>
                  <a:srgbClr val="ffff00"/>
                </a:highlight>
                <a:latin typeface="Garamond"/>
              </a:endParaRPr>
            </a:p>
          </p:txBody>
        </p:sp>
        <p:sp>
          <p:nvSpPr>
            <p:cNvPr id="79" name="Line 358"/>
            <p:cNvSpPr/>
            <p:nvPr/>
          </p:nvSpPr>
          <p:spPr>
            <a:xfrm flipH="1">
              <a:off x="5960880" y="4000320"/>
              <a:ext cx="228600" cy="167652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Garamond"/>
              </a:endParaRPr>
            </a:p>
          </p:txBody>
        </p:sp>
        <p:sp>
          <p:nvSpPr>
            <p:cNvPr id="80" name="Line 359"/>
            <p:cNvSpPr/>
            <p:nvPr/>
          </p:nvSpPr>
          <p:spPr>
            <a:xfrm>
              <a:off x="6189480" y="4000320"/>
              <a:ext cx="228600" cy="167652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Garamond"/>
              </a:endParaRPr>
            </a:p>
          </p:txBody>
        </p:sp>
        <p:sp>
          <p:nvSpPr>
            <p:cNvPr id="81" name="Line 360"/>
            <p:cNvSpPr/>
            <p:nvPr/>
          </p:nvSpPr>
          <p:spPr>
            <a:xfrm flipH="1">
              <a:off x="4817880" y="4033800"/>
              <a:ext cx="228600" cy="175248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Garamond"/>
              </a:endParaRPr>
            </a:p>
          </p:txBody>
        </p:sp>
        <p:sp>
          <p:nvSpPr>
            <p:cNvPr id="82" name="Line 361"/>
            <p:cNvSpPr/>
            <p:nvPr/>
          </p:nvSpPr>
          <p:spPr>
            <a:xfrm>
              <a:off x="5046480" y="4033800"/>
              <a:ext cx="228600" cy="175248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Garamond"/>
              </a:endParaRPr>
            </a:p>
          </p:txBody>
        </p:sp>
        <p:sp>
          <p:nvSpPr>
            <p:cNvPr id="83" name="Line 362"/>
            <p:cNvSpPr/>
            <p:nvPr/>
          </p:nvSpPr>
          <p:spPr>
            <a:xfrm flipH="1">
              <a:off x="4512960" y="4033800"/>
              <a:ext cx="533520" cy="175248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Garamond"/>
              </a:endParaRPr>
            </a:p>
          </p:txBody>
        </p:sp>
        <p:sp>
          <p:nvSpPr>
            <p:cNvPr id="84" name="Line 363"/>
            <p:cNvSpPr/>
            <p:nvPr/>
          </p:nvSpPr>
          <p:spPr>
            <a:xfrm>
              <a:off x="5046480" y="4033800"/>
              <a:ext cx="533520" cy="175248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Garamond"/>
              </a:endParaRPr>
            </a:p>
          </p:txBody>
        </p:sp>
        <p:sp>
          <p:nvSpPr>
            <p:cNvPr id="85" name="Rectangle 364"/>
            <p:cNvSpPr/>
            <p:nvPr/>
          </p:nvSpPr>
          <p:spPr>
            <a:xfrm>
              <a:off x="4894200" y="3695760"/>
              <a:ext cx="320400" cy="318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2400" spc="-1" strike="noStrike">
                  <a:solidFill>
                    <a:schemeClr val="dk1"/>
                  </a:solidFill>
                  <a:latin typeface="Garamond"/>
                </a:rPr>
                <a:t>-1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Rectangle 365"/>
            <p:cNvSpPr/>
            <p:nvPr/>
          </p:nvSpPr>
          <p:spPr>
            <a:xfrm>
              <a:off x="6037200" y="3695760"/>
              <a:ext cx="320400" cy="318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2400" spc="-1" strike="noStrike">
                  <a:solidFill>
                    <a:schemeClr val="dk1"/>
                  </a:solidFill>
                  <a:latin typeface="Garamond"/>
                </a:rPr>
                <a:t>0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Oval 376"/>
            <p:cNvSpPr/>
            <p:nvPr/>
          </p:nvSpPr>
          <p:spPr>
            <a:xfrm>
              <a:off x="4284720" y="5676840"/>
              <a:ext cx="320400" cy="320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2400" spc="-1" strike="noStrike">
                  <a:solidFill>
                    <a:schemeClr val="dk1"/>
                  </a:solidFill>
                  <a:latin typeface="Garamond"/>
                </a:rPr>
                <a:t>0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Oval 377"/>
            <p:cNvSpPr/>
            <p:nvPr/>
          </p:nvSpPr>
          <p:spPr>
            <a:xfrm>
              <a:off x="4665600" y="5676840"/>
              <a:ext cx="320400" cy="320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2400" spc="-1" strike="noStrike">
                  <a:solidFill>
                    <a:schemeClr val="dk1"/>
                  </a:solidFill>
                  <a:latin typeface="Garamond"/>
                </a:rPr>
                <a:t>-1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Oval 378"/>
            <p:cNvSpPr/>
            <p:nvPr/>
          </p:nvSpPr>
          <p:spPr>
            <a:xfrm>
              <a:off x="5046840" y="5676840"/>
              <a:ext cx="320400" cy="320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2400" spc="-1" strike="noStrike">
                  <a:solidFill>
                    <a:schemeClr val="dk1"/>
                  </a:solidFill>
                  <a:latin typeface="Garamond"/>
                </a:rPr>
                <a:t>0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Oval 379"/>
            <p:cNvSpPr/>
            <p:nvPr/>
          </p:nvSpPr>
          <p:spPr>
            <a:xfrm>
              <a:off x="5427720" y="5676840"/>
              <a:ext cx="320400" cy="320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2400" spc="-1" strike="noStrike">
                  <a:solidFill>
                    <a:schemeClr val="dk1"/>
                  </a:solidFill>
                  <a:latin typeface="Garamond"/>
                </a:rPr>
                <a:t>0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" name="Oval 380"/>
            <p:cNvSpPr/>
            <p:nvPr/>
          </p:nvSpPr>
          <p:spPr>
            <a:xfrm>
              <a:off x="5846760" y="5676840"/>
              <a:ext cx="320400" cy="320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2400" spc="-1" strike="noStrike">
                  <a:solidFill>
                    <a:schemeClr val="dk1"/>
                  </a:solidFill>
                  <a:latin typeface="Garamond"/>
                </a:rPr>
                <a:t>1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Oval 381"/>
            <p:cNvSpPr/>
            <p:nvPr/>
          </p:nvSpPr>
          <p:spPr>
            <a:xfrm>
              <a:off x="6227640" y="5676840"/>
              <a:ext cx="320400" cy="320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2400" spc="-1" strike="noStrike">
                  <a:solidFill>
                    <a:schemeClr val="dk1"/>
                  </a:solidFill>
                  <a:latin typeface="Garamond"/>
                </a:rPr>
                <a:t>0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Line 386"/>
            <p:cNvSpPr/>
            <p:nvPr/>
          </p:nvSpPr>
          <p:spPr>
            <a:xfrm>
              <a:off x="5878440" y="6010200"/>
              <a:ext cx="218880" cy="220680"/>
            </a:xfrm>
            <a:prstGeom prst="line">
              <a:avLst/>
            </a:prstGeom>
            <a:ln w="25400">
              <a:solidFill>
                <a:srgbClr val="ec3323">
                  <a:lumMod val="60000"/>
                  <a:lumOff val="40000"/>
                </a:srgbClr>
              </a:solidFill>
              <a:round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Garamond"/>
              </a:endParaRPr>
            </a:p>
          </p:txBody>
        </p:sp>
        <p:sp>
          <p:nvSpPr>
            <p:cNvPr id="94" name="Line 391"/>
            <p:cNvSpPr/>
            <p:nvPr/>
          </p:nvSpPr>
          <p:spPr>
            <a:xfrm flipH="1">
              <a:off x="6259320" y="6010200"/>
              <a:ext cx="219240" cy="220680"/>
            </a:xfrm>
            <a:prstGeom prst="line">
              <a:avLst/>
            </a:prstGeom>
            <a:ln w="25400">
              <a:solidFill>
                <a:srgbClr val="ec3323">
                  <a:lumMod val="60000"/>
                  <a:lumOff val="40000"/>
                </a:srgbClr>
              </a:solidFill>
              <a:round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Garamond"/>
              </a:endParaRPr>
            </a:p>
          </p:txBody>
        </p:sp>
        <p:sp>
          <p:nvSpPr>
            <p:cNvPr id="95" name="Line 396"/>
            <p:cNvSpPr/>
            <p:nvPr/>
          </p:nvSpPr>
          <p:spPr>
            <a:xfrm>
              <a:off x="4316400" y="6010200"/>
              <a:ext cx="218880" cy="220680"/>
            </a:xfrm>
            <a:prstGeom prst="line">
              <a:avLst/>
            </a:prstGeom>
            <a:ln w="25400">
              <a:solidFill>
                <a:srgbClr val="ec3323">
                  <a:lumMod val="60000"/>
                  <a:lumOff val="40000"/>
                </a:srgbClr>
              </a:solidFill>
              <a:round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Garamond"/>
              </a:endParaRPr>
            </a:p>
          </p:txBody>
        </p:sp>
        <p:sp>
          <p:nvSpPr>
            <p:cNvPr id="96" name="Line 401"/>
            <p:cNvSpPr/>
            <p:nvPr/>
          </p:nvSpPr>
          <p:spPr>
            <a:xfrm flipH="1">
              <a:off x="4697280" y="6010200"/>
              <a:ext cx="218880" cy="220680"/>
            </a:xfrm>
            <a:prstGeom prst="line">
              <a:avLst/>
            </a:prstGeom>
            <a:ln w="25400">
              <a:solidFill>
                <a:srgbClr val="ec3323">
                  <a:lumMod val="60000"/>
                  <a:lumOff val="40000"/>
                </a:srgbClr>
              </a:solidFill>
              <a:round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Garamond"/>
              </a:endParaRPr>
            </a:p>
          </p:txBody>
        </p:sp>
        <p:sp>
          <p:nvSpPr>
            <p:cNvPr id="97" name="Line 406"/>
            <p:cNvSpPr/>
            <p:nvPr/>
          </p:nvSpPr>
          <p:spPr>
            <a:xfrm>
              <a:off x="5078160" y="6010200"/>
              <a:ext cx="219240" cy="220680"/>
            </a:xfrm>
            <a:prstGeom prst="line">
              <a:avLst/>
            </a:prstGeom>
            <a:ln w="25400">
              <a:solidFill>
                <a:srgbClr val="ec3323">
                  <a:lumMod val="60000"/>
                  <a:lumOff val="40000"/>
                </a:srgbClr>
              </a:solidFill>
              <a:round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Garamond"/>
              </a:endParaRPr>
            </a:p>
          </p:txBody>
        </p:sp>
        <p:sp>
          <p:nvSpPr>
            <p:cNvPr id="98" name="Line 411"/>
            <p:cNvSpPr/>
            <p:nvPr/>
          </p:nvSpPr>
          <p:spPr>
            <a:xfrm flipH="1">
              <a:off x="5459400" y="6010200"/>
              <a:ext cx="218880" cy="220680"/>
            </a:xfrm>
            <a:prstGeom prst="line">
              <a:avLst/>
            </a:prstGeom>
            <a:ln w="25400">
              <a:solidFill>
                <a:srgbClr val="ec3323">
                  <a:lumMod val="60000"/>
                  <a:lumOff val="40000"/>
                </a:srgbClr>
              </a:solidFill>
              <a:round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Garamond"/>
              </a:endParaRPr>
            </a:p>
          </p:txBody>
        </p:sp>
        <p:sp>
          <p:nvSpPr>
            <p:cNvPr id="99" name="Line 412"/>
            <p:cNvSpPr/>
            <p:nvPr/>
          </p:nvSpPr>
          <p:spPr>
            <a:xfrm flipH="1" flipV="1">
              <a:off x="6265800" y="4076640"/>
              <a:ext cx="228600" cy="1523880"/>
            </a:xfrm>
            <a:prstGeom prst="line">
              <a:avLst/>
            </a:prstGeom>
            <a:ln w="31750">
              <a:solidFill>
                <a:srgbClr val="00ff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Garamond"/>
              </a:endParaRPr>
            </a:p>
          </p:txBody>
        </p:sp>
        <p:sp>
          <p:nvSpPr>
            <p:cNvPr id="100" name="Line 413"/>
            <p:cNvSpPr/>
            <p:nvPr/>
          </p:nvSpPr>
          <p:spPr>
            <a:xfrm flipV="1">
              <a:off x="4741560" y="4076640"/>
              <a:ext cx="304920" cy="1523880"/>
            </a:xfrm>
            <a:prstGeom prst="line">
              <a:avLst/>
            </a:prstGeom>
            <a:ln w="28575">
              <a:solidFill>
                <a:srgbClr val="00ff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Garamond"/>
              </a:endParaRPr>
            </a:p>
          </p:txBody>
        </p:sp>
      </p:grpSp>
      <p:sp>
        <p:nvSpPr>
          <p:cNvPr id="101" name="Line 414"/>
          <p:cNvSpPr/>
          <p:nvPr/>
        </p:nvSpPr>
        <p:spPr>
          <a:xfrm flipV="1">
            <a:off x="2303280" y="2323800"/>
            <a:ext cx="1828800" cy="1295640"/>
          </a:xfrm>
          <a:prstGeom prst="line">
            <a:avLst/>
          </a:prstGeom>
          <a:ln w="31750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2" name="Text Box 415"/>
          <p:cNvSpPr/>
          <p:nvPr/>
        </p:nvSpPr>
        <p:spPr>
          <a:xfrm>
            <a:off x="2343240" y="5592600"/>
            <a:ext cx="30456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3" name="Group 416"/>
          <p:cNvGrpSpPr/>
          <p:nvPr/>
        </p:nvGrpSpPr>
        <p:grpSpPr>
          <a:xfrm>
            <a:off x="8077320" y="4868640"/>
            <a:ext cx="393480" cy="455400"/>
            <a:chOff x="8077320" y="4868640"/>
            <a:chExt cx="393480" cy="455400"/>
          </a:xfrm>
        </p:grpSpPr>
        <p:pic>
          <p:nvPicPr>
            <p:cNvPr id="104" name="Picture 417" descr="white"/>
            <p:cNvPicPr/>
            <p:nvPr/>
          </p:nvPicPr>
          <p:blipFill>
            <a:blip r:embed="rId2"/>
            <a:stretch/>
          </p:blipFill>
          <p:spPr>
            <a:xfrm>
              <a:off x="8077320" y="4906800"/>
              <a:ext cx="393480" cy="39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5" name="Text Box 418"/>
            <p:cNvSpPr/>
            <p:nvPr/>
          </p:nvSpPr>
          <p:spPr>
            <a:xfrm>
              <a:off x="8078760" y="4868640"/>
              <a:ext cx="380520" cy="4554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  <a:spcBef>
                  <a:spcPts val="1199"/>
                </a:spcBef>
              </a:pPr>
              <a:r>
                <a:rPr b="0" lang="en-US" sz="2400" spc="-1" strike="noStrike">
                  <a:solidFill>
                    <a:schemeClr val="dk1"/>
                  </a:solidFill>
                  <a:latin typeface="Garamond"/>
                </a:rPr>
                <a:t>C</a:t>
              </a:r>
              <a:endParaRPr b="0" lang="en-US" sz="2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6" name="Group 419"/>
          <p:cNvGrpSpPr/>
          <p:nvPr/>
        </p:nvGrpSpPr>
        <p:grpSpPr>
          <a:xfrm>
            <a:off x="9296280" y="5249880"/>
            <a:ext cx="395280" cy="455400"/>
            <a:chOff x="9296280" y="5249880"/>
            <a:chExt cx="395280" cy="455400"/>
          </a:xfrm>
        </p:grpSpPr>
        <p:pic>
          <p:nvPicPr>
            <p:cNvPr id="107" name="Picture 420" descr="black"/>
            <p:cNvPicPr/>
            <p:nvPr/>
          </p:nvPicPr>
          <p:blipFill>
            <a:blip r:embed="rId3"/>
            <a:stretch/>
          </p:blipFill>
          <p:spPr>
            <a:xfrm>
              <a:off x="9298080" y="5287680"/>
              <a:ext cx="393480" cy="39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8" name="Text Box 421"/>
            <p:cNvSpPr/>
            <p:nvPr/>
          </p:nvSpPr>
          <p:spPr>
            <a:xfrm>
              <a:off x="9296280" y="5249880"/>
              <a:ext cx="380520" cy="4554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  <a:spcBef>
                  <a:spcPts val="1199"/>
                </a:spcBef>
              </a:pPr>
              <a:r>
                <a:rPr b="0" lang="en-US" sz="2400" spc="-1" strike="noStrike">
                  <a:solidFill>
                    <a:schemeClr val="lt1"/>
                  </a:solidFill>
                  <a:latin typeface="Garamond"/>
                </a:rPr>
                <a:t>B</a:t>
              </a:r>
              <a:endParaRPr b="0" lang="en-US" sz="2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9" name="Group 422"/>
          <p:cNvGrpSpPr/>
          <p:nvPr/>
        </p:nvGrpSpPr>
        <p:grpSpPr>
          <a:xfrm>
            <a:off x="7696080" y="5249880"/>
            <a:ext cx="395280" cy="455400"/>
            <a:chOff x="7696080" y="5249880"/>
            <a:chExt cx="395280" cy="455400"/>
          </a:xfrm>
        </p:grpSpPr>
        <p:pic>
          <p:nvPicPr>
            <p:cNvPr id="110" name="Picture 423" descr="black"/>
            <p:cNvPicPr/>
            <p:nvPr/>
          </p:nvPicPr>
          <p:blipFill>
            <a:blip r:embed="rId4"/>
            <a:stretch/>
          </p:blipFill>
          <p:spPr>
            <a:xfrm>
              <a:off x="7697880" y="5287680"/>
              <a:ext cx="393480" cy="39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11" name="Text Box 424"/>
            <p:cNvSpPr/>
            <p:nvPr/>
          </p:nvSpPr>
          <p:spPr>
            <a:xfrm>
              <a:off x="7696080" y="5249880"/>
              <a:ext cx="380520" cy="4554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  <a:spcBef>
                  <a:spcPts val="1199"/>
                </a:spcBef>
              </a:pPr>
              <a:r>
                <a:rPr b="0" lang="en-US" sz="2400" spc="-1" strike="noStrike">
                  <a:solidFill>
                    <a:schemeClr val="lt1"/>
                  </a:solidFill>
                  <a:latin typeface="Garamond"/>
                </a:rPr>
                <a:t>A</a:t>
              </a:r>
              <a:endParaRPr b="0" lang="en-US" sz="2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2" name="Group 425"/>
          <p:cNvGrpSpPr/>
          <p:nvPr/>
        </p:nvGrpSpPr>
        <p:grpSpPr>
          <a:xfrm>
            <a:off x="8915400" y="4868640"/>
            <a:ext cx="393480" cy="455400"/>
            <a:chOff x="8915400" y="4868640"/>
            <a:chExt cx="393480" cy="455400"/>
          </a:xfrm>
        </p:grpSpPr>
        <p:pic>
          <p:nvPicPr>
            <p:cNvPr id="113" name="Picture 426" descr="white"/>
            <p:cNvPicPr/>
            <p:nvPr/>
          </p:nvPicPr>
          <p:blipFill>
            <a:blip r:embed="rId5"/>
            <a:stretch/>
          </p:blipFill>
          <p:spPr>
            <a:xfrm>
              <a:off x="8915400" y="4906800"/>
              <a:ext cx="393480" cy="39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14" name="Text Box 427"/>
            <p:cNvSpPr/>
            <p:nvPr/>
          </p:nvSpPr>
          <p:spPr>
            <a:xfrm>
              <a:off x="8916840" y="4868640"/>
              <a:ext cx="380520" cy="4554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  <a:spcBef>
                  <a:spcPts val="1199"/>
                </a:spcBef>
              </a:pPr>
              <a:r>
                <a:rPr b="0" lang="en-US" sz="2400" spc="-1" strike="noStrike">
                  <a:solidFill>
                    <a:schemeClr val="dk1"/>
                  </a:solidFill>
                  <a:latin typeface="Garamond"/>
                </a:rPr>
                <a:t>D</a:t>
              </a:r>
              <a:endParaRPr b="0" lang="en-US" sz="2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5" name="Text Box 428"/>
          <p:cNvSpPr/>
          <p:nvPr/>
        </p:nvSpPr>
        <p:spPr>
          <a:xfrm>
            <a:off x="2752560" y="5592600"/>
            <a:ext cx="30456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0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Box 429"/>
          <p:cNvSpPr/>
          <p:nvPr/>
        </p:nvSpPr>
        <p:spPr>
          <a:xfrm>
            <a:off x="3133800" y="5592600"/>
            <a:ext cx="30456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0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Box 430"/>
          <p:cNvSpPr/>
          <p:nvPr/>
        </p:nvSpPr>
        <p:spPr>
          <a:xfrm>
            <a:off x="3895560" y="5592600"/>
            <a:ext cx="30456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0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Box 431"/>
          <p:cNvSpPr/>
          <p:nvPr/>
        </p:nvSpPr>
        <p:spPr>
          <a:xfrm>
            <a:off x="3254400" y="3619440"/>
            <a:ext cx="47448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-1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Box 432"/>
          <p:cNvSpPr/>
          <p:nvPr/>
        </p:nvSpPr>
        <p:spPr>
          <a:xfrm>
            <a:off x="4114800" y="2095560"/>
            <a:ext cx="304560" cy="455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Garamond"/>
              </a:rPr>
              <a:t>0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Oval 2"/>
          <p:cNvSpPr/>
          <p:nvPr/>
        </p:nvSpPr>
        <p:spPr>
          <a:xfrm>
            <a:off x="1744920" y="3682800"/>
            <a:ext cx="365400" cy="365400"/>
          </a:xfrm>
          <a:prstGeom prst="ellipse">
            <a:avLst/>
          </a:prstGeom>
          <a:gradFill rotWithShape="0">
            <a:gsLst>
              <a:gs pos="0">
                <a:srgbClr val="000000"/>
              </a:gs>
              <a:gs pos="12000">
                <a:srgbClr val="000000"/>
              </a:gs>
              <a:gs pos="89000">
                <a:srgbClr val="595959"/>
              </a:gs>
              <a:gs pos="100000">
                <a:srgbClr val="fff2ff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Oval 135"/>
          <p:cNvSpPr/>
          <p:nvPr/>
        </p:nvSpPr>
        <p:spPr>
          <a:xfrm>
            <a:off x="2899800" y="3691080"/>
            <a:ext cx="365400" cy="365400"/>
          </a:xfrm>
          <a:prstGeom prst="ellipse">
            <a:avLst/>
          </a:prstGeom>
          <a:gradFill rotWithShape="0">
            <a:gsLst>
              <a:gs pos="0">
                <a:srgbClr val="000000"/>
              </a:gs>
              <a:gs pos="12000">
                <a:srgbClr val="000000"/>
              </a:gs>
              <a:gs pos="89000">
                <a:srgbClr val="595959"/>
              </a:gs>
              <a:gs pos="100000">
                <a:srgbClr val="fff2ff"/>
              </a:gs>
            </a:gsLst>
            <a:lin ang="2700000"/>
          </a:gradFill>
          <a:ln w="12700">
            <a:solidFill>
              <a:srgbClr val="ffffff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Line 396"/>
          <p:cNvSpPr/>
          <p:nvPr/>
        </p:nvSpPr>
        <p:spPr>
          <a:xfrm>
            <a:off x="2009880" y="6011280"/>
            <a:ext cx="21888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" name="Line 401"/>
          <p:cNvSpPr/>
          <p:nvPr/>
        </p:nvSpPr>
        <p:spPr>
          <a:xfrm flipH="1">
            <a:off x="2393280" y="6009840"/>
            <a:ext cx="21888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4" name="Line 396"/>
          <p:cNvSpPr/>
          <p:nvPr/>
        </p:nvSpPr>
        <p:spPr>
          <a:xfrm>
            <a:off x="2777400" y="5997600"/>
            <a:ext cx="21924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5" name="Line 401"/>
          <p:cNvSpPr/>
          <p:nvPr/>
        </p:nvSpPr>
        <p:spPr>
          <a:xfrm flipH="1">
            <a:off x="3243240" y="5995800"/>
            <a:ext cx="21888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6" name="Line 396"/>
          <p:cNvSpPr/>
          <p:nvPr/>
        </p:nvSpPr>
        <p:spPr>
          <a:xfrm>
            <a:off x="3539160" y="5996880"/>
            <a:ext cx="21924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7" name="Line 401"/>
          <p:cNvSpPr/>
          <p:nvPr/>
        </p:nvSpPr>
        <p:spPr>
          <a:xfrm flipH="1">
            <a:off x="4005000" y="5995080"/>
            <a:ext cx="21888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8" name="Line 401"/>
          <p:cNvSpPr/>
          <p:nvPr/>
        </p:nvSpPr>
        <p:spPr>
          <a:xfrm flipH="1" flipV="1">
            <a:off x="2662200" y="3771360"/>
            <a:ext cx="220680" cy="2188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9" name="Line 401"/>
          <p:cNvSpPr/>
          <p:nvPr/>
        </p:nvSpPr>
        <p:spPr>
          <a:xfrm flipV="1">
            <a:off x="1515240" y="3746880"/>
            <a:ext cx="21924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0" name="Line 401"/>
          <p:cNvSpPr/>
          <p:nvPr/>
        </p:nvSpPr>
        <p:spPr>
          <a:xfrm flipV="1">
            <a:off x="4258440" y="3777480"/>
            <a:ext cx="219240" cy="22068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1" name="Line 401"/>
          <p:cNvSpPr/>
          <p:nvPr/>
        </p:nvSpPr>
        <p:spPr>
          <a:xfrm flipH="1" flipV="1">
            <a:off x="5421240" y="3778200"/>
            <a:ext cx="220680" cy="219240"/>
          </a:xfrm>
          <a:prstGeom prst="line">
            <a:avLst/>
          </a:prstGeom>
          <a:ln w="25400">
            <a:solidFill>
              <a:srgbClr val="ec3323">
                <a:lumMod val="60000"/>
                <a:lumOff val="4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2" dur="indefinite" restart="never" nodeType="tmRoot">
          <p:childTnLst>
            <p:seq>
              <p:cTn id="123" dur="indefinite" nodeType="mainSeq">
                <p:childTnLst>
                  <p:par>
                    <p:cTn id="124" nodeType="clickEffect" fill="hold">
                      <p:stCondLst>
                        <p:cond delay="indefinite"/>
                      </p:stCondLst>
                      <p:childTnLst>
                        <p:par>
                          <p:cTn id="1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nodeType="clickEffect" fill="hold">
                      <p:stCondLst>
                        <p:cond delay="indefinite"/>
                      </p:stCondLst>
                      <p:childTnLst>
                        <p:par>
                          <p:cTn id="1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14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nodeType="withEffect" fill="hold" presetClass="path" presetID="56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006 -2.59259E-006 L 0.06692 -0.11828 E">
                                      <p:cBhvr>
                                        <p:cTn id="151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nodeType="clickEffect" fill="hold">
                      <p:stCondLst>
                        <p:cond delay="indefinite"/>
                      </p:stCondLst>
                      <p:childTnLst>
                        <p:par>
                          <p:cTn id="1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nodeType="clickEffect" fill="hold">
                      <p:stCondLst>
                        <p:cond delay="indefinite"/>
                      </p:stCondLst>
                      <p:childTnLst>
                        <p:par>
                          <p:cTn id="16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17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nodeType="withEffect" fill="hold" presetClass="path" presetID="49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006 2.96296E-006 L 0.06679 0.11551 E">
                                      <p:cBhvr>
                                        <p:cTn id="174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nodeType="clickEffect" fill="hold">
                      <p:stCondLst>
                        <p:cond delay="indefinite"/>
                      </p:stCondLst>
                      <p:childTnLst>
                        <p:par>
                          <p:cTn id="1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nodeType="clickEffect" fill="hold">
                      <p:stCondLst>
                        <p:cond delay="indefinite"/>
                      </p:stCondLst>
                      <p:childTnLst>
                        <p:par>
                          <p:cTn id="1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2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18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nodeType="afterEffect" fill="hold" presetClass="path" presetID="56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006 2.96296E-006 L -0.01094 0.0162 E">
                                      <p:cBhvr>
                                        <p:cTn id="18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8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nodeType="clickEffect" fill="hold">
                      <p:stCondLst>
                        <p:cond delay="indefinite"/>
                      </p:stCondLst>
                      <p:childTnLst>
                        <p:par>
                          <p:cTn id="1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nodeType="clickEffect" fill="hold">
                      <p:stCondLst>
                        <p:cond delay="indefinite"/>
                      </p:stCondLst>
                      <p:childTnLst>
                        <p:par>
                          <p:cTn id="2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path" presetID="56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006 2.96296E-006 L -0.0323 0.0574 E">
                                      <p:cBhvr>
                                        <p:cTn id="212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nodeType="clickEffect" fill="hold">
                      <p:stCondLst>
                        <p:cond delay="indefinite"/>
                      </p:stCondLst>
                      <p:childTnLst>
                        <p:par>
                          <p:cTn id="2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nodeType="clickEffect" fill="hold">
                      <p:stCondLst>
                        <p:cond delay="indefinite"/>
                      </p:stCondLst>
                      <p:childTnLst>
                        <p:par>
                          <p:cTn id="2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22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23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33" nodeType="afterEffect" fill="hold" presetClass="path" presetID="56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006 2.96296E-006 L -0.0056 0.02361 E">
                                      <p:cBhvr>
                                        <p:cTn id="23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5" nodeType="withEffect" fill="hold" presetClass="path" presetID="49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98 -0.01504 L 4.16667E-006 -2.59259E-006 E">
                                      <p:cBhvr>
                                        <p:cTn id="236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3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nodeType="clickEffect" fill="hold">
                      <p:stCondLst>
                        <p:cond delay="indefinite"/>
                      </p:stCondLst>
                      <p:childTnLst>
                        <p:par>
                          <p:cTn id="2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nodeType="clickEffect" fill="hold" presetClass="path" presetID="56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006 -2.59259E-006 L -0.0323 -0.0574 E">
                                      <p:cBhvr>
                                        <p:cTn id="26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nodeType="clickEffect" fill="hold">
                      <p:stCondLst>
                        <p:cond delay="indefinite"/>
                      </p:stCondLst>
                      <p:childTnLst>
                        <p:par>
                          <p:cTn id="2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nodeType="clickEffect" fill="hold" presetClass="path" presetID="49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006 2.96296E-006 L 0.03698 0.0574 E">
                                      <p:cBhvr>
                                        <p:cTn id="28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nodeType="clickEffect" fill="hold">
                      <p:stCondLst>
                        <p:cond delay="indefinite"/>
                      </p:stCondLst>
                      <p:childTnLst>
                        <p:par>
                          <p:cTn id="2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29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96" nodeType="afterEffect" fill="hold" presetClass="path" presetID="56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006 2.96296E-006 L 0.01367 -0.01713 E">
                                      <p:cBhvr>
                                        <p:cTn id="29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9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0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nodeType="clickEffect" fill="hold">
                      <p:stCondLst>
                        <p:cond delay="indefinite"/>
                      </p:stCondLst>
                      <p:childTnLst>
                        <p:par>
                          <p:cTn id="3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0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0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nodeType="clickEffect" fill="hold">
                      <p:stCondLst>
                        <p:cond delay="indefinite"/>
                      </p:stCondLst>
                      <p:childTnLst>
                        <p:par>
                          <p:cTn id="3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8" nodeType="clickEffect" fill="hold" presetClass="path" presetID="49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006 2.96296E-006 L -0.03125 0.05555 E">
                                      <p:cBhvr>
                                        <p:cTn id="319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nodeType="clickEffect" fill="hold">
                      <p:stCondLst>
                        <p:cond delay="indefinite"/>
                      </p:stCondLst>
                      <p:childTnLst>
                        <p:par>
                          <p:cTn id="3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nodeType="clickEffect" fill="hold">
                      <p:stCondLst>
                        <p:cond delay="indefinite"/>
                      </p:stCondLst>
                      <p:childTnLst>
                        <p:par>
                          <p:cTn id="3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7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32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31" nodeType="afterEffect" fill="hold" presetClass="path" presetID="56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006 2.96296E-006 L 0.00742 0.0037 E">
                                      <p:cBhvr>
                                        <p:cTn id="33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33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4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nodeType="clickEffect" fill="hold">
                      <p:stCondLst>
                        <p:cond delay="indefinite"/>
                      </p:stCondLst>
                      <p:childTnLst>
                        <p:par>
                          <p:cTn id="3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3" nodeType="clickEffect" fill="hold" presetClass="path" presetID="49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006 2.96296E-006 L 0.06679 0.11551 E">
                                      <p:cBhvr>
                                        <p:cTn id="354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5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35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nodeType="clickEffect" fill="hold">
                      <p:stCondLst>
                        <p:cond delay="indefinite"/>
                      </p:stCondLst>
                      <p:childTnLst>
                        <p:par>
                          <p:cTn id="3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6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nodeType="clickEffect" fill="hold">
                      <p:stCondLst>
                        <p:cond delay="indefinite"/>
                      </p:stCondLst>
                      <p:childTnLst>
                        <p:par>
                          <p:cTn id="3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5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36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69" nodeType="afterEffect" fill="hold" presetClass="path" presetID="49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00092 L 0.01953 -0.02917 E">
                                      <p:cBhvr>
                                        <p:cTn id="370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37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nodeType="clickEffect" fill="hold">
                      <p:stCondLst>
                        <p:cond delay="indefinite"/>
                      </p:stCondLst>
                      <p:childTnLst>
                        <p:par>
                          <p:cTn id="3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8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>
                      <p:stCondLst>
                        <p:cond delay="indefinite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nodeType="clickEffect" fill="hold" presetClass="path" presetID="56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006 2.96296E-006 L -0.0323 0.0574 E">
                                      <p:cBhvr>
                                        <p:cTn id="395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nodeType="clickEffect" fill="hold">
                      <p:stCondLst>
                        <p:cond delay="indefinite"/>
                      </p:stCondLst>
                      <p:childTnLst>
                        <p:par>
                          <p:cTn id="39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0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nodeType="clickEffect" fill="hold">
                      <p:stCondLst>
                        <p:cond delay="indefinite"/>
                      </p:stCondLst>
                      <p:childTnLst>
                        <p:par>
                          <p:cTn id="40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0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nodeType="clickEffect" fill="hold">
                      <p:stCondLst>
                        <p:cond delay="indefinite"/>
                      </p:stCondLst>
                      <p:childTnLst>
                        <p:par>
                          <p:cTn id="40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1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nodeType="clickEffect" fill="hold">
                      <p:stCondLst>
                        <p:cond delay="indefinite"/>
                      </p:stCondLst>
                      <p:childTnLst>
                        <p:par>
                          <p:cTn id="4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3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41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41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420" nodeType="afterEffect" fill="hold" presetClass="path" presetID="56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006 2.96296E-006 L -0.01211 0.0162 E">
                                      <p:cBhvr>
                                        <p:cTn id="42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2" nodeType="withEffect" fill="hold" presetClass="path" presetID="49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006 -2.59259E-006 L 0.01471 0.01736 E">
                                      <p:cBhvr>
                                        <p:cTn id="42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425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2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3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nodeType="clickEffect" fill="hold">
                      <p:stCondLst>
                        <p:cond delay="indefinite"/>
                      </p:stCondLst>
                      <p:childTnLst>
                        <p:par>
                          <p:cTn id="4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3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6" fill="hold">
                      <p:stCondLst>
                        <p:cond delay="indefinite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nodeType="clickEffect" fill="hold">
                      <p:stCondLst>
                        <p:cond delay="indefinite"/>
                      </p:stCondLst>
                      <p:childTnLst>
                        <p:par>
                          <p:cTn id="4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981080" y="0"/>
            <a:ext cx="8229240" cy="126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Game-Playing</a:t>
            </a:r>
            <a:br>
              <a:rPr sz="4800"/>
            </a:br>
            <a:r>
              <a:rPr b="0" lang="en-US" sz="3200" spc="97" strike="noStrike">
                <a:solidFill>
                  <a:schemeClr val="lt1"/>
                </a:solidFill>
                <a:latin typeface="Garamond"/>
              </a:rPr>
              <a:t>The Minimax Algorithm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1425960" y="1275480"/>
            <a:ext cx="9317520" cy="5208480"/>
          </a:xfrm>
          <a:prstGeom prst="rect">
            <a:avLst/>
          </a:prstGeom>
          <a:solidFill>
            <a:srgbClr val="002060"/>
          </a:solidFill>
          <a:ln w="0">
            <a:solidFill>
              <a:schemeClr val="lt1"/>
            </a:solidFill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def get_move_minimax(player, game_state):</a:t>
            </a:r>
            <a:endParaRPr b="0" lang="en-US" sz="16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best_move = None</a:t>
            </a:r>
            <a:endParaRPr b="0" lang="en-US" sz="16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new_state = GameState()</a:t>
            </a:r>
            <a:endParaRPr b="0" lang="en-US" sz="16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move_list = generate_moves(player, game_state)</a:t>
            </a:r>
            <a:endParaRPr b="0" lang="en-US" sz="16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for move in move_list:</a:t>
            </a:r>
            <a:endParaRPr b="0" lang="en-US" sz="16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new_state.copy(game_state)</a:t>
            </a:r>
            <a:endParaRPr b="0" lang="en-US" sz="16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new_state.apply(move)</a:t>
            </a:r>
            <a:endParaRPr b="0" lang="en-US" sz="16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</a:rPr>
              <a:t>       </a:t>
            </a:r>
            <a:r>
              <a:rPr b="1" lang="en-US" sz="1600" spc="-1" strike="noStrike">
                <a:solidFill>
                  <a:srgbClr val="00ff00"/>
                </a:solidFill>
                <a:latin typeface="Consolas"/>
              </a:rPr>
              <a:t> </a:t>
            </a:r>
            <a:r>
              <a:rPr b="1" lang="en-US" sz="1600" spc="-1" strike="noStrike">
                <a:solidFill>
                  <a:srgbClr val="00ff00"/>
                </a:solidFill>
                <a:latin typeface="Consolas"/>
              </a:rPr>
              <a:t>if new_state.is_terminal():</a:t>
            </a:r>
            <a:endParaRPr b="0" lang="en-US" sz="16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            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move.rank = evaluate(new_state)</a:t>
            </a:r>
            <a:endParaRPr b="0" lang="en-US" sz="16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</a:rPr>
              <a:t>        </a:t>
            </a:r>
            <a:r>
              <a:rPr b="1" lang="en-US" sz="1600" spc="-1" strike="noStrike">
                <a:solidFill>
                  <a:srgbClr val="00ff00"/>
                </a:solidFill>
                <a:latin typeface="Consolas"/>
              </a:rPr>
              <a:t>else:</a:t>
            </a:r>
            <a:endParaRPr b="0" lang="en-US" sz="16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ff00"/>
                </a:solidFill>
                <a:latin typeface="Consolas"/>
              </a:rPr>
              <a:t>            </a:t>
            </a:r>
            <a:r>
              <a:rPr b="1" lang="en-US" sz="1600" spc="-1" strike="noStrike">
                <a:solidFill>
                  <a:srgbClr val="00ff00"/>
                </a:solidFill>
                <a:latin typeface="Consolas"/>
              </a:rPr>
              <a:t>move.rank = get_move_minimax(get_next_player(), new_state).rank</a:t>
            </a:r>
            <a:endParaRPr b="0" lang="en-US" sz="16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if not best_move or move.rank IsBetterThan best_move.rank:</a:t>
            </a:r>
            <a:endParaRPr b="0" lang="en-US" sz="16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	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	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best_move = move;</a:t>
            </a:r>
            <a:endParaRPr b="0" lang="en-US" sz="16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</a:rPr>
              <a:t>return best_move;</a:t>
            </a:r>
            <a:endParaRPr b="0" lang="en-US" sz="1600" spc="-1" strike="noStrike">
              <a:solidFill>
                <a:srgbClr val="ffffff"/>
              </a:solidFill>
              <a:latin typeface="Arial Regular"/>
            </a:endParaRPr>
          </a:p>
        </p:txBody>
      </p:sp>
      <p:pic>
        <p:nvPicPr>
          <p:cNvPr id="134" name="Picture 9" descr="MCj03983190000[1]"/>
          <p:cNvPicPr/>
          <p:nvPr/>
        </p:nvPicPr>
        <p:blipFill>
          <a:blip r:embed="rId1"/>
          <a:stretch/>
        </p:blipFill>
        <p:spPr>
          <a:xfrm>
            <a:off x="7216920" y="1182600"/>
            <a:ext cx="1827000" cy="1547280"/>
          </a:xfrm>
          <a:prstGeom prst="rect">
            <a:avLst/>
          </a:prstGeom>
          <a:ln w="0">
            <a:noFill/>
          </a:ln>
        </p:spPr>
      </p:pic>
      <p:pic>
        <p:nvPicPr>
          <p:cNvPr id="135" name="Picture 12" descr="MCj04043030000[1]"/>
          <p:cNvPicPr/>
          <p:nvPr/>
        </p:nvPicPr>
        <p:blipFill>
          <a:blip r:embed="rId2"/>
          <a:stretch/>
        </p:blipFill>
        <p:spPr>
          <a:xfrm>
            <a:off x="8574120" y="2995920"/>
            <a:ext cx="1841040" cy="156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6" dur="indefinite" restart="never" nodeType="tmRoot">
          <p:childTnLst>
            <p:seq>
              <p:cTn id="477" dur="indefinite" nodeType="mainSeq">
                <p:childTnLst>
                  <p:par>
                    <p:cTn id="478" nodeType="clickEffect" fill="hold">
                      <p:stCondLst>
                        <p:cond delay="indefinite"/>
                      </p:stCondLst>
                      <p:childTnLst>
                        <p:par>
                          <p:cTn id="4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2" dur="500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5" dur="500"/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8" dur="500"/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1" dur="500"/>
                                        <p:tgtEl>
                                          <p:spTgt spid="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4" dur="500"/>
                                        <p:tgtEl>
                                          <p:spTgt spid="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7" dur="500"/>
                                        <p:tgtEl>
                                          <p:spTgt spid="1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0" dur="500"/>
                                        <p:tgtEl>
                                          <p:spTgt spid="1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3" dur="500"/>
                                        <p:tgtEl>
                                          <p:spTgt spid="1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6" dur="500"/>
                                        <p:tgtEl>
                                          <p:spTgt spid="13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9" dur="500"/>
                                        <p:tgtEl>
                                          <p:spTgt spid="13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2" dur="500"/>
                                        <p:tgtEl>
                                          <p:spTgt spid="13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7" dur="500"/>
                                        <p:tgtEl>
                                          <p:spTgt spid="1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0" dur="500"/>
                                        <p:tgtEl>
                                          <p:spTgt spid="1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3" dur="500"/>
                                        <p:tgtEl>
                                          <p:spTgt spid="1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981080" y="0"/>
            <a:ext cx="8229240" cy="126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Game-Playing</a:t>
            </a:r>
            <a:br>
              <a:rPr sz="4800"/>
            </a:br>
            <a:r>
              <a:rPr b="0" lang="en-US" sz="3200" spc="97" strike="noStrike">
                <a:solidFill>
                  <a:schemeClr val="lt1"/>
                </a:solidFill>
                <a:latin typeface="Garamond"/>
              </a:rPr>
              <a:t>Minimax: The Good and the Bad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2073600" y="1523880"/>
            <a:ext cx="5790960" cy="49748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3195" lnSpcReduction="10000"/>
          </a:bodyPr>
          <a:p>
            <a:pPr marL="91440" indent="-9144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rgbClr val="ffffff"/>
                </a:solidFill>
                <a:uFillTx/>
                <a:latin typeface="Arial Regular"/>
              </a:rPr>
              <a:t>Concerns with Minimax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10000"/>
              </a:lnSpc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Requires Player Order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10000"/>
              </a:lnSpc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Recursion to End-Game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10000"/>
              </a:lnSpc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Unnecessary Branching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10000"/>
              </a:lnSpc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No random capacity – dice, cards, etc.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rgbClr val="ffffff"/>
                </a:solidFill>
                <a:uFillTx/>
                <a:latin typeface="Arial Regular"/>
              </a:rPr>
              <a:t>Mitigation Techniques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10000"/>
              </a:lnSpc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Player Order Logic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10000"/>
              </a:lnSpc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Depth Limit Check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10000"/>
              </a:lnSpc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Alpha-Beta Pruning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10000"/>
              </a:lnSpc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Chance Nodes (Expectiminimax)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</p:txBody>
      </p:sp>
      <p:pic>
        <p:nvPicPr>
          <p:cNvPr id="138" name="Picture 7" descr="MCj04326350000[1]"/>
          <p:cNvPicPr/>
          <p:nvPr/>
        </p:nvPicPr>
        <p:blipFill>
          <a:blip r:embed="rId1"/>
          <a:stretch/>
        </p:blipFill>
        <p:spPr>
          <a:xfrm>
            <a:off x="8169840" y="1523880"/>
            <a:ext cx="1714320" cy="1714320"/>
          </a:xfrm>
          <a:prstGeom prst="rect">
            <a:avLst/>
          </a:prstGeom>
          <a:ln w="0">
            <a:noFill/>
          </a:ln>
        </p:spPr>
      </p:pic>
      <p:pic>
        <p:nvPicPr>
          <p:cNvPr id="139" name="Picture 19" descr="MCBD05304_0000[1]"/>
          <p:cNvPicPr/>
          <p:nvPr/>
        </p:nvPicPr>
        <p:blipFill>
          <a:blip r:embed="rId2"/>
          <a:stretch/>
        </p:blipFill>
        <p:spPr>
          <a:xfrm>
            <a:off x="7423920" y="3673800"/>
            <a:ext cx="2547720" cy="266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24" dur="indefinite" restart="never" nodeType="tmRoot">
          <p:childTnLst>
            <p:seq>
              <p:cTn id="525" dur="indefinite" nodeType="mainSeq">
                <p:childTnLst>
                  <p:par>
                    <p:cTn id="526" nodeType="clickEffect" fill="hold">
                      <p:stCondLst>
                        <p:cond delay="indefinite"/>
                      </p:stCondLst>
                      <p:childTnLst>
                        <p:par>
                          <p:cTn id="5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30" dur="500"/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nodeType="clickEffect" fill="hold">
                      <p:stCondLst>
                        <p:cond delay="indefinite"/>
                      </p:stCondLst>
                      <p:childTnLst>
                        <p:par>
                          <p:cTn id="5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3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35" dur="500"/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6" nodeType="clickEffect" fill="hold">
                      <p:stCondLst>
                        <p:cond delay="indefinite"/>
                      </p:stCondLst>
                      <p:childTnLst>
                        <p:par>
                          <p:cTn id="53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3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40" dur="500"/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1" nodeType="clickEffect" fill="hold">
                      <p:stCondLst>
                        <p:cond delay="indefinite"/>
                      </p:stCondLst>
                      <p:childTnLst>
                        <p:par>
                          <p:cTn id="5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45" dur="500"/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6" nodeType="clickEffect" fill="hold">
                      <p:stCondLst>
                        <p:cond delay="indefinite"/>
                      </p:stCondLst>
                      <p:childTnLst>
                        <p:par>
                          <p:cTn id="5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50" dur="500"/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nodeType="clickEffect" fill="hold">
                      <p:stCondLst>
                        <p:cond delay="indefinite"/>
                      </p:stCondLst>
                      <p:childTnLst>
                        <p:par>
                          <p:cTn id="5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55" dur="500"/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6" nodeType="clickEffect" fill="hold">
                      <p:stCondLst>
                        <p:cond delay="indefinite"/>
                      </p:stCondLst>
                      <p:childTnLst>
                        <p:par>
                          <p:cTn id="5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60" dur="500"/>
                                        <p:tgtEl>
                                          <p:spTgt spid="1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1" nodeType="clickEffect" fill="hold">
                      <p:stCondLst>
                        <p:cond delay="indefinite"/>
                      </p:stCondLst>
                      <p:childTnLst>
                        <p:par>
                          <p:cTn id="56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6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65" dur="500"/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6" nodeType="clickEffect" fill="hold">
                      <p:stCondLst>
                        <p:cond delay="indefinite"/>
                      </p:stCondLst>
                      <p:childTnLst>
                        <p:par>
                          <p:cTn id="56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6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70" dur="500"/>
                                        <p:tgtEl>
                                          <p:spTgt spid="1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1" nodeType="clickEffect" fill="hold">
                      <p:stCondLst>
                        <p:cond delay="indefinite"/>
                      </p:stCondLst>
                      <p:childTnLst>
                        <p:par>
                          <p:cTn id="5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75" dur="500"/>
                                        <p:tgtEl>
                                          <p:spTgt spid="1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981080" y="0"/>
            <a:ext cx="8229240" cy="126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Game-Playing</a:t>
            </a:r>
            <a:br>
              <a:rPr sz="4800"/>
            </a:br>
            <a:r>
              <a:rPr b="0" lang="en-US" sz="3200" spc="97" strike="noStrike">
                <a:solidFill>
                  <a:schemeClr val="lt1"/>
                </a:solidFill>
                <a:latin typeface="Garamond"/>
              </a:rPr>
              <a:t>Minimax Issue Mitigation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1983960" y="1320840"/>
            <a:ext cx="4320720" cy="6271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6830"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 u="sng">
                <a:solidFill>
                  <a:srgbClr val="ffffff"/>
                </a:solidFill>
                <a:uFillTx/>
                <a:latin typeface="Arial Regular"/>
                <a:ea typeface="ＭＳ Ｐゴシック"/>
              </a:rPr>
              <a:t>Player Order Logic (Forfeit Example)</a:t>
            </a:r>
            <a:endParaRPr b="0" lang="en-US" sz="16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We can incorporate the loss of a move by a player:</a:t>
            </a:r>
            <a:endParaRPr b="0" lang="en-US" sz="1600" spc="-1" strike="noStrike">
              <a:solidFill>
                <a:srgbClr val="ffffff"/>
              </a:solidFill>
              <a:latin typeface="Arial Regular"/>
            </a:endParaRPr>
          </a:p>
        </p:txBody>
      </p:sp>
      <p:pic>
        <p:nvPicPr>
          <p:cNvPr id="142" name="Picture 9" descr="MCj03192580000[1]"/>
          <p:cNvPicPr/>
          <p:nvPr/>
        </p:nvPicPr>
        <p:blipFill>
          <a:blip r:embed="rId1"/>
          <a:stretch/>
        </p:blipFill>
        <p:spPr>
          <a:xfrm>
            <a:off x="8323560" y="4422960"/>
            <a:ext cx="1850760" cy="1809360"/>
          </a:xfrm>
          <a:prstGeom prst="rect">
            <a:avLst/>
          </a:prstGeom>
          <a:ln w="0">
            <a:noFill/>
          </a:ln>
        </p:spPr>
      </p:pic>
      <p:pic>
        <p:nvPicPr>
          <p:cNvPr id="143" name="Picture 12" descr="MCDD00929_0000[1]"/>
          <p:cNvPicPr/>
          <p:nvPr/>
        </p:nvPicPr>
        <p:blipFill>
          <a:blip r:embed="rId2"/>
          <a:stretch/>
        </p:blipFill>
        <p:spPr>
          <a:xfrm>
            <a:off x="7499880" y="1270080"/>
            <a:ext cx="2674440" cy="2935080"/>
          </a:xfrm>
          <a:prstGeom prst="rect">
            <a:avLst/>
          </a:prstGeom>
          <a:ln w="0">
            <a:noFill/>
          </a:ln>
        </p:spPr>
      </p:pic>
      <p:sp>
        <p:nvSpPr>
          <p:cNvPr id="144" name="Rectangle 3"/>
          <p:cNvSpPr/>
          <p:nvPr/>
        </p:nvSpPr>
        <p:spPr>
          <a:xfrm>
            <a:off x="2400480" y="2040480"/>
            <a:ext cx="4631040" cy="1132200"/>
          </a:xfrm>
          <a:prstGeom prst="rect">
            <a:avLst/>
          </a:prstGeom>
          <a:solidFill>
            <a:srgbClr val="00206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rmAutofit fontScale="87500"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  <a:ea typeface="ＭＳ Ｐゴシック"/>
              </a:rPr>
              <a:t>def get_next_player(player, game_state):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  <a:ea typeface="ＭＳ Ｐゴシック"/>
              </a:rPr>
              <a:t>  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  <a:ea typeface="ＭＳ Ｐゴシック"/>
              </a:rPr>
              <a:t>if (game_state.has_valid_move(-player)):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  <a:ea typeface="ＭＳ Ｐゴシック"/>
              </a:rPr>
              <a:t>      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  <a:ea typeface="ＭＳ Ｐゴシック"/>
              </a:rPr>
              <a:t>return -player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  <a:ea typeface="ＭＳ Ｐゴシック"/>
              </a:rPr>
              <a:t>  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  <a:ea typeface="ＭＳ Ｐゴシック"/>
              </a:rPr>
              <a:t>else: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  <a:ea typeface="ＭＳ Ｐゴシック"/>
              </a:rPr>
              <a:t>      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  <a:ea typeface="ＭＳ Ｐゴシック"/>
              </a:rPr>
              <a:t>return player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Rectangle 3"/>
          <p:cNvSpPr/>
          <p:nvPr/>
        </p:nvSpPr>
        <p:spPr>
          <a:xfrm>
            <a:off x="1983960" y="3260520"/>
            <a:ext cx="4799160" cy="62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rmAutofit fontScale="81111"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This allows Minimax to correctly consider forfeited moves.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(Note that this assumes </a:t>
            </a:r>
            <a:r>
              <a:rPr b="0" lang="en-US" sz="16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“player” is a number.)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Rectangle 3"/>
          <p:cNvSpPr/>
          <p:nvPr/>
        </p:nvSpPr>
        <p:spPr>
          <a:xfrm>
            <a:off x="1983960" y="5987160"/>
            <a:ext cx="5943600" cy="4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rmAutofit fontScale="87500"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This limits time but requires guesswork using a heuristic evaluation.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Rectangle 3"/>
          <p:cNvSpPr/>
          <p:nvPr/>
        </p:nvSpPr>
        <p:spPr>
          <a:xfrm>
            <a:off x="2012400" y="4077360"/>
            <a:ext cx="636228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rmAutofit fontScale="81111"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 u="sng">
                <a:solidFill>
                  <a:schemeClr val="lt1"/>
                </a:solidFill>
                <a:uFillTx/>
                <a:latin typeface="Garamond"/>
                <a:ea typeface="ＭＳ Ｐゴシック"/>
              </a:rPr>
              <a:t>Depth Limit Check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We can prevent Minimax from running forever by providing a cutoff depth: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Rectangle 3"/>
          <p:cNvSpPr/>
          <p:nvPr/>
        </p:nvSpPr>
        <p:spPr>
          <a:xfrm>
            <a:off x="2400480" y="4803840"/>
            <a:ext cx="4743360" cy="1130760"/>
          </a:xfrm>
          <a:prstGeom prst="rect">
            <a:avLst/>
          </a:prstGeom>
          <a:solidFill>
            <a:srgbClr val="00206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91440" anchor="t">
            <a:norm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  <a:ea typeface="ＭＳ Ｐゴシック"/>
              </a:rPr>
              <a:t>if newState.is_terminal()</a:t>
            </a:r>
            <a:r>
              <a:rPr b="1" lang="en-US" sz="1200" spc="-1" strike="noStrike">
                <a:solidFill>
                  <a:srgbClr val="00ff00"/>
                </a:solidFill>
                <a:latin typeface="Consolas"/>
                <a:ea typeface="ＭＳ Ｐゴシック"/>
              </a:rPr>
              <a:t> || depth == depth_limit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  <a:ea typeface="ＭＳ Ｐゴシック"/>
              </a:rPr>
              <a:t>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  <a:ea typeface="ＭＳ Ｐゴシック"/>
              </a:rPr>
              <a:t>  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  <a:ea typeface="ＭＳ Ｐゴシック"/>
              </a:rPr>
              <a:t>move.rank = evaluate(new_state)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76" dur="indefinite" restart="never" nodeType="tmRoot">
          <p:childTnLst>
            <p:seq>
              <p:cTn id="577" dur="indefinite" nodeType="mainSeq">
                <p:childTnLst>
                  <p:par>
                    <p:cTn id="578" nodeType="clickEffect" fill="hold">
                      <p:stCondLst>
                        <p:cond delay="indefinite"/>
                      </p:stCondLst>
                      <p:childTnLst>
                        <p:par>
                          <p:cTn id="5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82" dur="5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3" nodeType="clickEffect" fill="hold">
                      <p:stCondLst>
                        <p:cond delay="indefinite"/>
                      </p:stCondLst>
                      <p:childTnLst>
                        <p:par>
                          <p:cTn id="5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87" dur="500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8" fill="hold">
                      <p:stCondLst>
                        <p:cond delay="indefinite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9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3" fill="hold">
                      <p:stCondLst>
                        <p:cond delay="indefinite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id="59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97" dur="500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8" fill="hold">
                      <p:stCondLst>
                        <p:cond delay="indefinite"/>
                      </p:stCondLst>
                      <p:childTnLst>
                        <p:par>
                          <p:cTn id="599" fill="hold">
                            <p:stCondLst>
                              <p:cond delay="0"/>
                            </p:stCondLst>
                            <p:childTnLst>
                              <p:par>
                                <p:cTn id="60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02" dur="500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" fill="hold">
                      <p:stCondLst>
                        <p:cond delay="indefinite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07" dur="500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8" fill="hold">
                      <p:stCondLst>
                        <p:cond delay="indefinite"/>
                      </p:stCondLst>
                      <p:childTnLst>
                        <p:par>
                          <p:cTn id="609" fill="hold">
                            <p:stCondLst>
                              <p:cond delay="0"/>
                            </p:stCondLst>
                            <p:childTnLst>
                              <p:par>
                                <p:cTn id="61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12" dur="500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3" fill="hold">
                      <p:stCondLst>
                        <p:cond delay="indefinite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17" dur="500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8" fill="hold">
                      <p:stCondLst>
                        <p:cond delay="indefinite"/>
                      </p:stCondLst>
                      <p:childTnLst>
                        <p:par>
                          <p:cTn id="619" fill="hold">
                            <p:stCondLst>
                              <p:cond delay="0"/>
                            </p:stCondLst>
                            <p:childTnLst>
                              <p:par>
                                <p:cTn id="62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22" dur="5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3" fill="hold">
                      <p:stCondLst>
                        <p:cond delay="indefinite"/>
                      </p:stCondLst>
                      <p:childTnLst>
                        <p:par>
                          <p:cTn id="624" fill="hold">
                            <p:stCondLst>
                              <p:cond delay="0"/>
                            </p:stCondLst>
                            <p:childTnLst>
                              <p:par>
                                <p:cTn id="62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27" dur="500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8" fill="hold">
                      <p:stCondLst>
                        <p:cond delay="indefinite"/>
                      </p:stCondLst>
                      <p:childTnLst>
                        <p:par>
                          <p:cTn id="629" fill="hold">
                            <p:stCondLst>
                              <p:cond delay="0"/>
                            </p:stCondLst>
                            <p:childTnLst>
                              <p:par>
                                <p:cTn id="63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32" dur="500"/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3" fill="hold">
                      <p:stCondLst>
                        <p:cond delay="indefinite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37" dur="5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8" fill="hold">
                      <p:stCondLst>
                        <p:cond delay="indefinite"/>
                      </p:stCondLst>
                      <p:childTnLst>
                        <p:par>
                          <p:cTn id="639" fill="hold">
                            <p:stCondLst>
                              <p:cond delay="0"/>
                            </p:stCondLst>
                            <p:childTnLst>
                              <p:par>
                                <p:cTn id="64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42" dur="500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3" fill="hold">
                      <p:stCondLst>
                        <p:cond delay="indefinite"/>
                      </p:stCondLst>
                      <p:childTnLst>
                        <p:par>
                          <p:cTn id="644" fill="hold">
                            <p:stCondLst>
                              <p:cond delay="0"/>
                            </p:stCondLst>
                            <p:childTnLst>
                              <p:par>
                                <p:cTn id="64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4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8" fill="hold">
                      <p:stCondLst>
                        <p:cond delay="indefinite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id="65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52" dur="500"/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3" fill="hold">
                      <p:stCondLst>
                        <p:cond delay="indefinite"/>
                      </p:stCondLst>
                      <p:childTnLst>
                        <p:par>
                          <p:cTn id="654" fill="hold">
                            <p:stCondLst>
                              <p:cond delay="0"/>
                            </p:stCondLst>
                            <p:childTnLst>
                              <p:par>
                                <p:cTn id="65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57" dur="500"/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8" fill="hold">
                      <p:stCondLst>
                        <p:cond delay="indefinite"/>
                      </p:stCondLst>
                      <p:childTnLst>
                        <p:par>
                          <p:cTn id="659" fill="hold">
                            <p:stCondLst>
                              <p:cond delay="0"/>
                            </p:stCondLst>
                            <p:childTnLst>
                              <p:par>
                                <p:cTn id="66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62" dur="500"/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3" fill="hold">
                      <p:stCondLst>
                        <p:cond delay="indefinite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67" dur="500"/>
                                        <p:tgtEl>
                                          <p:spTgt spid="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28160" y="2943000"/>
            <a:ext cx="11935440" cy="80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000" spc="199" strike="noStrike">
                <a:solidFill>
                  <a:schemeClr val="lt1"/>
                </a:solidFill>
                <a:latin typeface="Arial"/>
              </a:rPr>
              <a:t>Fin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cap4053_ppt_template</Template>
  <TotalTime>688</TotalTime>
  <Application>LibreOffice/24.2.7.2$Linux_X86_64 LibreOffice_project/420$Build-2</Application>
  <AppVersion>15.0000</AppVersion>
  <Words>886</Words>
  <Paragraphs>157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2018-09-23T01:33:33Z</dcterms:created>
  <dc:creator>Jeremiah Blanchard</dc:creator>
  <dc:description/>
  <dc:language>ja-JP</dc:language>
  <cp:lastModifiedBy>Jeremiah Blanchard</cp:lastModifiedBy>
  <dcterms:modified xsi:type="dcterms:W3CDTF">2025-10-28T08:29:08Z</dcterms:modified>
  <cp:revision>121</cp:revision>
  <dc:subject/>
  <dc:title>Fundamentals of 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8A5176DE-1C3A-4C5F-BD19-F0ED2390E70E</vt:lpwstr>
  </property>
  <property fmtid="{D5CDD505-2E9C-101B-9397-08002B2CF9AE}" pid="3" name="ArticulatePath">
    <vt:lpwstr>Presentation2</vt:lpwstr>
  </property>
  <property fmtid="{D5CDD505-2E9C-101B-9397-08002B2CF9AE}" pid="4" name="ArticulateProjectFull">
    <vt:lpwstr>H:\PowerPoint training for IDs\COIP-PPT-example-template.ppta</vt:lpwstr>
  </property>
  <property fmtid="{D5CDD505-2E9C-101B-9397-08002B2CF9AE}" pid="5" name="ArticulateProjectVersion">
    <vt:lpwstr>8</vt:lpwstr>
  </property>
  <property fmtid="{D5CDD505-2E9C-101B-9397-08002B2CF9AE}" pid="6" name="ArticulateUseProject">
    <vt:lpwstr>1</vt:lpwstr>
  </property>
  <property fmtid="{D5CDD505-2E9C-101B-9397-08002B2CF9AE}" pid="7" name="Notes">
    <vt:i4>9</vt:i4>
  </property>
  <property fmtid="{D5CDD505-2E9C-101B-9397-08002B2CF9AE}" pid="8" name="PresentationFormat">
    <vt:lpwstr>Widescreen</vt:lpwstr>
  </property>
  <property fmtid="{D5CDD505-2E9C-101B-9397-08002B2CF9AE}" pid="9" name="Slides">
    <vt:i4>11</vt:i4>
  </property>
</Properties>
</file>