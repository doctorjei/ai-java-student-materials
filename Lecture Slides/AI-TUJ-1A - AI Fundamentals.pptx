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2.svg" ContentType="image/svg"/>
  <Override PartName="/ppt/media/image8.svg" ContentType="image/svg"/>
  <Override PartName="/ppt/media/image13.png" ContentType="image/png"/>
  <Override PartName="/ppt/media/image24.svg" ContentType="image/svg"/>
  <Override PartName="/ppt/media/image10.svg" ContentType="image/svg"/>
  <Override PartName="/ppt/media/image9.png" ContentType="image/png"/>
  <Override PartName="/ppt/media/image6.svg" ContentType="image/svg"/>
  <Override PartName="/ppt/media/image5.png" ContentType="image/png"/>
  <Override PartName="/ppt/media/image11.png" ContentType="image/png"/>
  <Override PartName="/ppt/media/image2.png" ContentType="image/png"/>
  <Override PartName="/ppt/media/image22.svg" ContentType="image/svg"/>
  <Override PartName="/ppt/media/image23.png" ContentType="image/png"/>
  <Override PartName="/ppt/media/image4.svg" ContentType="image/svg"/>
  <Override PartName="/ppt/media/image7.png" ContentType="image/png"/>
  <Override PartName="/ppt/media/image21.png" ContentType="image/png"/>
  <Override PartName="/ppt/media/image19.png" ContentType="image/png"/>
  <Override PartName="/ppt/media/image16.svg" ContentType="image/svg"/>
  <Override PartName="/ppt/media/image20.svg" ContentType="image/svg"/>
  <Override PartName="/ppt/media/image18.svg" ContentType="image/svg"/>
  <Override PartName="/ppt/media/image17.png" ContentType="image/png"/>
  <Override PartName="/ppt/media/image14.svg" ContentType="image/svg"/>
  <Override PartName="/ppt/media/image15.png" ContentType="image/png"/>
  <Override PartName="/ppt/media/image1.png" ContentType="image/png"/>
  <Override PartName="/ppt/media/image3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C4A8010-9AD8-4999-B381-FA8DA9F0D94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C4FF12-F411-4D5B-B527-8379093E116E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95E63D-0302-4994-B042-28C801EE8A81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63265D-FD39-454A-8B2E-A6D0163FB920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Relationship Id="rId9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svg"/><Relationship Id="rId3" Type="http://schemas.openxmlformats.org/officeDocument/2006/relationships/image" Target="../media/image19.png"/><Relationship Id="rId4" Type="http://schemas.openxmlformats.org/officeDocument/2006/relationships/image" Target="../media/image20.svg"/><Relationship Id="rId5" Type="http://schemas.openxmlformats.org/officeDocument/2006/relationships/image" Target="../media/image21.png"/><Relationship Id="rId6" Type="http://schemas.openxmlformats.org/officeDocument/2006/relationships/image" Target="../media/image22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878760" y="4926960"/>
            <a:ext cx="10429920" cy="71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Intelligence and Computers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35840" y="1418760"/>
            <a:ext cx="10715760" cy="79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92" strike="noStrike">
                <a:solidFill>
                  <a:schemeClr val="lt1"/>
                </a:solidFill>
                <a:latin typeface="Garamond"/>
              </a:rPr>
              <a:t>Fundamentals of AI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" name="Graphic 1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589640" y="2185920"/>
            <a:ext cx="3008160" cy="2703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1870920" y="1986120"/>
            <a:ext cx="4174560" cy="3804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75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Logical Deduction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Solving Problems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Making Decisions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Learning &amp; Adapting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468360" y="555480"/>
            <a:ext cx="1125072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rm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What is Intelligence?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Graphic 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132240" y="1986120"/>
            <a:ext cx="4084200" cy="408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/>
          </p:nvPr>
        </p:nvSpPr>
        <p:spPr>
          <a:xfrm>
            <a:off x="742680" y="2036160"/>
            <a:ext cx="8626680" cy="43066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3600" spc="-1" strike="noStrike" u="sng">
                <a:solidFill>
                  <a:schemeClr val="lt1"/>
                </a:solidFill>
                <a:uFillTx/>
                <a:latin typeface="Garamond"/>
              </a:rPr>
              <a:t>An intelligent automaton…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Uses a </a:t>
            </a:r>
            <a:r>
              <a:rPr b="1" lang="en-US" sz="3200" spc="-1" strike="noStrike">
                <a:solidFill>
                  <a:srgbClr val="00b050"/>
                </a:solidFill>
                <a:latin typeface="Garamond"/>
              </a:rPr>
              <a:t>small-scale model of world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Can </a:t>
            </a:r>
            <a:r>
              <a:rPr b="1" lang="en-US" sz="3200" spc="-1" strike="noStrike">
                <a:solidFill>
                  <a:srgbClr val="00b050"/>
                </a:solidFill>
                <a:latin typeface="Garamond"/>
              </a:rPr>
              <a:t>perform actions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Knows </a:t>
            </a:r>
            <a:r>
              <a:rPr b="1" lang="en-US" sz="3200" spc="-1" strike="noStrike">
                <a:solidFill>
                  <a:srgbClr val="00b050"/>
                </a:solidFill>
                <a:latin typeface="Garamond"/>
              </a:rPr>
              <a:t>effects of actions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Uses inference to </a:t>
            </a:r>
            <a:r>
              <a:rPr b="1" lang="en-US" sz="3200" spc="-1" strike="noStrike">
                <a:solidFill>
                  <a:srgbClr val="00b050"/>
                </a:solidFill>
                <a:latin typeface="Garamond"/>
              </a:rPr>
              <a:t>make decisions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468360" y="555480"/>
            <a:ext cx="1125072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Kenneth Craik’s Model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hought Bubble: Cloud 1"/>
          <p:cNvSpPr/>
          <p:nvPr/>
        </p:nvSpPr>
        <p:spPr>
          <a:xfrm>
            <a:off x="8248320" y="1373040"/>
            <a:ext cx="3416760" cy="2313360"/>
          </a:xfrm>
          <a:prstGeom prst="cloudCallout">
            <a:avLst>
              <a:gd name="adj1" fmla="val 5516"/>
              <a:gd name="adj2" fmla="val 84391"/>
            </a:avLst>
          </a:prstGeom>
          <a:gradFill rotWithShape="0">
            <a:gsLst>
              <a:gs pos="0">
                <a:srgbClr val="767676"/>
              </a:gs>
              <a:gs pos="100000">
                <a:srgbClr val="a9a9a9"/>
              </a:gs>
            </a:gsLst>
            <a:path path="circle">
              <a:fillToRect l="50000" t="50000" r="50000" b="50000"/>
            </a:path>
          </a:gradFill>
          <a:ln>
            <a:solidFill>
              <a:srgbClr val="000000"/>
            </a:solidFill>
            <a:rou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1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153720" y="2732040"/>
            <a:ext cx="855720" cy="718920"/>
          </a:xfrm>
          <a:prstGeom prst="rect">
            <a:avLst/>
          </a:prstGeom>
          <a:ln w="0">
            <a:noFill/>
          </a:ln>
        </p:spPr>
      </p:pic>
      <p:pic>
        <p:nvPicPr>
          <p:cNvPr id="22" name="Graphic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316520" y="1793160"/>
            <a:ext cx="1128240" cy="1128600"/>
          </a:xfrm>
          <a:prstGeom prst="rect">
            <a:avLst/>
          </a:prstGeom>
          <a:ln w="0">
            <a:noFill/>
          </a:ln>
        </p:spPr>
      </p:pic>
      <p:pic>
        <p:nvPicPr>
          <p:cNvPr id="23" name="Graphic 5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flipH="1">
            <a:off x="9880200" y="3429000"/>
            <a:ext cx="1786320" cy="3231360"/>
          </a:xfrm>
          <a:prstGeom prst="rect">
            <a:avLst/>
          </a:prstGeom>
          <a:ln w="0">
            <a:noFill/>
          </a:ln>
        </p:spPr>
      </p:pic>
      <p:pic>
        <p:nvPicPr>
          <p:cNvPr id="24" name="Graphic 6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623080" y="1534320"/>
            <a:ext cx="1704240" cy="127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68360" y="555480"/>
            <a:ext cx="1125072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What is Artificial Intelligence?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228240" y="1792800"/>
            <a:ext cx="11699640" cy="44589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 u="sng">
                <a:solidFill>
                  <a:srgbClr val="ffffff"/>
                </a:solidFill>
                <a:uFillTx/>
                <a:latin typeface="Arial Regular"/>
              </a:rPr>
              <a:t>Computers are pretty good at…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Computing (Arithmetic)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Remembering (Data Storage)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 u="sng">
                <a:solidFill>
                  <a:srgbClr val="ffffff"/>
                </a:solidFill>
                <a:uFillTx/>
                <a:latin typeface="Arial Regular"/>
              </a:rPr>
              <a:t>But extremely bad at…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Developing Solutions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Acting Independently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Changing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300" spc="-1" strike="noStrike">
                <a:solidFill>
                  <a:srgbClr val="ffffff"/>
                </a:solidFill>
                <a:latin typeface="Arial Regular"/>
              </a:rPr>
              <a:t>Through AI, we hope to give machines the ability to reason &amp; </a:t>
            </a:r>
            <a:r>
              <a:rPr b="1" i="1" lang="en-US" sz="2300" spc="-1" strike="noStrike">
                <a:solidFill>
                  <a:srgbClr val="ffffff"/>
                </a:solidFill>
                <a:latin typeface="Arial Regular"/>
              </a:rPr>
              <a:t>appear more lifelike</a:t>
            </a:r>
            <a:r>
              <a:rPr b="0" lang="en-US" sz="2300" spc="-1" strike="noStrike">
                <a:solidFill>
                  <a:srgbClr val="ffffff"/>
                </a:solidFill>
                <a:latin typeface="Arial Regular"/>
              </a:rPr>
              <a:t>.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Graphic 7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393240" y="2075760"/>
            <a:ext cx="5134680" cy="318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" dur="indefinite" restart="never" nodeType="tmRoot">
          <p:childTnLst>
            <p:seq>
              <p:cTn id="29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" dur="500"/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8360" y="558360"/>
            <a:ext cx="1125072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Agents, Agents, Everywhere!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2951280" y="1601280"/>
            <a:ext cx="6284520" cy="2970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We call an AI program or machine an </a:t>
            </a:r>
            <a:r>
              <a:rPr b="1" i="1" lang="en-US" sz="2200" spc="-1" strike="noStrike">
                <a:solidFill>
                  <a:srgbClr val="00ff00"/>
                </a:solidFill>
                <a:latin typeface="Arial Regular"/>
              </a:rPr>
              <a:t>agent</a:t>
            </a:r>
            <a:r>
              <a:rPr b="0" lang="en-US" sz="2200" spc="-1" strike="noStrike">
                <a:solidFill>
                  <a:srgbClr val="00ff00"/>
                </a:solidFill>
                <a:latin typeface="Arial Regular"/>
              </a:rPr>
              <a:t>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r>
              <a:rPr b="0" lang="en-US" sz="2200" spc="-1" strike="noStrike" u="sng">
                <a:solidFill>
                  <a:srgbClr val="ffffff"/>
                </a:solidFill>
                <a:uFillTx/>
                <a:latin typeface="Arial Regular"/>
              </a:rPr>
              <a:t>Types of Agents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 u="sng">
                <a:solidFill>
                  <a:srgbClr val="ffffff"/>
                </a:solidFill>
                <a:uFillTx/>
                <a:latin typeface="Arial Regular"/>
              </a:rPr>
              <a:t>Behavior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100000"/>
              </a:lnSpc>
              <a:spcBef>
                <a:spcPts val="431"/>
              </a:spcBef>
              <a:spcAft>
                <a:spcPts val="43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Reflex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Reactionary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100000"/>
              </a:lnSpc>
              <a:spcBef>
                <a:spcPts val="431"/>
              </a:spcBef>
              <a:spcAft>
                <a:spcPts val="43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Goal-based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Satisfying a goal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100000"/>
              </a:lnSpc>
              <a:spcBef>
                <a:spcPts val="431"/>
              </a:spcBef>
              <a:spcAft>
                <a:spcPts val="43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Utility-based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</a:rPr>
              <a:t>Maximizing utility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" name="Graphic 8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09120" y="4775040"/>
            <a:ext cx="1643040" cy="1807200"/>
          </a:xfrm>
          <a:prstGeom prst="rect">
            <a:avLst/>
          </a:prstGeom>
          <a:ln w="0">
            <a:noFill/>
          </a:ln>
        </p:spPr>
      </p:pic>
      <p:pic>
        <p:nvPicPr>
          <p:cNvPr id="31" name="Graphic 9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694240" y="4857480"/>
            <a:ext cx="1740960" cy="1641960"/>
          </a:xfrm>
          <a:prstGeom prst="rect">
            <a:avLst/>
          </a:prstGeom>
          <a:ln w="0">
            <a:noFill/>
          </a:ln>
        </p:spPr>
      </p:pic>
      <p:pic>
        <p:nvPicPr>
          <p:cNvPr id="32" name="Graphic 10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426440" y="4573080"/>
            <a:ext cx="1729800" cy="200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0" dur="indefinite" restart="never" nodeType="tmRoot">
          <p:childTnLst>
            <p:seq>
              <p:cTn id="71" dur="indefinite" nodeType="mainSeq">
                <p:childTnLst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10"/>
          <p:cNvSpPr/>
          <p:nvPr/>
        </p:nvSpPr>
        <p:spPr>
          <a:xfrm>
            <a:off x="1004400" y="2033640"/>
            <a:ext cx="5024880" cy="4228920"/>
          </a:xfrm>
          <a:prstGeom prst="rect">
            <a:avLst/>
          </a:prstGeom>
          <a:solidFill>
            <a:srgbClr val="00004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900" spc="-1" strike="noStrike">
              <a:solidFill>
                <a:schemeClr val="lt1"/>
              </a:solidFill>
              <a:latin typeface="Consolas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68360" y="555480"/>
            <a:ext cx="1125072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Agent Architecture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00920" y="1384200"/>
            <a:ext cx="10785600" cy="4982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3333"/>
          </a:bodyPr>
          <a:p>
            <a:pPr marL="91440" indent="-91440" algn="ctr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The architecture of an agent will dictate how information comes in and is used.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Rectangle 15"/>
          <p:cNvSpPr/>
          <p:nvPr/>
        </p:nvSpPr>
        <p:spPr>
          <a:xfrm>
            <a:off x="1241640" y="2766600"/>
            <a:ext cx="4569840" cy="2855880"/>
          </a:xfrm>
          <a:prstGeom prst="rect">
            <a:avLst/>
          </a:prstGeom>
          <a:solidFill>
            <a:srgbClr val="002060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7" name="Rectangle 16"/>
          <p:cNvSpPr/>
          <p:nvPr/>
        </p:nvSpPr>
        <p:spPr>
          <a:xfrm>
            <a:off x="1469880" y="4835160"/>
            <a:ext cx="4106160" cy="52992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</a:rPr>
              <a:t>Behavior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8" name="Straight Arrow Connector 1"/>
          <p:cNvCxnSpPr/>
          <p:nvPr/>
        </p:nvCxnSpPr>
        <p:spPr>
          <a:xfrm>
            <a:off x="3380040" y="4435200"/>
            <a:ext cx="1080" cy="400680"/>
          </a:xfrm>
          <a:prstGeom prst="straightConnector1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</p:cxnSp>
      <p:cxnSp>
        <p:nvCxnSpPr>
          <p:cNvPr id="39" name="Straight Arrow Connector 2"/>
          <p:cNvCxnSpPr/>
          <p:nvPr/>
        </p:nvCxnSpPr>
        <p:spPr>
          <a:xfrm flipV="1">
            <a:off x="3681720" y="4435200"/>
            <a:ext cx="1080" cy="400680"/>
          </a:xfrm>
          <a:prstGeom prst="straightConnector1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</p:cxnSp>
      <p:sp>
        <p:nvSpPr>
          <p:cNvPr id="40" name="TextBox 1"/>
          <p:cNvSpPr/>
          <p:nvPr/>
        </p:nvSpPr>
        <p:spPr>
          <a:xfrm>
            <a:off x="2813400" y="2035440"/>
            <a:ext cx="1406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2"/>
                </a:solidFill>
                <a:latin typeface="Arial"/>
              </a:rPr>
              <a:t>Percepts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Rectangle 17"/>
          <p:cNvSpPr/>
          <p:nvPr/>
        </p:nvSpPr>
        <p:spPr>
          <a:xfrm>
            <a:off x="6178320" y="2033640"/>
            <a:ext cx="5247720" cy="4228920"/>
          </a:xfrm>
          <a:prstGeom prst="rect">
            <a:avLst/>
          </a:prstGeom>
          <a:solidFill>
            <a:srgbClr val="00004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class Agent: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knowledge = KnowledgeStructure()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behavior = Behavior()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def enter():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    …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def update():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    …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def exit():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    …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def onEvent(event):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    …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Rectangle 18"/>
          <p:cNvSpPr/>
          <p:nvPr/>
        </p:nvSpPr>
        <p:spPr>
          <a:xfrm>
            <a:off x="1469880" y="3885480"/>
            <a:ext cx="4106160" cy="52992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</a:rPr>
              <a:t>Knowledge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Rectangle 20"/>
          <p:cNvSpPr/>
          <p:nvPr/>
        </p:nvSpPr>
        <p:spPr>
          <a:xfrm>
            <a:off x="1469880" y="2944440"/>
            <a:ext cx="4106160" cy="528840"/>
          </a:xfrm>
          <a:prstGeom prst="rect">
            <a:avLst/>
          </a:prstGeom>
          <a:solidFill>
            <a:srgbClr val="7030a0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</a:rPr>
              <a:t>Event Handler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Box 2"/>
          <p:cNvSpPr/>
          <p:nvPr/>
        </p:nvSpPr>
        <p:spPr>
          <a:xfrm>
            <a:off x="2819880" y="5803920"/>
            <a:ext cx="1406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2"/>
                </a:solidFill>
                <a:latin typeface="Arial"/>
              </a:rPr>
              <a:t>Actions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5" name="Straight Arrow Connector 3"/>
          <p:cNvCxnSpPr/>
          <p:nvPr/>
        </p:nvCxnSpPr>
        <p:spPr>
          <a:xfrm>
            <a:off x="3518280" y="3484800"/>
            <a:ext cx="1080" cy="400680"/>
          </a:xfrm>
          <a:prstGeom prst="straightConnector1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</p:cxnSp>
      <p:cxnSp>
        <p:nvCxnSpPr>
          <p:cNvPr id="46" name="Straight Arrow Connector 4"/>
          <p:cNvCxnSpPr>
            <a:stCxn id="37" idx="2"/>
          </p:cNvCxnSpPr>
          <p:nvPr/>
        </p:nvCxnSpPr>
        <p:spPr>
          <a:xfrm flipH="1">
            <a:off x="3518280" y="5365080"/>
            <a:ext cx="5040" cy="537480"/>
          </a:xfrm>
          <a:prstGeom prst="straightConnector1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</p:cxnSp>
      <p:cxnSp>
        <p:nvCxnSpPr>
          <p:cNvPr id="47" name="Straight Arrow Connector 5"/>
          <p:cNvCxnSpPr/>
          <p:nvPr/>
        </p:nvCxnSpPr>
        <p:spPr>
          <a:xfrm flipH="1">
            <a:off x="3524760" y="2410920"/>
            <a:ext cx="7200" cy="536760"/>
          </a:xfrm>
          <a:prstGeom prst="straightConnector1">
            <a:avLst/>
          </a:prstGeom>
          <a:ln w="38100">
            <a:solidFill>
              <a:srgbClr val="00ff00"/>
            </a:solidFill>
            <a:round/>
            <a:tailEnd len="lg" type="stealth" w="lg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/>
          </p:nvPr>
        </p:nvSpPr>
        <p:spPr>
          <a:xfrm>
            <a:off x="1381680" y="1885680"/>
            <a:ext cx="10056960" cy="4398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algn="just" defTabSz="914400">
              <a:lnSpc>
                <a:spcPct val="100000"/>
              </a:lnSpc>
              <a:spcBef>
                <a:spcPts val="720"/>
              </a:spcBef>
              <a:buClr>
                <a:srgbClr val="ffffff"/>
              </a:buClr>
              <a:buFont typeface="Tw Cen MT"/>
              <a:buChar char=" "/>
            </a:pPr>
            <a:r>
              <a:rPr b="0" lang="en-US" sz="3200" spc="-1" strike="noStrike" u="sng">
                <a:solidFill>
                  <a:schemeClr val="lt1"/>
                </a:solidFill>
                <a:uFillTx/>
                <a:latin typeface="Garamond"/>
              </a:rPr>
              <a:t>Agents must remember…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00000"/>
              </a:lnSpc>
              <a:spcBef>
                <a:spcPts val="720"/>
              </a:spcBef>
              <a:buClr>
                <a:srgbClr val="ffc000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What the world “looks like”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00000"/>
              </a:lnSpc>
              <a:spcBef>
                <a:spcPts val="720"/>
              </a:spcBef>
              <a:buClr>
                <a:srgbClr val="ffc000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Processed information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00000"/>
              </a:lnSpc>
              <a:spcBef>
                <a:spcPts val="720"/>
              </a:spcBef>
              <a:buClr>
                <a:srgbClr val="ffc000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Possible actions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00000"/>
              </a:lnSpc>
              <a:spcBef>
                <a:spcPts val="720"/>
              </a:spcBef>
              <a:buClr>
                <a:srgbClr val="ffc000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Results of actions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Knowledge representation is critical to agent function!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68360" y="573480"/>
            <a:ext cx="1125072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Knowledge Representation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" name="Graphic 11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197120" y="1805040"/>
            <a:ext cx="2984400" cy="324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4" dur="indefinite" restart="never" nodeType="tmRoot">
          <p:childTnLst>
            <p:seq>
              <p:cTn id="105" dur="indefinite" nodeType="mainSeq">
                <p:childTnLst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" dur="500"/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" dur="500"/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/>
          </p:nvPr>
        </p:nvSpPr>
        <p:spPr>
          <a:xfrm>
            <a:off x="457200" y="1682280"/>
            <a:ext cx="11200680" cy="46191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7222" lnSpcReduction="2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600" spc="-1" strike="noStrike" u="sng">
                <a:solidFill>
                  <a:schemeClr val="lt1"/>
                </a:solidFill>
                <a:uFillTx/>
                <a:latin typeface="Garamond"/>
              </a:rPr>
              <a:t>In AI, we use data structures for pretty much everything!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Tracking keys and/or values in a blackboard/toolbox (maps/sets)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Keeping track of search spaces (trees, maps, heaps, lists)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Remembering waypoints for pathfinding (graphs, lists)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Some industry folks have referred to AI “Advanced Data Structures”.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468360" y="555480"/>
            <a:ext cx="11250720" cy="69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2" strike="noStrike">
                <a:solidFill>
                  <a:schemeClr val="lt1"/>
                </a:solidFill>
                <a:latin typeface="Garamond"/>
              </a:rPr>
              <a:t>Data Structures in AI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ontent Placeholder 7"/>
          <p:cNvSpPr/>
          <p:nvPr/>
        </p:nvSpPr>
        <p:spPr>
          <a:xfrm>
            <a:off x="702000" y="2783160"/>
            <a:ext cx="11017080" cy="257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9999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00ff"/>
              </a:buClr>
              <a:buFont typeface="Tw Cen MT"/>
              <a:buChar char=" 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S. J. Russell &amp; P. Norvig. 2010. </a:t>
            </a:r>
            <a:r>
              <a:rPr b="0" i="1" lang="en-US" sz="3200" spc="-1" strike="noStrike">
                <a:solidFill>
                  <a:schemeClr val="lt1"/>
                </a:solidFill>
                <a:latin typeface="Garamond"/>
              </a:rPr>
              <a:t>Artificial intelligence: a modern approach.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Pearson Education.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00ff"/>
              </a:buClr>
              <a:buFont typeface="Tw Cen MT"/>
              <a:buChar char=" 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I. Millington &amp; J. Funge. 2009. </a:t>
            </a:r>
            <a:r>
              <a:rPr b="0" i="1" lang="en-US" sz="3200" spc="-1" strike="noStrike">
                <a:solidFill>
                  <a:schemeClr val="lt1"/>
                </a:solidFill>
                <a:latin typeface="Garamond"/>
              </a:rPr>
              <a:t>Artificial Intelligence for Games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.</a:t>
            </a:r>
            <a:br>
              <a:rPr sz="3200"/>
            </a:b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CRC Press.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68360" y="1144440"/>
            <a:ext cx="11250720" cy="71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194" strike="noStrike">
                <a:solidFill>
                  <a:schemeClr val="lt1"/>
                </a:solidFill>
                <a:latin typeface="Garamond"/>
              </a:rPr>
              <a:t>References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cap4053_ppt_template_rev4</Template>
  <TotalTime>166</TotalTime>
  <Application>LibreOffice/24.2.7.2$Linux_X86_64 LibreOffice_project/420$Build-2</Application>
  <AppVersion>15.0000</AppVersion>
  <Words>739</Words>
  <Paragraphs>119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2018-12-03T18:33:34Z</dcterms:created>
  <dc:creator>Jeremiah Blanchard</dc:creator>
  <dc:description/>
  <dc:language>en-US</dc:language>
  <cp:lastModifiedBy/>
  <dcterms:modified xsi:type="dcterms:W3CDTF">2025-09-10T21:31:20Z</dcterms:modified>
  <cp:revision>10</cp:revision>
  <dc:subject/>
  <dc:title>History of Computer Games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MMClips">
    <vt:i4>3</vt:i4>
  </property>
  <property fmtid="{D5CDD505-2E9C-101B-9397-08002B2CF9AE}" pid="8" name="Notes">
    <vt:i4>9</vt:i4>
  </property>
  <property fmtid="{D5CDD505-2E9C-101B-9397-08002B2CF9AE}" pid="9" name="PresentationFormat">
    <vt:lpwstr>Widescreen</vt:lpwstr>
  </property>
  <property fmtid="{D5CDD505-2E9C-101B-9397-08002B2CF9AE}" pid="10" name="Slides">
    <vt:i4>11</vt:i4>
  </property>
</Properties>
</file>