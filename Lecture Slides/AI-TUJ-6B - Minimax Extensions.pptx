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8.wmf" ContentType="image/x-wmf"/>
  <Override PartName="/ppt/media/image9.wmf" ContentType="image/x-wm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57F1D6CC-4851-4D52-BC98-4E4AE27E7395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B3F5C6-A04E-4665-865D-A0B37BE33B91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FD3E8F-7560-4B5E-A1DC-526F104E7521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531C97-C226-4F65-810B-5AE777449BC7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-11390040" y="-209952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Techniques for Turn-Based Games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818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Minimax Extensions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4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400" cy="223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57"/>
          <p:cNvSpPr/>
          <p:nvPr/>
        </p:nvSpPr>
        <p:spPr>
          <a:xfrm>
            <a:off x="5705280" y="369936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val 158"/>
          <p:cNvSpPr/>
          <p:nvPr/>
        </p:nvSpPr>
        <p:spPr>
          <a:xfrm>
            <a:off x="4557600" y="369936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Oval 155"/>
          <p:cNvSpPr/>
          <p:nvPr/>
        </p:nvSpPr>
        <p:spPr>
          <a:xfrm>
            <a:off x="2962080" y="3702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Oval 156"/>
          <p:cNvSpPr/>
          <p:nvPr/>
        </p:nvSpPr>
        <p:spPr>
          <a:xfrm>
            <a:off x="1806840" y="370620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2" descr="chessboard"/>
          <p:cNvPicPr/>
          <p:nvPr/>
        </p:nvPicPr>
        <p:blipFill>
          <a:blip r:embed="rId1"/>
          <a:stretch/>
        </p:blipFill>
        <p:spPr>
          <a:xfrm>
            <a:off x="7373880" y="2586600"/>
            <a:ext cx="3225600" cy="32256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94040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Alpha-Beta Pruning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2280" y="1178280"/>
            <a:ext cx="9847080" cy="734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ff00"/>
                </a:solidFill>
                <a:latin typeface="Arial Regular"/>
              </a:rPr>
              <a:t>Alpha-Beta Pruning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a branch-and-bound extension to Minimax that “prunes” (eliminates) unnecessary branches of the search tree.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22" name="Line 5"/>
          <p:cNvSpPr/>
          <p:nvPr/>
        </p:nvSpPr>
        <p:spPr>
          <a:xfrm flipH="1">
            <a:off x="2361960" y="2426040"/>
            <a:ext cx="1828800" cy="12952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Line 6"/>
          <p:cNvSpPr/>
          <p:nvPr/>
        </p:nvSpPr>
        <p:spPr>
          <a:xfrm flipH="1">
            <a:off x="3504960" y="2502360"/>
            <a:ext cx="762120" cy="12189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Line 7"/>
          <p:cNvSpPr/>
          <p:nvPr/>
        </p:nvSpPr>
        <p:spPr>
          <a:xfrm flipH="1">
            <a:off x="2133360" y="402624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Oval 8"/>
          <p:cNvSpPr/>
          <p:nvPr/>
        </p:nvSpPr>
        <p:spPr>
          <a:xfrm>
            <a:off x="4191120" y="21974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Line 9"/>
          <p:cNvSpPr/>
          <p:nvPr/>
        </p:nvSpPr>
        <p:spPr>
          <a:xfrm>
            <a:off x="2361960" y="402624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Line 10"/>
          <p:cNvSpPr/>
          <p:nvPr/>
        </p:nvSpPr>
        <p:spPr>
          <a:xfrm flipH="1">
            <a:off x="3276360" y="4059720"/>
            <a:ext cx="22860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Line 11"/>
          <p:cNvSpPr/>
          <p:nvPr/>
        </p:nvSpPr>
        <p:spPr>
          <a:xfrm>
            <a:off x="3504960" y="402624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Line 12"/>
          <p:cNvSpPr/>
          <p:nvPr/>
        </p:nvSpPr>
        <p:spPr>
          <a:xfrm flipH="1">
            <a:off x="2971800" y="4059720"/>
            <a:ext cx="53316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Line 13"/>
          <p:cNvSpPr/>
          <p:nvPr/>
        </p:nvSpPr>
        <p:spPr>
          <a:xfrm>
            <a:off x="3504960" y="4059720"/>
            <a:ext cx="53352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Rectangle 14"/>
          <p:cNvSpPr/>
          <p:nvPr/>
        </p:nvSpPr>
        <p:spPr>
          <a:xfrm>
            <a:off x="2209680" y="372168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Rectangle 15"/>
          <p:cNvSpPr/>
          <p:nvPr/>
        </p:nvSpPr>
        <p:spPr>
          <a:xfrm>
            <a:off x="3352680" y="372168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Oval 16"/>
          <p:cNvSpPr/>
          <p:nvPr/>
        </p:nvSpPr>
        <p:spPr>
          <a:xfrm>
            <a:off x="200880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Text Box 17"/>
          <p:cNvSpPr/>
          <p:nvPr/>
        </p:nvSpPr>
        <p:spPr>
          <a:xfrm>
            <a:off x="3894120" y="1798560"/>
            <a:ext cx="914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Max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Box 18"/>
          <p:cNvSpPr/>
          <p:nvPr/>
        </p:nvSpPr>
        <p:spPr>
          <a:xfrm>
            <a:off x="3894120" y="3351240"/>
            <a:ext cx="914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Min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Oval 59"/>
          <p:cNvSpPr/>
          <p:nvPr/>
        </p:nvSpPr>
        <p:spPr>
          <a:xfrm>
            <a:off x="241092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Oval 60"/>
          <p:cNvSpPr/>
          <p:nvPr/>
        </p:nvSpPr>
        <p:spPr>
          <a:xfrm>
            <a:off x="281952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Oval 61"/>
          <p:cNvSpPr/>
          <p:nvPr/>
        </p:nvSpPr>
        <p:spPr>
          <a:xfrm>
            <a:off x="320040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Oval 62"/>
          <p:cNvSpPr/>
          <p:nvPr/>
        </p:nvSpPr>
        <p:spPr>
          <a:xfrm>
            <a:off x="358128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Oval 63"/>
          <p:cNvSpPr/>
          <p:nvPr/>
        </p:nvSpPr>
        <p:spPr>
          <a:xfrm>
            <a:off x="396252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Text Box 64"/>
          <p:cNvSpPr/>
          <p:nvPr/>
        </p:nvSpPr>
        <p:spPr>
          <a:xfrm>
            <a:off x="2000520" y="562644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Box 66"/>
          <p:cNvSpPr/>
          <p:nvPr/>
        </p:nvSpPr>
        <p:spPr>
          <a:xfrm>
            <a:off x="2203560" y="363744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Line 67"/>
          <p:cNvSpPr/>
          <p:nvPr/>
        </p:nvSpPr>
        <p:spPr>
          <a:xfrm flipV="1">
            <a:off x="2057400" y="4102560"/>
            <a:ext cx="228600" cy="152388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Line 70"/>
          <p:cNvSpPr/>
          <p:nvPr/>
        </p:nvSpPr>
        <p:spPr>
          <a:xfrm>
            <a:off x="4419360" y="2502360"/>
            <a:ext cx="685800" cy="12189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Line 74"/>
          <p:cNvSpPr/>
          <p:nvPr/>
        </p:nvSpPr>
        <p:spPr>
          <a:xfrm flipH="1">
            <a:off x="4876560" y="4059720"/>
            <a:ext cx="22860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Line 75"/>
          <p:cNvSpPr/>
          <p:nvPr/>
        </p:nvSpPr>
        <p:spPr>
          <a:xfrm>
            <a:off x="5105160" y="4059720"/>
            <a:ext cx="22860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Line 76"/>
          <p:cNvSpPr/>
          <p:nvPr/>
        </p:nvSpPr>
        <p:spPr>
          <a:xfrm flipH="1">
            <a:off x="4572000" y="4059720"/>
            <a:ext cx="53316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Line 77"/>
          <p:cNvSpPr/>
          <p:nvPr/>
        </p:nvSpPr>
        <p:spPr>
          <a:xfrm>
            <a:off x="5105160" y="4059720"/>
            <a:ext cx="53352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Rectangle 78"/>
          <p:cNvSpPr/>
          <p:nvPr/>
        </p:nvSpPr>
        <p:spPr>
          <a:xfrm>
            <a:off x="4952880" y="372168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Oval 90"/>
          <p:cNvSpPr/>
          <p:nvPr/>
        </p:nvSpPr>
        <p:spPr>
          <a:xfrm>
            <a:off x="434340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Oval 91"/>
          <p:cNvSpPr/>
          <p:nvPr/>
        </p:nvSpPr>
        <p:spPr>
          <a:xfrm>
            <a:off x="472428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Oval 92"/>
          <p:cNvSpPr/>
          <p:nvPr/>
        </p:nvSpPr>
        <p:spPr>
          <a:xfrm>
            <a:off x="510552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Oval 93"/>
          <p:cNvSpPr/>
          <p:nvPr/>
        </p:nvSpPr>
        <p:spPr>
          <a:xfrm>
            <a:off x="548640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Line 128"/>
          <p:cNvSpPr/>
          <p:nvPr/>
        </p:nvSpPr>
        <p:spPr>
          <a:xfrm flipV="1">
            <a:off x="2361960" y="2349720"/>
            <a:ext cx="1828800" cy="129564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Text Box 129"/>
          <p:cNvSpPr/>
          <p:nvPr/>
        </p:nvSpPr>
        <p:spPr>
          <a:xfrm>
            <a:off x="2410920" y="561852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6" name="Group 130"/>
          <p:cNvGrpSpPr/>
          <p:nvPr/>
        </p:nvGrpSpPr>
        <p:grpSpPr>
          <a:xfrm>
            <a:off x="8161200" y="4577400"/>
            <a:ext cx="393480" cy="455400"/>
            <a:chOff x="8161200" y="4577400"/>
            <a:chExt cx="393480" cy="455400"/>
          </a:xfrm>
        </p:grpSpPr>
        <p:pic>
          <p:nvPicPr>
            <p:cNvPr id="57" name="Picture 131" descr="white"/>
            <p:cNvPicPr/>
            <p:nvPr/>
          </p:nvPicPr>
          <p:blipFill>
            <a:blip r:embed="rId2"/>
            <a:stretch/>
          </p:blipFill>
          <p:spPr>
            <a:xfrm>
              <a:off x="8161200" y="461520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8" name="Text Box 132"/>
            <p:cNvSpPr/>
            <p:nvPr/>
          </p:nvSpPr>
          <p:spPr>
            <a:xfrm>
              <a:off x="8163000" y="457740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C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9" name="Group 133"/>
          <p:cNvGrpSpPr/>
          <p:nvPr/>
        </p:nvGrpSpPr>
        <p:grpSpPr>
          <a:xfrm>
            <a:off x="9380520" y="4958280"/>
            <a:ext cx="394920" cy="455400"/>
            <a:chOff x="9380520" y="4958280"/>
            <a:chExt cx="394920" cy="455400"/>
          </a:xfrm>
        </p:grpSpPr>
        <p:pic>
          <p:nvPicPr>
            <p:cNvPr id="60" name="Picture 134" descr="black"/>
            <p:cNvPicPr/>
            <p:nvPr/>
          </p:nvPicPr>
          <p:blipFill>
            <a:blip r:embed="rId3"/>
            <a:stretch/>
          </p:blipFill>
          <p:spPr>
            <a:xfrm>
              <a:off x="9381960" y="499644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1" name="Text Box 135"/>
            <p:cNvSpPr/>
            <p:nvPr/>
          </p:nvSpPr>
          <p:spPr>
            <a:xfrm>
              <a:off x="9380520" y="495828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lt1"/>
                  </a:solidFill>
                  <a:latin typeface="Garamond"/>
                </a:rPr>
                <a:t>B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2" name="Group 136"/>
          <p:cNvGrpSpPr/>
          <p:nvPr/>
        </p:nvGrpSpPr>
        <p:grpSpPr>
          <a:xfrm>
            <a:off x="7780320" y="4958280"/>
            <a:ext cx="394920" cy="455400"/>
            <a:chOff x="7780320" y="4958280"/>
            <a:chExt cx="394920" cy="455400"/>
          </a:xfrm>
        </p:grpSpPr>
        <p:pic>
          <p:nvPicPr>
            <p:cNvPr id="63" name="Picture 137" descr="black"/>
            <p:cNvPicPr/>
            <p:nvPr/>
          </p:nvPicPr>
          <p:blipFill>
            <a:blip r:embed="rId4"/>
            <a:stretch/>
          </p:blipFill>
          <p:spPr>
            <a:xfrm>
              <a:off x="7781760" y="499644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4" name="Text Box 138"/>
            <p:cNvSpPr/>
            <p:nvPr/>
          </p:nvSpPr>
          <p:spPr>
            <a:xfrm>
              <a:off x="7780320" y="495828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lt1"/>
                  </a:solidFill>
                  <a:latin typeface="Garamond"/>
                </a:rPr>
                <a:t>A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5" name="Group 139"/>
          <p:cNvGrpSpPr/>
          <p:nvPr/>
        </p:nvGrpSpPr>
        <p:grpSpPr>
          <a:xfrm>
            <a:off x="8999640" y="4577400"/>
            <a:ext cx="393480" cy="455400"/>
            <a:chOff x="8999640" y="4577400"/>
            <a:chExt cx="393480" cy="455400"/>
          </a:xfrm>
        </p:grpSpPr>
        <p:pic>
          <p:nvPicPr>
            <p:cNvPr id="66" name="Picture 140" descr="white"/>
            <p:cNvPicPr/>
            <p:nvPr/>
          </p:nvPicPr>
          <p:blipFill>
            <a:blip r:embed="rId5"/>
            <a:stretch/>
          </p:blipFill>
          <p:spPr>
            <a:xfrm>
              <a:off x="8999640" y="461520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7" name="Text Box 141"/>
            <p:cNvSpPr/>
            <p:nvPr/>
          </p:nvSpPr>
          <p:spPr>
            <a:xfrm>
              <a:off x="9001080" y="457740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D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8" name="Text Box 142"/>
          <p:cNvSpPr/>
          <p:nvPr/>
        </p:nvSpPr>
        <p:spPr>
          <a:xfrm>
            <a:off x="2811600" y="561852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Box 145"/>
          <p:cNvSpPr/>
          <p:nvPr/>
        </p:nvSpPr>
        <p:spPr>
          <a:xfrm>
            <a:off x="3352680" y="3645360"/>
            <a:ext cx="47448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Box 146"/>
          <p:cNvSpPr/>
          <p:nvPr/>
        </p:nvSpPr>
        <p:spPr>
          <a:xfrm>
            <a:off x="4173480" y="212148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Box 147"/>
          <p:cNvSpPr/>
          <p:nvPr/>
        </p:nvSpPr>
        <p:spPr>
          <a:xfrm>
            <a:off x="4343400" y="562644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Box 150"/>
          <p:cNvSpPr/>
          <p:nvPr/>
        </p:nvSpPr>
        <p:spPr>
          <a:xfrm>
            <a:off x="4952880" y="3645360"/>
            <a:ext cx="47448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Line 152"/>
          <p:cNvSpPr/>
          <p:nvPr/>
        </p:nvSpPr>
        <p:spPr>
          <a:xfrm flipV="1">
            <a:off x="3276360" y="4712040"/>
            <a:ext cx="533520" cy="457200"/>
          </a:xfrm>
          <a:prstGeom prst="line">
            <a:avLst/>
          </a:prstGeom>
          <a:ln w="317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Line 153"/>
          <p:cNvSpPr/>
          <p:nvPr/>
        </p:nvSpPr>
        <p:spPr>
          <a:xfrm flipV="1">
            <a:off x="4876560" y="4788360"/>
            <a:ext cx="533520" cy="457200"/>
          </a:xfrm>
          <a:prstGeom prst="line">
            <a:avLst/>
          </a:prstGeom>
          <a:ln w="317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Line 71"/>
          <p:cNvSpPr/>
          <p:nvPr/>
        </p:nvSpPr>
        <p:spPr>
          <a:xfrm>
            <a:off x="4495680" y="2426040"/>
            <a:ext cx="1752480" cy="12952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Line 72"/>
          <p:cNvSpPr/>
          <p:nvPr/>
        </p:nvSpPr>
        <p:spPr>
          <a:xfrm flipH="1">
            <a:off x="6019560" y="402624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Line 73"/>
          <p:cNvSpPr/>
          <p:nvPr/>
        </p:nvSpPr>
        <p:spPr>
          <a:xfrm>
            <a:off x="6248160" y="402624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Rectangle 79"/>
          <p:cNvSpPr/>
          <p:nvPr/>
        </p:nvSpPr>
        <p:spPr>
          <a:xfrm>
            <a:off x="6095880" y="372168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Oval 94"/>
          <p:cNvSpPr/>
          <p:nvPr/>
        </p:nvSpPr>
        <p:spPr>
          <a:xfrm>
            <a:off x="589500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Oval 95"/>
          <p:cNvSpPr/>
          <p:nvPr/>
        </p:nvSpPr>
        <p:spPr>
          <a:xfrm>
            <a:off x="6297120" y="570276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Text Box 148"/>
          <p:cNvSpPr/>
          <p:nvPr/>
        </p:nvSpPr>
        <p:spPr>
          <a:xfrm>
            <a:off x="6297120" y="562644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Box 149"/>
          <p:cNvSpPr/>
          <p:nvPr/>
        </p:nvSpPr>
        <p:spPr>
          <a:xfrm>
            <a:off x="5895000" y="562644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Box 151"/>
          <p:cNvSpPr/>
          <p:nvPr/>
        </p:nvSpPr>
        <p:spPr>
          <a:xfrm>
            <a:off x="6095880" y="3623760"/>
            <a:ext cx="38052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Line 159"/>
          <p:cNvSpPr/>
          <p:nvPr/>
        </p:nvSpPr>
        <p:spPr>
          <a:xfrm flipV="1">
            <a:off x="3581280" y="2959560"/>
            <a:ext cx="533520" cy="457200"/>
          </a:xfrm>
          <a:prstGeom prst="line">
            <a:avLst/>
          </a:prstGeom>
          <a:ln w="317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Line 160"/>
          <p:cNvSpPr/>
          <p:nvPr/>
        </p:nvSpPr>
        <p:spPr>
          <a:xfrm flipV="1">
            <a:off x="4495680" y="2959560"/>
            <a:ext cx="533520" cy="457200"/>
          </a:xfrm>
          <a:prstGeom prst="line">
            <a:avLst/>
          </a:prstGeom>
          <a:ln w="317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Line 161"/>
          <p:cNvSpPr/>
          <p:nvPr/>
        </p:nvSpPr>
        <p:spPr>
          <a:xfrm flipV="1">
            <a:off x="5257800" y="2959560"/>
            <a:ext cx="533160" cy="457200"/>
          </a:xfrm>
          <a:prstGeom prst="line">
            <a:avLst/>
          </a:prstGeom>
          <a:ln w="317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Rectangle 79"/>
          <p:cNvSpPr/>
          <p:nvPr/>
        </p:nvSpPr>
        <p:spPr>
          <a:xfrm>
            <a:off x="6095880" y="371448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Line 67"/>
          <p:cNvSpPr/>
          <p:nvPr/>
        </p:nvSpPr>
        <p:spPr>
          <a:xfrm flipV="1">
            <a:off x="2971800" y="4102560"/>
            <a:ext cx="457200" cy="152388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Line 67"/>
          <p:cNvSpPr/>
          <p:nvPr/>
        </p:nvSpPr>
        <p:spPr>
          <a:xfrm flipV="1">
            <a:off x="4572000" y="4102560"/>
            <a:ext cx="457200" cy="152388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Line 67"/>
          <p:cNvSpPr/>
          <p:nvPr/>
        </p:nvSpPr>
        <p:spPr>
          <a:xfrm flipV="1">
            <a:off x="5943600" y="4102560"/>
            <a:ext cx="228600" cy="152388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Line 67"/>
          <p:cNvSpPr/>
          <p:nvPr/>
        </p:nvSpPr>
        <p:spPr>
          <a:xfrm flipH="1" flipV="1">
            <a:off x="6324480" y="4102560"/>
            <a:ext cx="228600" cy="1523880"/>
          </a:xfrm>
          <a:prstGeom prst="line">
            <a:avLst/>
          </a:prstGeom>
          <a:ln w="31750">
            <a:solidFill>
              <a:srgbClr val="ffc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Oval 159"/>
          <p:cNvSpPr/>
          <p:nvPr/>
        </p:nvSpPr>
        <p:spPr>
          <a:xfrm>
            <a:off x="1986840" y="62672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Oval 160"/>
          <p:cNvSpPr/>
          <p:nvPr/>
        </p:nvSpPr>
        <p:spPr>
          <a:xfrm>
            <a:off x="2373840" y="6258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Oval 161"/>
          <p:cNvSpPr/>
          <p:nvPr/>
        </p:nvSpPr>
        <p:spPr>
          <a:xfrm>
            <a:off x="2804400" y="6258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Oval 162"/>
          <p:cNvSpPr/>
          <p:nvPr/>
        </p:nvSpPr>
        <p:spPr>
          <a:xfrm>
            <a:off x="3182040" y="6258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val 163"/>
          <p:cNvSpPr/>
          <p:nvPr/>
        </p:nvSpPr>
        <p:spPr>
          <a:xfrm>
            <a:off x="3564000" y="6258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Oval 164"/>
          <p:cNvSpPr/>
          <p:nvPr/>
        </p:nvSpPr>
        <p:spPr>
          <a:xfrm>
            <a:off x="394524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Oval 165"/>
          <p:cNvSpPr/>
          <p:nvPr/>
        </p:nvSpPr>
        <p:spPr>
          <a:xfrm>
            <a:off x="432828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Oval 166"/>
          <p:cNvSpPr/>
          <p:nvPr/>
        </p:nvSpPr>
        <p:spPr>
          <a:xfrm>
            <a:off x="470196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Oval 168"/>
          <p:cNvSpPr/>
          <p:nvPr/>
        </p:nvSpPr>
        <p:spPr>
          <a:xfrm>
            <a:off x="5075640" y="62589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Oval 169"/>
          <p:cNvSpPr/>
          <p:nvPr/>
        </p:nvSpPr>
        <p:spPr>
          <a:xfrm>
            <a:off x="545148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Oval 170"/>
          <p:cNvSpPr/>
          <p:nvPr/>
        </p:nvSpPr>
        <p:spPr>
          <a:xfrm>
            <a:off x="587520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val 171"/>
          <p:cNvSpPr/>
          <p:nvPr/>
        </p:nvSpPr>
        <p:spPr>
          <a:xfrm>
            <a:off x="6266520" y="625464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Line 396"/>
          <p:cNvSpPr/>
          <p:nvPr/>
        </p:nvSpPr>
        <p:spPr>
          <a:xfrm>
            <a:off x="2088720" y="602316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Line 401"/>
          <p:cNvSpPr/>
          <p:nvPr/>
        </p:nvSpPr>
        <p:spPr>
          <a:xfrm flipH="1">
            <a:off x="2427480" y="602172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Line 396"/>
          <p:cNvSpPr/>
          <p:nvPr/>
        </p:nvSpPr>
        <p:spPr>
          <a:xfrm>
            <a:off x="2873520" y="602316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" name="Line 401"/>
          <p:cNvSpPr/>
          <p:nvPr/>
        </p:nvSpPr>
        <p:spPr>
          <a:xfrm flipH="1">
            <a:off x="3267000" y="602172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" name="Line 396"/>
          <p:cNvSpPr/>
          <p:nvPr/>
        </p:nvSpPr>
        <p:spPr>
          <a:xfrm>
            <a:off x="3633840" y="601848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Line 401"/>
          <p:cNvSpPr/>
          <p:nvPr/>
        </p:nvSpPr>
        <p:spPr>
          <a:xfrm flipH="1">
            <a:off x="4027320" y="601704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Line 396"/>
          <p:cNvSpPr/>
          <p:nvPr/>
        </p:nvSpPr>
        <p:spPr>
          <a:xfrm>
            <a:off x="4397760" y="601524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Line 401"/>
          <p:cNvSpPr/>
          <p:nvPr/>
        </p:nvSpPr>
        <p:spPr>
          <a:xfrm flipH="1">
            <a:off x="4791240" y="601380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Line 396"/>
          <p:cNvSpPr/>
          <p:nvPr/>
        </p:nvSpPr>
        <p:spPr>
          <a:xfrm>
            <a:off x="5157000" y="601380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Line 401"/>
          <p:cNvSpPr/>
          <p:nvPr/>
        </p:nvSpPr>
        <p:spPr>
          <a:xfrm flipH="1">
            <a:off x="5517720" y="6012360"/>
            <a:ext cx="219240" cy="22032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Line 396"/>
          <p:cNvSpPr/>
          <p:nvPr/>
        </p:nvSpPr>
        <p:spPr>
          <a:xfrm>
            <a:off x="5936040" y="602100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Line 401"/>
          <p:cNvSpPr/>
          <p:nvPr/>
        </p:nvSpPr>
        <p:spPr>
          <a:xfrm flipH="1">
            <a:off x="6339960" y="601920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Line 401"/>
          <p:cNvSpPr/>
          <p:nvPr/>
        </p:nvSpPr>
        <p:spPr>
          <a:xfrm flipH="1" flipV="1">
            <a:off x="2742840" y="3771360"/>
            <a:ext cx="220680" cy="2188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Line 401"/>
          <p:cNvSpPr/>
          <p:nvPr/>
        </p:nvSpPr>
        <p:spPr>
          <a:xfrm flipV="1">
            <a:off x="1595880" y="374688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" name="Line 401"/>
          <p:cNvSpPr/>
          <p:nvPr/>
        </p:nvSpPr>
        <p:spPr>
          <a:xfrm flipV="1">
            <a:off x="4339440" y="377748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Line 401"/>
          <p:cNvSpPr/>
          <p:nvPr/>
        </p:nvSpPr>
        <p:spPr>
          <a:xfrm flipH="1" flipV="1">
            <a:off x="5481720" y="3778200"/>
            <a:ext cx="220680" cy="21924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0.06771 -0.11713 E">
                                      <p:cBhvr>
                                        <p:cTn id="2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nodeType="clickEffect" fill="hold">
                      <p:stCondLst>
                        <p:cond delay="indefinite"/>
                      </p:stCondLst>
                      <p:childTnLst>
                        <p:par>
                          <p:cTn id="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6588 0.11297 E">
                                      <p:cBhvr>
                                        <p:cTn id="6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-0.01094 0.01621 E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-0.03229 0.05741 E">
                                      <p:cBhvr>
                                        <p:cTn id="9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nodeType="clickEffect" fill="hold">
                      <p:stCondLst>
                        <p:cond delay="indefinite"/>
                      </p:stCondLst>
                      <p:childTnLst>
                        <p:par>
                          <p:cTn id="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nodeType="clickEffect" fill="hold">
                      <p:stCondLst>
                        <p:cond delay="indefinite"/>
                      </p:stCondLst>
                      <p:childTnLst>
                        <p:par>
                          <p:cTn id="1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-0.0056 0.02362 E">
                                      <p:cBhvr>
                                        <p:cTn id="10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98 -0.01505 L 3.125E-006 1.11022E-016 E">
                                      <p:cBhvr>
                                        <p:cTn id="1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nodeType="clickEffect" fill="hold">
                      <p:stCondLst>
                        <p:cond delay="indefinite"/>
                      </p:stCondLst>
                      <p:childTnLst>
                        <p:par>
                          <p:cTn id="1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-0.03229 -0.05741 E">
                                      <p:cBhvr>
                                        <p:cTn id="13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nodeType="clickEffect" fill="hold">
                      <p:stCondLst>
                        <p:cond delay="indefinite"/>
                      </p:stCondLst>
                      <p:childTnLst>
                        <p:par>
                          <p:cTn id="1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3646 0.05741 E">
                                      <p:cBhvr>
                                        <p:cTn id="19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nodeType="clickEffect" fill="hold">
                      <p:stCondLst>
                        <p:cond delay="indefinite"/>
                      </p:stCondLst>
                      <p:childTnLst>
                        <p:par>
                          <p:cTn id="1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nodeType="clickEffect" fill="hold">
                      <p:stCondLst>
                        <p:cond delay="indefinite"/>
                      </p:stCondLst>
                      <p:childTnLst>
                        <p:par>
                          <p:cTn id="2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nodeType="clickEffect" fill="hold">
                      <p:stCondLst>
                        <p:cond delay="indefinite"/>
                      </p:stCondLst>
                      <p:childTnLst>
                        <p:par>
                          <p:cTn id="2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nodeType="clickEffect" fill="hold">
                      <p:stCondLst>
                        <p:cond delay="indefinite"/>
                      </p:stCondLst>
                      <p:childTnLst>
                        <p:par>
                          <p:cTn id="2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3646 -0.06157 E">
                                      <p:cBhvr>
                                        <p:cTn id="2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0.03229 0.05741 E">
                                      <p:cBhvr>
                                        <p:cTn id="2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nodeType="clickEffect" fill="hold">
                      <p:stCondLst>
                        <p:cond delay="indefinite"/>
                      </p:stCondLst>
                      <p:childTnLst>
                        <p:par>
                          <p:cTn id="2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nodeType="clickEffect" fill="hold">
                      <p:stCondLst>
                        <p:cond delay="indefinite"/>
                      </p:stCondLst>
                      <p:childTnLst>
                        <p:par>
                          <p:cTn id="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0.03554 -0.05741 E">
                                      <p:cBhvr>
                                        <p:cTn id="25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nodeType="clickEffect" fill="hold">
                      <p:stCondLst>
                        <p:cond delay="indefinite"/>
                      </p:stCondLst>
                      <p:childTnLst>
                        <p:par>
                          <p:cTn id="2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3646 0.05741 E">
                                      <p:cBhvr>
                                        <p:cTn id="30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nodeType="clickEffect" fill="hold">
                      <p:stCondLst>
                        <p:cond delay="indefinite"/>
                      </p:stCondLst>
                      <p:childTnLst>
                        <p:par>
                          <p:cTn id="3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nodeType="clickEffect" fill="hold">
                      <p:stCondLst>
                        <p:cond delay="indefinite"/>
                      </p:stCondLst>
                      <p:childTnLst>
                        <p:par>
                          <p:cTn id="3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nodeType="clickEffect" fill="hold">
                      <p:stCondLst>
                        <p:cond delay="indefinite"/>
                      </p:stCondLst>
                      <p:childTnLst>
                        <p:par>
                          <p:cTn id="3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nodeType="clickEffect" fill="hold">
                      <p:stCondLst>
                        <p:cond delay="indefinite"/>
                      </p:stCondLst>
                      <p:childTnLst>
                        <p:par>
                          <p:cTn id="3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nodeType="clickEffect" fill="hold">
                      <p:stCondLst>
                        <p:cond delay="indefinite"/>
                      </p:stCondLst>
                      <p:childTnLst>
                        <p:par>
                          <p:cTn id="3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0.03606 -0.05741 E">
                                      <p:cBhvr>
                                        <p:cTn id="3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3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3646 0.05741 E">
                                      <p:cBhvr>
                                        <p:cTn id="3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4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nodeType="with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1.11022E-016 L -0.06446 -0.11782 E">
                                      <p:cBhvr>
                                        <p:cTn id="37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nodeType="clickEffect" fill="hold">
                      <p:stCondLst>
                        <p:cond delay="indefinite"/>
                      </p:stCondLst>
                      <p:childTnLst>
                        <p:par>
                          <p:cTn id="3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nodeType="clickEffect" fill="hold">
                      <p:stCondLst>
                        <p:cond delay="indefinite"/>
                      </p:stCondLst>
                      <p:childTnLst>
                        <p:par>
                          <p:cTn id="4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0.03646 0.05741 E">
                                      <p:cBhvr>
                                        <p:cTn id="40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nodeType="clickEffect" fill="hold">
                      <p:stCondLst>
                        <p:cond delay="indefinite"/>
                      </p:stCondLst>
                      <p:childTnLst>
                        <p:par>
                          <p:cTn id="4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nodeType="clickEffect" fill="hold">
                      <p:stCondLst>
                        <p:cond delay="indefinite"/>
                      </p:stCondLst>
                      <p:childTnLst>
                        <p:par>
                          <p:cTn id="4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nodeType="clickEffect" fill="hold">
                      <p:stCondLst>
                        <p:cond delay="indefinite"/>
                      </p:stCondLst>
                      <p:childTnLst>
                        <p:par>
                          <p:cTn id="4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22" nodeType="after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46 0.05741 L 0.00351 -4.44444E-006 E">
                                      <p:cBhvr>
                                        <p:cTn id="4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2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nodeType="clickEffect" fill="hold">
                      <p:stCondLst>
                        <p:cond delay="indefinite"/>
                      </p:stCondLst>
                      <p:childTnLst>
                        <p:par>
                          <p:cTn id="4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4.44444E-006 L -0.06446 0.11459 E">
                                      <p:cBhvr>
                                        <p:cTn id="4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nodeType="clickEffect" fill="hold">
                      <p:stCondLst>
                        <p:cond delay="indefinite"/>
                      </p:stCondLst>
                      <p:childTnLst>
                        <p:par>
                          <p:cTn id="4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nodeType="clickEffect" fill="hold">
                      <p:stCondLst>
                        <p:cond delay="indefinite"/>
                      </p:stCondLst>
                      <p:childTnLst>
                        <p:par>
                          <p:cTn id="4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nodeType="clickEffect" fill="hold">
                      <p:stCondLst>
                        <p:cond delay="indefinite"/>
                      </p:stCondLst>
                      <p:childTnLst>
                        <p:par>
                          <p:cTn id="4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nodeType="clickEffect" fill="hold">
                      <p:stCondLst>
                        <p:cond delay="indefinite"/>
                      </p:stCondLst>
                      <p:childTnLst>
                        <p:par>
                          <p:cTn id="4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8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65" nodeType="after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46 0.11459 L 0.00351 -4.44444E-006 E">
                                      <p:cBhvr>
                                        <p:cTn id="4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7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54 -0.11713 L 0.00351 1.11022E-016 E">
                                      <p:cBhvr>
                                        <p:cTn id="4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7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nodeType="clickEffect" fill="hold">
                      <p:stCondLst>
                        <p:cond delay="indefinite"/>
                      </p:stCondLst>
                      <p:childTnLst>
                        <p:par>
                          <p:cTn id="4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nodeType="clickEffect" fill="hold">
                      <p:stCondLst>
                        <p:cond delay="indefinite"/>
                      </p:stCondLst>
                      <p:childTnLst>
                        <p:par>
                          <p:cTn id="4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Expectiminimax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828800" y="1219320"/>
            <a:ext cx="8610120" cy="2242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Many games contain one or more random elements: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-18288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Monopoly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-18288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Backgammon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-18288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Card Games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For games of this type, we can use </a:t>
            </a:r>
            <a:r>
              <a:rPr b="1" lang="en-US" sz="2000" spc="-1" strike="noStrike">
                <a:solidFill>
                  <a:srgbClr val="00ff00"/>
                </a:solidFill>
                <a:latin typeface="Arial Regular"/>
              </a:rPr>
              <a:t>chance nodes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to predict gameplay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by finding </a:t>
            </a:r>
            <a:r>
              <a:rPr b="1" lang="en-US" sz="2000" spc="-1" strike="noStrike">
                <a:solidFill>
                  <a:srgbClr val="00ff00"/>
                </a:solidFill>
                <a:latin typeface="Arial Regular"/>
              </a:rPr>
              <a:t>expectimax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and </a:t>
            </a:r>
            <a:r>
              <a:rPr b="1" lang="en-US" sz="2000" spc="-1" strike="noStrike">
                <a:solidFill>
                  <a:srgbClr val="00ff00"/>
                </a:solidFill>
                <a:latin typeface="Arial Regular"/>
              </a:rPr>
              <a:t>expectimin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values.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122" name="Line 4"/>
          <p:cNvSpPr/>
          <p:nvPr/>
        </p:nvSpPr>
        <p:spPr>
          <a:xfrm flipH="1">
            <a:off x="4267080" y="4125240"/>
            <a:ext cx="243828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23" name="Line 69"/>
          <p:cNvSpPr/>
          <p:nvPr/>
        </p:nvSpPr>
        <p:spPr>
          <a:xfrm>
            <a:off x="6705360" y="4125240"/>
            <a:ext cx="297180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24" name="Line 124"/>
          <p:cNvSpPr/>
          <p:nvPr/>
        </p:nvSpPr>
        <p:spPr>
          <a:xfrm flipV="1">
            <a:off x="3886200" y="5191920"/>
            <a:ext cx="228600" cy="91440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25" name="Text Box 191"/>
          <p:cNvSpPr/>
          <p:nvPr/>
        </p:nvSpPr>
        <p:spPr>
          <a:xfrm>
            <a:off x="1752480" y="4835520"/>
            <a:ext cx="243792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Expectimax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Box 192"/>
          <p:cNvSpPr/>
          <p:nvPr/>
        </p:nvSpPr>
        <p:spPr>
          <a:xfrm>
            <a:off x="1752480" y="3768840"/>
            <a:ext cx="6629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Die Roll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Picture 194" descr="MCj01163540000[1]"/>
          <p:cNvPicPr/>
          <p:nvPr/>
        </p:nvPicPr>
        <p:blipFill>
          <a:blip r:embed="rId1"/>
          <a:stretch/>
        </p:blipFill>
        <p:spPr>
          <a:xfrm>
            <a:off x="8370000" y="3221280"/>
            <a:ext cx="1775880" cy="88560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195" descr="MCBD19693_0000[1]"/>
          <p:cNvPicPr/>
          <p:nvPr/>
        </p:nvPicPr>
        <p:blipFill>
          <a:blip r:embed="rId2"/>
          <a:stretch/>
        </p:blipFill>
        <p:spPr>
          <a:xfrm>
            <a:off x="8407440" y="1192680"/>
            <a:ext cx="1625400" cy="1287000"/>
          </a:xfrm>
          <a:prstGeom prst="rect">
            <a:avLst/>
          </a:prstGeom>
          <a:ln w="0">
            <a:noFill/>
          </a:ln>
        </p:spPr>
      </p:pic>
      <p:sp>
        <p:nvSpPr>
          <p:cNvPr id="129" name="Text Box 198"/>
          <p:cNvSpPr/>
          <p:nvPr/>
        </p:nvSpPr>
        <p:spPr>
          <a:xfrm>
            <a:off x="1752480" y="5978520"/>
            <a:ext cx="27428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Evaluation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Line 4"/>
          <p:cNvSpPr/>
          <p:nvPr/>
        </p:nvSpPr>
        <p:spPr>
          <a:xfrm flipH="1">
            <a:off x="5410080" y="4125240"/>
            <a:ext cx="129528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31" name="Line 4"/>
          <p:cNvSpPr/>
          <p:nvPr/>
        </p:nvSpPr>
        <p:spPr>
          <a:xfrm flipH="1">
            <a:off x="6400800" y="4125240"/>
            <a:ext cx="30456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32" name="Line 4"/>
          <p:cNvSpPr/>
          <p:nvPr/>
        </p:nvSpPr>
        <p:spPr>
          <a:xfrm>
            <a:off x="6705360" y="4125240"/>
            <a:ext cx="99072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33" name="Line 69"/>
          <p:cNvSpPr/>
          <p:nvPr/>
        </p:nvSpPr>
        <p:spPr>
          <a:xfrm>
            <a:off x="6705360" y="4125240"/>
            <a:ext cx="2057400" cy="7621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34" name="Rectangle 67"/>
          <p:cNvSpPr/>
          <p:nvPr/>
        </p:nvSpPr>
        <p:spPr>
          <a:xfrm>
            <a:off x="5257800" y="412560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 68"/>
          <p:cNvSpPr/>
          <p:nvPr/>
        </p:nvSpPr>
        <p:spPr>
          <a:xfrm>
            <a:off x="5943600" y="443016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69"/>
          <p:cNvSpPr/>
          <p:nvPr/>
        </p:nvSpPr>
        <p:spPr>
          <a:xfrm>
            <a:off x="6477120" y="443016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 70"/>
          <p:cNvSpPr/>
          <p:nvPr/>
        </p:nvSpPr>
        <p:spPr>
          <a:xfrm>
            <a:off x="6934320" y="443016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 71"/>
          <p:cNvSpPr/>
          <p:nvPr/>
        </p:nvSpPr>
        <p:spPr>
          <a:xfrm>
            <a:off x="7543800" y="443016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 72"/>
          <p:cNvSpPr/>
          <p:nvPr/>
        </p:nvSpPr>
        <p:spPr>
          <a:xfrm>
            <a:off x="8001000" y="4125600"/>
            <a:ext cx="376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Arial Unicode MS"/>
              </a:rPr>
              <a:t>⅙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Line 4"/>
          <p:cNvSpPr/>
          <p:nvPr/>
        </p:nvSpPr>
        <p:spPr>
          <a:xfrm flipH="1">
            <a:off x="396216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1" name="Oval 15"/>
          <p:cNvSpPr/>
          <p:nvPr/>
        </p:nvSpPr>
        <p:spPr>
          <a:xfrm>
            <a:off x="380988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2" name="Oval 15"/>
          <p:cNvSpPr/>
          <p:nvPr/>
        </p:nvSpPr>
        <p:spPr>
          <a:xfrm>
            <a:off x="419112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3" name="Line 4"/>
          <p:cNvSpPr/>
          <p:nvPr/>
        </p:nvSpPr>
        <p:spPr>
          <a:xfrm>
            <a:off x="4190760" y="5191920"/>
            <a:ext cx="15264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4" name="Text Box 181"/>
          <p:cNvSpPr/>
          <p:nvPr/>
        </p:nvSpPr>
        <p:spPr>
          <a:xfrm>
            <a:off x="3581280" y="5420880"/>
            <a:ext cx="609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dk1"/>
                </a:solidFill>
                <a:latin typeface="Garamond"/>
              </a:rPr>
              <a:t>Buy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Box 181"/>
          <p:cNvSpPr/>
          <p:nvPr/>
        </p:nvSpPr>
        <p:spPr>
          <a:xfrm>
            <a:off x="4267080" y="5649480"/>
            <a:ext cx="68544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Line 4"/>
          <p:cNvSpPr/>
          <p:nvPr/>
        </p:nvSpPr>
        <p:spPr>
          <a:xfrm flipH="1">
            <a:off x="617220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7" name="Oval 15"/>
          <p:cNvSpPr/>
          <p:nvPr/>
        </p:nvSpPr>
        <p:spPr>
          <a:xfrm>
            <a:off x="640080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8" name="Line 4"/>
          <p:cNvSpPr/>
          <p:nvPr/>
        </p:nvSpPr>
        <p:spPr>
          <a:xfrm>
            <a:off x="6400800" y="5191920"/>
            <a:ext cx="15228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49" name="Text Box 181"/>
          <p:cNvSpPr/>
          <p:nvPr/>
        </p:nvSpPr>
        <p:spPr>
          <a:xfrm>
            <a:off x="5791320" y="5420880"/>
            <a:ext cx="53316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Buy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Box 181"/>
          <p:cNvSpPr/>
          <p:nvPr/>
        </p:nvSpPr>
        <p:spPr>
          <a:xfrm>
            <a:off x="6477120" y="5649480"/>
            <a:ext cx="68544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Line 4"/>
          <p:cNvSpPr/>
          <p:nvPr/>
        </p:nvSpPr>
        <p:spPr>
          <a:xfrm flipH="1">
            <a:off x="746748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52" name="Oval 15"/>
          <p:cNvSpPr/>
          <p:nvPr/>
        </p:nvSpPr>
        <p:spPr>
          <a:xfrm>
            <a:off x="769608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53" name="Line 4"/>
          <p:cNvSpPr/>
          <p:nvPr/>
        </p:nvSpPr>
        <p:spPr>
          <a:xfrm>
            <a:off x="7696080" y="5191920"/>
            <a:ext cx="15228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54" name="Text Box 181"/>
          <p:cNvSpPr/>
          <p:nvPr/>
        </p:nvSpPr>
        <p:spPr>
          <a:xfrm>
            <a:off x="7086600" y="5420880"/>
            <a:ext cx="53316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Buy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Box 181"/>
          <p:cNvSpPr/>
          <p:nvPr/>
        </p:nvSpPr>
        <p:spPr>
          <a:xfrm>
            <a:off x="7772400" y="5649480"/>
            <a:ext cx="68544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Line 4"/>
          <p:cNvSpPr/>
          <p:nvPr/>
        </p:nvSpPr>
        <p:spPr>
          <a:xfrm flipH="1">
            <a:off x="952488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57" name="Oval 15"/>
          <p:cNvSpPr/>
          <p:nvPr/>
        </p:nvSpPr>
        <p:spPr>
          <a:xfrm>
            <a:off x="937260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58" name="Text Box 181"/>
          <p:cNvSpPr/>
          <p:nvPr/>
        </p:nvSpPr>
        <p:spPr>
          <a:xfrm>
            <a:off x="9601200" y="542088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+80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Line 4"/>
          <p:cNvSpPr/>
          <p:nvPr/>
        </p:nvSpPr>
        <p:spPr>
          <a:xfrm flipH="1">
            <a:off x="518148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60" name="Oval 15"/>
          <p:cNvSpPr/>
          <p:nvPr/>
        </p:nvSpPr>
        <p:spPr>
          <a:xfrm>
            <a:off x="502920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61" name="Text Box 181"/>
          <p:cNvSpPr/>
          <p:nvPr/>
        </p:nvSpPr>
        <p:spPr>
          <a:xfrm>
            <a:off x="5257800" y="5420880"/>
            <a:ext cx="609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-20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Line 4"/>
          <p:cNvSpPr/>
          <p:nvPr/>
        </p:nvSpPr>
        <p:spPr>
          <a:xfrm flipH="1">
            <a:off x="8534160" y="5191920"/>
            <a:ext cx="228600" cy="83844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63" name="Oval 15"/>
          <p:cNvSpPr/>
          <p:nvPr/>
        </p:nvSpPr>
        <p:spPr>
          <a:xfrm>
            <a:off x="838188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64" name="Text Box 181"/>
          <p:cNvSpPr/>
          <p:nvPr/>
        </p:nvSpPr>
        <p:spPr>
          <a:xfrm>
            <a:off x="8534520" y="5649480"/>
            <a:ext cx="68544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Box 181"/>
          <p:cNvSpPr/>
          <p:nvPr/>
        </p:nvSpPr>
        <p:spPr>
          <a:xfrm>
            <a:off x="373392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Box 181"/>
          <p:cNvSpPr/>
          <p:nvPr/>
        </p:nvSpPr>
        <p:spPr>
          <a:xfrm>
            <a:off x="411480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160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Box 181"/>
          <p:cNvSpPr/>
          <p:nvPr/>
        </p:nvSpPr>
        <p:spPr>
          <a:xfrm>
            <a:off x="929628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240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Box 181"/>
          <p:cNvSpPr/>
          <p:nvPr/>
        </p:nvSpPr>
        <p:spPr>
          <a:xfrm>
            <a:off x="632448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160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Box 181"/>
          <p:cNvSpPr/>
          <p:nvPr/>
        </p:nvSpPr>
        <p:spPr>
          <a:xfrm>
            <a:off x="762012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160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Box 181"/>
          <p:cNvSpPr/>
          <p:nvPr/>
        </p:nvSpPr>
        <p:spPr>
          <a:xfrm>
            <a:off x="830592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160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Box 181"/>
          <p:cNvSpPr/>
          <p:nvPr/>
        </p:nvSpPr>
        <p:spPr>
          <a:xfrm>
            <a:off x="495288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140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Line 124"/>
          <p:cNvSpPr/>
          <p:nvPr/>
        </p:nvSpPr>
        <p:spPr>
          <a:xfrm flipV="1">
            <a:off x="6095880" y="5191920"/>
            <a:ext cx="228600" cy="91440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3" name="Line 124"/>
          <p:cNvSpPr/>
          <p:nvPr/>
        </p:nvSpPr>
        <p:spPr>
          <a:xfrm flipV="1">
            <a:off x="9448560" y="5191920"/>
            <a:ext cx="228600" cy="83844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4" name="Line 124"/>
          <p:cNvSpPr/>
          <p:nvPr/>
        </p:nvSpPr>
        <p:spPr>
          <a:xfrm flipV="1">
            <a:off x="5105160" y="5191920"/>
            <a:ext cx="228600" cy="83844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5" name="Line 124"/>
          <p:cNvSpPr/>
          <p:nvPr/>
        </p:nvSpPr>
        <p:spPr>
          <a:xfrm flipV="1">
            <a:off x="8458200" y="5191920"/>
            <a:ext cx="228600" cy="83844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6" name="Line 124"/>
          <p:cNvSpPr/>
          <p:nvPr/>
        </p:nvSpPr>
        <p:spPr>
          <a:xfrm flipV="1">
            <a:off x="7391160" y="5191920"/>
            <a:ext cx="228600" cy="91440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7" name="Text Box 181"/>
          <p:cNvSpPr/>
          <p:nvPr/>
        </p:nvSpPr>
        <p:spPr>
          <a:xfrm>
            <a:off x="9906120" y="4887360"/>
            <a:ext cx="761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(CC)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Oval 15"/>
          <p:cNvSpPr/>
          <p:nvPr/>
        </p:nvSpPr>
        <p:spPr>
          <a:xfrm>
            <a:off x="403848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79" name="Oval 15"/>
          <p:cNvSpPr/>
          <p:nvPr/>
        </p:nvSpPr>
        <p:spPr>
          <a:xfrm>
            <a:off x="525780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80" name="Oval 15"/>
          <p:cNvSpPr/>
          <p:nvPr/>
        </p:nvSpPr>
        <p:spPr>
          <a:xfrm>
            <a:off x="624852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81" name="Oval 15"/>
          <p:cNvSpPr/>
          <p:nvPr/>
        </p:nvSpPr>
        <p:spPr>
          <a:xfrm>
            <a:off x="754380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82" name="Oval 15"/>
          <p:cNvSpPr/>
          <p:nvPr/>
        </p:nvSpPr>
        <p:spPr>
          <a:xfrm>
            <a:off x="861048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83" name="Oval 15"/>
          <p:cNvSpPr/>
          <p:nvPr/>
        </p:nvSpPr>
        <p:spPr>
          <a:xfrm>
            <a:off x="9601200" y="4887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84" name="Text Box 181"/>
          <p:cNvSpPr/>
          <p:nvPr/>
        </p:nvSpPr>
        <p:spPr>
          <a:xfrm>
            <a:off x="8915400" y="4887360"/>
            <a:ext cx="6854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(RR)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Box 181"/>
          <p:cNvSpPr/>
          <p:nvPr/>
        </p:nvSpPr>
        <p:spPr>
          <a:xfrm>
            <a:off x="7848720" y="4887360"/>
            <a:ext cx="6854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Box 181"/>
          <p:cNvSpPr/>
          <p:nvPr/>
        </p:nvSpPr>
        <p:spPr>
          <a:xfrm>
            <a:off x="6553080" y="4887360"/>
            <a:ext cx="8377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(SA)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Box 181"/>
          <p:cNvSpPr/>
          <p:nvPr/>
        </p:nvSpPr>
        <p:spPr>
          <a:xfrm>
            <a:off x="5562720" y="4887360"/>
            <a:ext cx="609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(EC)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Box 181"/>
          <p:cNvSpPr/>
          <p:nvPr/>
        </p:nvSpPr>
        <p:spPr>
          <a:xfrm>
            <a:off x="4343400" y="4887360"/>
            <a:ext cx="761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(StC)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Box 181"/>
          <p:cNvSpPr/>
          <p:nvPr/>
        </p:nvSpPr>
        <p:spPr>
          <a:xfrm>
            <a:off x="396252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Box 181"/>
          <p:cNvSpPr/>
          <p:nvPr/>
        </p:nvSpPr>
        <p:spPr>
          <a:xfrm>
            <a:off x="518148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140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Box 181"/>
          <p:cNvSpPr/>
          <p:nvPr/>
        </p:nvSpPr>
        <p:spPr>
          <a:xfrm>
            <a:off x="617220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Box 181"/>
          <p:cNvSpPr/>
          <p:nvPr/>
        </p:nvSpPr>
        <p:spPr>
          <a:xfrm>
            <a:off x="746748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Box 181"/>
          <p:cNvSpPr/>
          <p:nvPr/>
        </p:nvSpPr>
        <p:spPr>
          <a:xfrm>
            <a:off x="853452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160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Box 181"/>
          <p:cNvSpPr/>
          <p:nvPr/>
        </p:nvSpPr>
        <p:spPr>
          <a:xfrm>
            <a:off x="9524880" y="4887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240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 77"/>
          <p:cNvSpPr/>
          <p:nvPr/>
        </p:nvSpPr>
        <p:spPr>
          <a:xfrm>
            <a:off x="6400800" y="3820680"/>
            <a:ext cx="609120" cy="318600"/>
          </a:xfrm>
          <a:prstGeom prst="rect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96" name="Text Box 181"/>
          <p:cNvSpPr/>
          <p:nvPr/>
        </p:nvSpPr>
        <p:spPr>
          <a:xfrm>
            <a:off x="6400800" y="3744360"/>
            <a:ext cx="7617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185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Box 181"/>
          <p:cNvSpPr/>
          <p:nvPr/>
        </p:nvSpPr>
        <p:spPr>
          <a:xfrm>
            <a:off x="7010280" y="3744360"/>
            <a:ext cx="106632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</a:rPr>
              <a:t>(Jail)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Oval 15"/>
          <p:cNvSpPr/>
          <p:nvPr/>
        </p:nvSpPr>
        <p:spPr>
          <a:xfrm>
            <a:off x="731520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199" name="Text Box 181"/>
          <p:cNvSpPr/>
          <p:nvPr/>
        </p:nvSpPr>
        <p:spPr>
          <a:xfrm>
            <a:off x="723888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Oval 15"/>
          <p:cNvSpPr/>
          <p:nvPr/>
        </p:nvSpPr>
        <p:spPr>
          <a:xfrm>
            <a:off x="6019920" y="6030360"/>
            <a:ext cx="320400" cy="3204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70fbdf">
                <a:lumMod val="40000"/>
                <a:lumOff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201" name="Text Box 181"/>
          <p:cNvSpPr/>
          <p:nvPr/>
        </p:nvSpPr>
        <p:spPr>
          <a:xfrm>
            <a:off x="5943600" y="6030360"/>
            <a:ext cx="5331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190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Box 181"/>
          <p:cNvSpPr/>
          <p:nvPr/>
        </p:nvSpPr>
        <p:spPr>
          <a:xfrm>
            <a:off x="3551400" y="5445360"/>
            <a:ext cx="53316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Buy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2" dur="indefinite" restart="never" nodeType="tmRoot">
          <p:childTnLst>
            <p:seq>
              <p:cTn id="493" dur="indefinite" nodeType="mainSeq">
                <p:childTnLst>
                  <p:par>
                    <p:cTn id="494" nodeType="clickEffect" fill="hold">
                      <p:stCondLst>
                        <p:cond delay="indefinite"/>
                      </p:stCondLst>
                      <p:childTnLst>
                        <p:par>
                          <p:cTn id="4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8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nodeType="clickEffect" fill="hold">
                      <p:stCondLst>
                        <p:cond delay="indefinite"/>
                      </p:stCondLst>
                      <p:childTnLst>
                        <p:par>
                          <p:cTn id="5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3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nodeType="clickEffect" fill="hold">
                      <p:stCondLst>
                        <p:cond delay="indefinite"/>
                      </p:stCondLst>
                      <p:childTnLst>
                        <p:par>
                          <p:cTn id="5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8" dur="5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nodeType="clickEffect" fill="hold">
                      <p:stCondLst>
                        <p:cond delay="indefinite"/>
                      </p:stCondLst>
                      <p:childTnLst>
                        <p:par>
                          <p:cTn id="5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3" dur="500"/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nodeType="clickEffect" fill="hold">
                      <p:stCondLst>
                        <p:cond delay="indefinite"/>
                      </p:stCondLst>
                      <p:childTnLst>
                        <p:par>
                          <p:cTn id="5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8" dur="500"/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1" dur="500"/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nodeType="clickEffect" fill="hold">
                      <p:stCondLst>
                        <p:cond delay="indefinite"/>
                      </p:stCondLst>
                      <p:childTnLst>
                        <p:par>
                          <p:cTn id="5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nodeType="clickEffect" fill="hold">
                      <p:stCondLst>
                        <p:cond delay="indefinite"/>
                      </p:stCondLst>
                      <p:childTnLst>
                        <p:par>
                          <p:cTn id="5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nodeType="clickEffect" fill="hold">
                      <p:stCondLst>
                        <p:cond delay="indefinite"/>
                      </p:stCondLst>
                      <p:childTnLst>
                        <p:par>
                          <p:cTn id="5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nodeType="clickEffect" fill="hold">
                      <p:stCondLst>
                        <p:cond delay="indefinite"/>
                      </p:stCondLst>
                      <p:childTnLst>
                        <p:par>
                          <p:cTn id="5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nodeType="clickEffect" fill="hold">
                      <p:stCondLst>
                        <p:cond delay="indefinite"/>
                      </p:stCondLst>
                      <p:childTnLst>
                        <p:par>
                          <p:cTn id="6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nodeType="clickEffect" fill="hold">
                      <p:stCondLst>
                        <p:cond delay="indefinite"/>
                      </p:stCondLst>
                      <p:childTnLst>
                        <p:par>
                          <p:cTn id="6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nodeType="clickEffect" fill="hold">
                      <p:stCondLst>
                        <p:cond delay="indefinite"/>
                      </p:stCondLst>
                      <p:childTnLst>
                        <p:par>
                          <p:cTn id="6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nodeType="clickEffect" fill="hold">
                      <p:stCondLst>
                        <p:cond delay="indefinite"/>
                      </p:stCondLst>
                      <p:childTnLst>
                        <p:par>
                          <p:cTn id="6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nodeType="clickEffect" fill="hold">
                      <p:stCondLst>
                        <p:cond delay="indefinite"/>
                      </p:stCondLst>
                      <p:childTnLst>
                        <p:par>
                          <p:cTn id="6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nodeType="clickEffect" fill="hold">
                      <p:stCondLst>
                        <p:cond delay="indefinite"/>
                      </p:stCondLst>
                      <p:childTnLst>
                        <p:par>
                          <p:cTn id="6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nodeType="clickEffect" fill="hold">
                      <p:stCondLst>
                        <p:cond delay="indefinite"/>
                      </p:stCondLst>
                      <p:childTnLst>
                        <p:par>
                          <p:cTn id="6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nodeType="clickEffect" fill="hold">
                      <p:stCondLst>
                        <p:cond delay="indefinite"/>
                      </p:stCondLst>
                      <p:childTnLst>
                        <p:par>
                          <p:cTn id="6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nodeType="clickEffect" fill="hold">
                      <p:stCondLst>
                        <p:cond delay="indefinite"/>
                      </p:stCondLst>
                      <p:childTnLst>
                        <p:par>
                          <p:cTn id="7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nodeType="clickEffect" fill="hold">
                      <p:stCondLst>
                        <p:cond delay="indefinite"/>
                      </p:stCondLst>
                      <p:childTnLst>
                        <p:par>
                          <p:cTn id="7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nodeType="clickEffect" fill="hold">
                      <p:stCondLst>
                        <p:cond delay="indefinite"/>
                      </p:stCondLst>
                      <p:childTnLst>
                        <p:par>
                          <p:cTn id="7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nodeType="clickEffect" fill="hold">
                      <p:stCondLst>
                        <p:cond delay="indefinite"/>
                      </p:stCondLst>
                      <p:childTnLst>
                        <p:par>
                          <p:cTn id="7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6" nodeType="clickEffect" fill="hold">
                      <p:stCondLst>
                        <p:cond delay="indefinite"/>
                      </p:stCondLst>
                      <p:childTnLst>
                        <p:par>
                          <p:cTn id="7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nodeType="clickEffect" fill="hold">
                      <p:stCondLst>
                        <p:cond delay="indefinite"/>
                      </p:stCondLst>
                      <p:childTnLst>
                        <p:par>
                          <p:cTn id="7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nodeType="clickEffect" fill="hold">
                      <p:stCondLst>
                        <p:cond delay="indefinite"/>
                      </p:stCondLst>
                      <p:childTnLst>
                        <p:par>
                          <p:cTn id="7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nodeType="clickEffect" fill="hold">
                      <p:stCondLst>
                        <p:cond delay="indefinite"/>
                      </p:stCondLst>
                      <p:childTnLst>
                        <p:par>
                          <p:cTn id="7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0" nodeType="clickEffect" fill="hold">
                      <p:stCondLst>
                        <p:cond delay="indefinite"/>
                      </p:stCondLst>
                      <p:childTnLst>
                        <p:par>
                          <p:cTn id="8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0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981080" y="28332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Expectiminimax Problems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88240" y="2223360"/>
            <a:ext cx="10281240" cy="3628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Drawbacks of Expectiminimax: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Tree grows even faster than Minimax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Many games are actually psychological (Poker)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Results can vary as based on move that is “likely” good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Expectiminimax works best when going only a few ply deep.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205" name="Picture 50" descr="MCj04338180000[1]"/>
          <p:cNvPicPr/>
          <p:nvPr/>
        </p:nvPicPr>
        <p:blipFill>
          <a:blip r:embed="rId1"/>
          <a:stretch/>
        </p:blipFill>
        <p:spPr>
          <a:xfrm>
            <a:off x="8871120" y="1438560"/>
            <a:ext cx="1828440" cy="182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5" dur="indefinite" restart="never" nodeType="tmRoot">
          <p:childTnLst>
            <p:seq>
              <p:cTn id="806" dur="indefinite" nodeType="mainSeq">
                <p:childTnLst>
                  <p:par>
                    <p:cTn id="807" nodeType="clickEffect" fill="hold">
                      <p:stCondLst>
                        <p:cond delay="indefinite"/>
                      </p:stCondLst>
                      <p:childTnLst>
                        <p:par>
                          <p:cTn id="8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11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nodeType="clickEffect" fill="hold">
                      <p:stCondLst>
                        <p:cond delay="indefinite"/>
                      </p:stCondLst>
                      <p:childTnLst>
                        <p:par>
                          <p:cTn id="8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16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nodeType="clickEffect" fill="hold">
                      <p:stCondLst>
                        <p:cond delay="indefinite"/>
                      </p:stCondLst>
                      <p:childTnLst>
                        <p:par>
                          <p:cTn id="8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21" dur="500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2" nodeType="clickEffect" fill="hold">
                      <p:stCondLst>
                        <p:cond delay="indefinite"/>
                      </p:stCondLst>
                      <p:childTnLst>
                        <p:par>
                          <p:cTn id="8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26" dur="500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nodeType="clickEffect" fill="hold">
                      <p:stCondLst>
                        <p:cond delay="indefinite"/>
                      </p:stCondLst>
                      <p:childTnLst>
                        <p:par>
                          <p:cTn id="8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1" dur="500"/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4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664</TotalTime>
  <Application>LibreOffice/24.2.7.2$Linux_X86_64 LibreOffice_project/420$Build-2</Application>
  <AppVersion>15.0000</AppVersion>
  <Words>218</Words>
  <Paragraphs>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2025-10-30T08:28:16Z</dcterms:modified>
  <cp:revision>120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3</vt:i4>
  </property>
  <property fmtid="{D5CDD505-2E9C-101B-9397-08002B2CF9AE}" pid="8" name="PresentationFormat">
    <vt:lpwstr>Widescreen</vt:lpwstr>
  </property>
  <property fmtid="{D5CDD505-2E9C-101B-9397-08002B2CF9AE}" pid="9" name="Slides">
    <vt:i4>5</vt:i4>
  </property>
</Properties>
</file>