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svg" ContentType="image/svg"/>
  <Override PartName="/ppt/media/image6.wmf" ContentType="image/x-wmf"/>
  <Override PartName="/ppt/media/image10.wmf" ContentType="image/x-wmf"/>
  <Override PartName="/ppt/media/image11.png" ContentType="image/png"/>
  <Override PartName="/ppt/media/image5.wmf" ContentType="image/x-wmf"/>
  <Override PartName="/ppt/media/image7.wmf" ContentType="image/x-wmf"/>
  <Override PartName="/ppt/media/image8.wmf" ContentType="image/x-wmf"/>
  <Override PartName="/ppt/media/image9.wmf" ContentType="image/x-wm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Noto Serif CJK JP"/>
              </a:defRPr>
            </a:lvl1pPr>
          </a:lstStyle>
          <a:p>
            <a:pPr indent="0" algn="r">
              <a:buNone/>
            </a:pPr>
            <a:fld id="{E6213058-BE6A-4D43-BA72-EA3AFD7A5C80}" type="slidenum">
              <a:rPr b="0" lang="en-US" sz="1400" spc="-1" strike="noStrike">
                <a:solidFill>
                  <a:srgbClr val="000000"/>
                </a:solidFill>
                <a:latin typeface="Noto Serif CJK JP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38FDDF-1D49-40F2-8AB3-3F379DEFF240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BB5DB5-AF4E-425C-8E0B-1F602BF5B53D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8F3ACA-7F14-493B-B922-52FF21D6BAF8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5B952E-0C26-4C98-AD7D-099DCFFC7C29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97F7C8-41FE-4B71-BDA5-A65F4C0CBC62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855289-7236-4AE1-9598-BB4EA04FA789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 u="sng">
                <a:solidFill>
                  <a:srgbClr val="00ff00"/>
                </a:solidFill>
                <a:uFillTx/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4C1610-10B5-4984-BA56-70C9F78494BA}" type="slidenum">
              <a:rPr b="0" lang="en-US" sz="1200" spc="-1" strike="noStrike" u="sng">
                <a:solidFill>
                  <a:srgbClr val="00ff00"/>
                </a:solidFill>
                <a:uFillTx/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879120" y="4998960"/>
            <a:ext cx="10433160" cy="4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Garamond"/>
              </a:rPr>
              <a:t>Finding Solutions to Intractable Problems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36200" y="1526760"/>
            <a:ext cx="1071900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66"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60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" name="Graphic 9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371600" y="2440080"/>
            <a:ext cx="8942040" cy="223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8720" y="555480"/>
            <a:ext cx="11253960" cy="69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1447200" y="1474560"/>
            <a:ext cx="9250560" cy="4987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ffffff"/>
                </a:solidFill>
                <a:latin typeface="Arial Regular"/>
              </a:rPr>
              <a:t>Genetic Algorithms use models of biological evolution to solve problems.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100" spc="-1" strike="noStrike" u="sng">
                <a:solidFill>
                  <a:srgbClr val="ffffff"/>
                </a:solidFill>
                <a:uFillTx/>
                <a:latin typeface="Arial Regular"/>
              </a:rPr>
              <a:t>Genetic Algorithms work best for: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00ff00"/>
                </a:solidFill>
                <a:latin typeface="Arial Regular"/>
              </a:rPr>
              <a:t>Intractable</a:t>
            </a:r>
            <a:r>
              <a:rPr b="0" lang="en-US" sz="2100" spc="-1" strike="noStrike">
                <a:solidFill>
                  <a:srgbClr val="ffffff"/>
                </a:solidFill>
                <a:latin typeface="Arial Regular"/>
              </a:rPr>
              <a:t> (exponential) problems or ones with large state spaces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100" spc="-1" strike="noStrike">
                <a:solidFill>
                  <a:srgbClr val="ffffff"/>
                </a:solidFill>
                <a:latin typeface="Arial Regular"/>
              </a:rPr>
              <a:t>Problems with many solutions that may be improved over time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100" spc="-1" strike="noStrike">
                <a:solidFill>
                  <a:srgbClr val="ffffff"/>
                </a:solidFill>
                <a:latin typeface="Arial Regular"/>
              </a:rPr>
              <a:t>Problems for which a suboptimal answer is sufficient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100" spc="-1" strike="noStrike">
                <a:solidFill>
                  <a:srgbClr val="ffffff"/>
                </a:solidFill>
                <a:latin typeface="Arial Regular"/>
              </a:rPr>
              <a:t>Applications which are time-limited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100" spc="-1" strike="noStrike" u="sng">
                <a:solidFill>
                  <a:srgbClr val="ffffff"/>
                </a:solidFill>
                <a:uFillTx/>
                <a:latin typeface="Arial Regular"/>
              </a:rPr>
              <a:t>In general, Genetic Algorithms are: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ffffff"/>
                </a:solidFill>
                <a:latin typeface="Arial Regular"/>
              </a:rPr>
              <a:t>Not Systematic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ffffff"/>
                </a:solidFill>
                <a:latin typeface="Arial Regular"/>
              </a:rPr>
              <a:t>Informed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ffffff"/>
                </a:solidFill>
                <a:latin typeface="Arial Regular"/>
              </a:rPr>
              <a:t>Not Optimal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ffffff"/>
                </a:solidFill>
                <a:latin typeface="Arial Regular"/>
              </a:rPr>
              <a:t>Not Complete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100" spc="-1" strike="noStrike">
                <a:solidFill>
                  <a:srgbClr val="ffffff"/>
                </a:solidFill>
                <a:latin typeface="Arial Regular"/>
              </a:rPr>
              <a:t>Not Exhaustive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" name="Picture 22" descr="MCj01314690000[1]"/>
          <p:cNvPicPr/>
          <p:nvPr/>
        </p:nvPicPr>
        <p:blipFill>
          <a:blip r:embed="rId1"/>
          <a:stretch/>
        </p:blipFill>
        <p:spPr>
          <a:xfrm flipH="1">
            <a:off x="7384680" y="3629160"/>
            <a:ext cx="2189880" cy="2688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nodeType="clickEffect" fill="hold">
                      <p:stCondLst>
                        <p:cond delay="indefinite"/>
                      </p:stCondLst>
                      <p:childTnLst>
                        <p:par>
                          <p:cTn id="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nodeType="clickEffect" fill="hold">
                      <p:stCondLst>
                        <p:cond delay="indefinite"/>
                      </p:stCondLst>
                      <p:childTnLst>
                        <p:par>
                          <p:cTn id="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nodeType="clickEffect" fill="hold">
                      <p:stCondLst>
                        <p:cond delay="indefinite"/>
                      </p:stCondLst>
                      <p:childTnLst>
                        <p:par>
                          <p:cTn id="2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nodeType="clickEffect" fill="hold">
                      <p:stCondLst>
                        <p:cond delay="indefinite"/>
                      </p:stCondLst>
                      <p:childTnLst>
                        <p:par>
                          <p:cTn id="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nodeType="clickEffect" fill="hold">
                      <p:stCondLst>
                        <p:cond delay="indefinite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nodeType="clickEffect" fill="hold">
                      <p:stCondLst>
                        <p:cond delay="indefinite"/>
                      </p:stCondLst>
                      <p:childTnLst>
                        <p:par>
                          <p:cTn id="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nodeType="clickEffect" fill="hold">
                      <p:stCondLst>
                        <p:cond delay="indefinite"/>
                      </p:stCondLst>
                      <p:childTnLst>
                        <p:par>
                          <p:cTn id="4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nodeType="clickEffect" fill="hold">
                      <p:stCondLst>
                        <p:cond delay="indefinite"/>
                      </p:stCondLst>
                      <p:childTnLst>
                        <p:par>
                          <p:cTn id="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nodeType="clickEffect" fill="hold">
                      <p:stCondLst>
                        <p:cond delay="indefinite"/>
                      </p:stCondLst>
                      <p:childTnLst>
                        <p:par>
                          <p:cTn id="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nodeType="clickEffect" fill="hold">
                      <p:stCondLst>
                        <p:cond delay="indefinite"/>
                      </p:stCondLst>
                      <p:childTnLst>
                        <p:par>
                          <p:cTn id="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81080" y="274680"/>
            <a:ext cx="822888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Breakdown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176480" y="2082960"/>
            <a:ext cx="9819000" cy="4160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Genetic Algorithms Vocab: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 </a:t>
            </a: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chromosome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a potential solution.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A </a:t>
            </a: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gene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an attribute or feature of a solution.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The </a:t>
            </a: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fitness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of a chromosome is its level of “optimality.”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400" spc="-1" strike="noStrike" u="sng">
                <a:solidFill>
                  <a:srgbClr val="ffffff"/>
                </a:solidFill>
                <a:uFillTx/>
                <a:latin typeface="Arial Regular"/>
              </a:rPr>
              <a:t>Three main steps in Genetic Algorithms: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Selection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the process of choosing which individuals reproduce.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Recombination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the process of creating offspring chromosomes.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en-US" sz="2400" spc="-1" strike="noStrike">
                <a:solidFill>
                  <a:srgbClr val="00ff00"/>
                </a:solidFill>
                <a:latin typeface="Arial Regular"/>
              </a:rPr>
              <a:t>Mutation</a:t>
            </a:r>
            <a:r>
              <a:rPr b="0" lang="en-US" sz="2400" spc="-1" strike="noStrike">
                <a:solidFill>
                  <a:srgbClr val="ffffff"/>
                </a:solidFill>
                <a:latin typeface="Arial Regular"/>
              </a:rPr>
              <a:t> is the process of introducing changes to solutions.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" name="Picture 4" descr="MCj02788480000[1]"/>
          <p:cNvPicPr/>
          <p:nvPr/>
        </p:nvPicPr>
        <p:blipFill>
          <a:blip r:embed="rId1"/>
          <a:stretch/>
        </p:blipFill>
        <p:spPr>
          <a:xfrm>
            <a:off x="9177480" y="2092680"/>
            <a:ext cx="1593000" cy="177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981080" y="58680"/>
            <a:ext cx="822888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Selection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033560" y="1671840"/>
            <a:ext cx="10152720" cy="4833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1111"/>
          </a:bodyPr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Reproductive selection is based on the fitness of individuals &amp; selection method.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Fitness: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Is some numeric measure of the goodness of a chromosome.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Is used to rank available chromosomes against one another.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Measures the solutions as a whole, rather than single genes.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Is usually calculated using a fitness function.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600" spc="-1" strike="noStrike" u="sng">
                <a:solidFill>
                  <a:srgbClr val="ffffff"/>
                </a:solidFill>
                <a:uFillTx/>
                <a:latin typeface="Arial Regular"/>
              </a:rPr>
              <a:t>Selection Methods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Ranked Selection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Proportional Selection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Tournament Selection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Random Sample Selection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Selection methods may also include an </a:t>
            </a:r>
            <a:r>
              <a:rPr b="1" i="1" lang="en-US" sz="2600" spc="-1" strike="noStrike">
                <a:solidFill>
                  <a:srgbClr val="00ff00"/>
                </a:solidFill>
                <a:latin typeface="Arial Regular"/>
              </a:rPr>
              <a:t>elitist</a:t>
            </a:r>
            <a:r>
              <a:rPr b="0" lang="en-US" sz="2600" spc="-1" strike="noStrike">
                <a:solidFill>
                  <a:srgbClr val="ffffff"/>
                </a:solidFill>
                <a:latin typeface="Arial Regular"/>
              </a:rPr>
              <a:t> selection.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Picture 4" descr="MCj02396690000[1]"/>
          <p:cNvPicPr/>
          <p:nvPr/>
        </p:nvPicPr>
        <p:blipFill>
          <a:blip r:embed="rId1"/>
          <a:stretch/>
        </p:blipFill>
        <p:spPr>
          <a:xfrm>
            <a:off x="8816400" y="3660840"/>
            <a:ext cx="1523160" cy="260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nodeType="clickEffect" fill="hold">
                      <p:stCondLst>
                        <p:cond delay="indefinite"/>
                      </p:stCondLst>
                      <p:childTnLst>
                        <p:par>
                          <p:cTn id="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6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nodeType="clickEffect" fill="hold">
                      <p:stCondLst>
                        <p:cond delay="indefinite"/>
                      </p:stCondLst>
                      <p:childTnLst>
                        <p:par>
                          <p:cTn id="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nodeType="clickEffect" fill="hold">
                      <p:stCondLst>
                        <p:cond delay="indefinite"/>
                      </p:stCondLst>
                      <p:childTnLst>
                        <p:par>
                          <p:cTn id="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89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nodeType="clickEffect" fill="hold">
                      <p:stCondLst>
                        <p:cond delay="indefinite"/>
                      </p:stCondLst>
                      <p:childTnLst>
                        <p:par>
                          <p:cTn id="9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4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9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nodeType="clickEffect" fill="hold">
                      <p:stCondLst>
                        <p:cond delay="indefinite"/>
                      </p:stCondLst>
                      <p:childTnLst>
                        <p:par>
                          <p:cTn id="1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4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09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nodeType="clickEffect" fill="hold">
                      <p:stCondLst>
                        <p:cond delay="indefinite"/>
                      </p:stCondLst>
                      <p:childTnLst>
                        <p:par>
                          <p:cTn id="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4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nodeType="clickEffect" fill="hold">
                      <p:stCondLst>
                        <p:cond delay="indefinite"/>
                      </p:stCondLst>
                      <p:childTnLst>
                        <p:par>
                          <p:cTn id="1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9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nodeType="clickEffect" fill="hold">
                      <p:stCondLst>
                        <p:cond delay="indefinite"/>
                      </p:stCondLst>
                      <p:childTnLst>
                        <p:par>
                          <p:cTn id="1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4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981080" y="83880"/>
            <a:ext cx="822888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Recombination &amp; Mutation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495440" y="1785600"/>
            <a:ext cx="10172880" cy="490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6666"/>
          </a:bodyPr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Once two chromosomes are selected to reproduce, they must generate offspring.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Recombination Methods: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Single-point Crossover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Multipoint Crossover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During the process of reproduction, anomalies can be introduced via mutation.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Mutation Methods: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Modification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Duplication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Insertion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100000"/>
              </a:lnSpc>
              <a:spcAft>
                <a:spcPts val="575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Deletion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" name="Group 20"/>
          <p:cNvGrpSpPr/>
          <p:nvPr/>
        </p:nvGrpSpPr>
        <p:grpSpPr>
          <a:xfrm>
            <a:off x="5863320" y="2393640"/>
            <a:ext cx="3626280" cy="510480"/>
            <a:chOff x="5863320" y="2393640"/>
            <a:chExt cx="3626280" cy="510480"/>
          </a:xfrm>
        </p:grpSpPr>
        <p:grpSp>
          <p:nvGrpSpPr>
            <p:cNvPr id="27" name="Group 12"/>
            <p:cNvGrpSpPr/>
            <p:nvPr/>
          </p:nvGrpSpPr>
          <p:grpSpPr>
            <a:xfrm>
              <a:off x="5863320" y="2393640"/>
              <a:ext cx="1576080" cy="510480"/>
              <a:chOff x="5863320" y="2393640"/>
              <a:chExt cx="1576080" cy="510480"/>
            </a:xfrm>
          </p:grpSpPr>
          <p:sp>
            <p:nvSpPr>
              <p:cNvPr id="28" name="Rectangle 4"/>
              <p:cNvSpPr/>
              <p:nvPr/>
            </p:nvSpPr>
            <p:spPr>
              <a:xfrm>
                <a:off x="5863320" y="2393640"/>
                <a:ext cx="637200" cy="20736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29" name="Rectangle 5"/>
              <p:cNvSpPr/>
              <p:nvPr/>
            </p:nvSpPr>
            <p:spPr>
              <a:xfrm>
                <a:off x="6506640" y="2393640"/>
                <a:ext cx="932760" cy="20736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0" name="Rectangle 6"/>
              <p:cNvSpPr/>
              <p:nvPr/>
            </p:nvSpPr>
            <p:spPr>
              <a:xfrm>
                <a:off x="5863320" y="2696040"/>
                <a:ext cx="637200" cy="207360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rgbClr val="00c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1" name="Rectangle 7"/>
              <p:cNvSpPr/>
              <p:nvPr/>
            </p:nvSpPr>
            <p:spPr>
              <a:xfrm>
                <a:off x="6506640" y="2696760"/>
                <a:ext cx="932760" cy="207360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rgbClr val="00c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grpSp>
          <p:nvGrpSpPr>
            <p:cNvPr id="32" name="Group 18"/>
            <p:cNvGrpSpPr/>
            <p:nvPr/>
          </p:nvGrpSpPr>
          <p:grpSpPr>
            <a:xfrm>
              <a:off x="7913520" y="2400120"/>
              <a:ext cx="1576080" cy="503640"/>
              <a:chOff x="7913520" y="2400120"/>
              <a:chExt cx="1576080" cy="503640"/>
            </a:xfrm>
          </p:grpSpPr>
          <p:sp>
            <p:nvSpPr>
              <p:cNvPr id="33" name="Rectangle 14"/>
              <p:cNvSpPr/>
              <p:nvPr/>
            </p:nvSpPr>
            <p:spPr>
              <a:xfrm>
                <a:off x="7914600" y="2696760"/>
                <a:ext cx="637200" cy="207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4" name="Rectangle 15"/>
              <p:cNvSpPr/>
              <p:nvPr/>
            </p:nvSpPr>
            <p:spPr>
              <a:xfrm>
                <a:off x="8556840" y="2400120"/>
                <a:ext cx="932760" cy="207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9525">
                <a:solidFill>
                  <a:srgbClr val="ffc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5" name="Rectangle 16"/>
              <p:cNvSpPr/>
              <p:nvPr/>
            </p:nvSpPr>
            <p:spPr>
              <a:xfrm>
                <a:off x="7913520" y="2400120"/>
                <a:ext cx="637200" cy="207000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rgbClr val="00c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  <p:sp>
            <p:nvSpPr>
              <p:cNvPr id="36" name="Rectangle 17"/>
              <p:cNvSpPr/>
              <p:nvPr/>
            </p:nvSpPr>
            <p:spPr>
              <a:xfrm>
                <a:off x="8556840" y="2696760"/>
                <a:ext cx="932760" cy="207000"/>
              </a:xfrm>
              <a:prstGeom prst="rect">
                <a:avLst/>
              </a:prstGeom>
              <a:solidFill>
                <a:srgbClr val="0070c0"/>
              </a:solidFill>
              <a:ln w="9525">
                <a:solidFill>
                  <a:srgbClr val="00c0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algn="ctr" defTabSz="457200">
                  <a:lnSpc>
                    <a:spcPct val="100000"/>
                  </a:lnSpc>
                </a:pPr>
                <a:endParaRPr b="0" lang="en-US" sz="2400" spc="-1" strike="noStrike">
                  <a:solidFill>
                    <a:schemeClr val="dk1"/>
                  </a:solidFill>
                  <a:latin typeface="Arial"/>
                </a:endParaRPr>
              </a:p>
            </p:txBody>
          </p:sp>
        </p:grpSp>
        <p:sp>
          <p:nvSpPr>
            <p:cNvPr id="37" name="Line 19"/>
            <p:cNvSpPr/>
            <p:nvPr/>
          </p:nvSpPr>
          <p:spPr>
            <a:xfrm>
              <a:off x="7515360" y="2646720"/>
              <a:ext cx="332280" cy="360"/>
            </a:xfrm>
            <a:prstGeom prst="line">
              <a:avLst/>
            </a:prstGeom>
            <a:ln w="50800">
              <a:solidFill>
                <a:srgbClr val="ffff00"/>
              </a:solidFill>
              <a:round/>
              <a:tailEnd len="lg" type="stealth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pic>
        <p:nvPicPr>
          <p:cNvPr id="38" name="Picture 22" descr="MCSY01069_0000[1]"/>
          <p:cNvPicPr/>
          <p:nvPr/>
        </p:nvPicPr>
        <p:blipFill>
          <a:blip r:embed="rId1"/>
          <a:stretch/>
        </p:blipFill>
        <p:spPr>
          <a:xfrm rot="21455400">
            <a:off x="5648400" y="4660560"/>
            <a:ext cx="1293480" cy="1487880"/>
          </a:xfrm>
          <a:prstGeom prst="rect">
            <a:avLst/>
          </a:prstGeom>
          <a:ln w="0">
            <a:noFill/>
          </a:ln>
        </p:spPr>
      </p:pic>
      <p:pic>
        <p:nvPicPr>
          <p:cNvPr id="39" name="Picture 23" descr="MCSY01070_0000[1]"/>
          <p:cNvPicPr/>
          <p:nvPr/>
        </p:nvPicPr>
        <p:blipFill>
          <a:blip r:embed="rId2"/>
          <a:stretch/>
        </p:blipFill>
        <p:spPr>
          <a:xfrm rot="515400">
            <a:off x="8165520" y="4731840"/>
            <a:ext cx="1288080" cy="1298520"/>
          </a:xfrm>
          <a:prstGeom prst="rect">
            <a:avLst/>
          </a:prstGeom>
          <a:ln w="0">
            <a:noFill/>
          </a:ln>
        </p:spPr>
      </p:pic>
      <p:sp>
        <p:nvSpPr>
          <p:cNvPr id="40" name="Line 35"/>
          <p:cNvSpPr/>
          <p:nvPr/>
        </p:nvSpPr>
        <p:spPr>
          <a:xfrm>
            <a:off x="7515360" y="3391920"/>
            <a:ext cx="332280" cy="360"/>
          </a:xfrm>
          <a:prstGeom prst="line">
            <a:avLst/>
          </a:prstGeom>
          <a:ln w="50800">
            <a:solidFill>
              <a:srgbClr val="ff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1" name="Group 50"/>
          <p:cNvGrpSpPr/>
          <p:nvPr/>
        </p:nvGrpSpPr>
        <p:grpSpPr>
          <a:xfrm>
            <a:off x="5863320" y="3440520"/>
            <a:ext cx="1576080" cy="207000"/>
            <a:chOff x="5863320" y="3440520"/>
            <a:chExt cx="1576080" cy="207000"/>
          </a:xfrm>
        </p:grpSpPr>
        <p:sp>
          <p:nvSpPr>
            <p:cNvPr id="42" name="Rectangle 28"/>
            <p:cNvSpPr/>
            <p:nvPr/>
          </p:nvSpPr>
          <p:spPr>
            <a:xfrm>
              <a:off x="5863320" y="3440520"/>
              <a:ext cx="637200" cy="20700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3" name="Rectangle 29"/>
            <p:cNvSpPr/>
            <p:nvPr/>
          </p:nvSpPr>
          <p:spPr>
            <a:xfrm>
              <a:off x="6506640" y="3440520"/>
              <a:ext cx="577080" cy="20700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4" name="Rectangle 36"/>
            <p:cNvSpPr/>
            <p:nvPr/>
          </p:nvSpPr>
          <p:spPr>
            <a:xfrm>
              <a:off x="7092360" y="3440520"/>
              <a:ext cx="347040" cy="20700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45" name="Group 51"/>
          <p:cNvGrpSpPr/>
          <p:nvPr/>
        </p:nvGrpSpPr>
        <p:grpSpPr>
          <a:xfrm>
            <a:off x="5863320" y="3137400"/>
            <a:ext cx="1575720" cy="207000"/>
            <a:chOff x="5863320" y="3137400"/>
            <a:chExt cx="1575720" cy="207000"/>
          </a:xfrm>
        </p:grpSpPr>
        <p:sp>
          <p:nvSpPr>
            <p:cNvPr id="46" name="Rectangle 39"/>
            <p:cNvSpPr/>
            <p:nvPr/>
          </p:nvSpPr>
          <p:spPr>
            <a:xfrm>
              <a:off x="5863320" y="3137400"/>
              <a:ext cx="637200" cy="207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7" name="Rectangle 40"/>
            <p:cNvSpPr/>
            <p:nvPr/>
          </p:nvSpPr>
          <p:spPr>
            <a:xfrm>
              <a:off x="6506640" y="3137400"/>
              <a:ext cx="577080" cy="207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48" name="Rectangle 41"/>
            <p:cNvSpPr/>
            <p:nvPr/>
          </p:nvSpPr>
          <p:spPr>
            <a:xfrm>
              <a:off x="7087680" y="3137400"/>
              <a:ext cx="351360" cy="207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49" name="Rectangle 43"/>
          <p:cNvSpPr/>
          <p:nvPr/>
        </p:nvSpPr>
        <p:spPr>
          <a:xfrm>
            <a:off x="7913520" y="3440520"/>
            <a:ext cx="637200" cy="207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c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Rectangle 44"/>
          <p:cNvSpPr/>
          <p:nvPr/>
        </p:nvSpPr>
        <p:spPr>
          <a:xfrm>
            <a:off x="8556480" y="3138120"/>
            <a:ext cx="577080" cy="207000"/>
          </a:xfrm>
          <a:prstGeom prst="rect">
            <a:avLst/>
          </a:prstGeom>
          <a:solidFill>
            <a:srgbClr val="0070c0"/>
          </a:solidFill>
          <a:ln w="9525">
            <a:solidFill>
              <a:srgbClr val="00c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Rectangle 45"/>
          <p:cNvSpPr/>
          <p:nvPr/>
        </p:nvSpPr>
        <p:spPr>
          <a:xfrm>
            <a:off x="9141480" y="3441240"/>
            <a:ext cx="352800" cy="206280"/>
          </a:xfrm>
          <a:prstGeom prst="rect">
            <a:avLst/>
          </a:prstGeom>
          <a:solidFill>
            <a:srgbClr val="0070c0"/>
          </a:solidFill>
          <a:ln w="9525">
            <a:solidFill>
              <a:srgbClr val="00c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Rectangle 47"/>
          <p:cNvSpPr/>
          <p:nvPr/>
        </p:nvSpPr>
        <p:spPr>
          <a:xfrm>
            <a:off x="7913520" y="3138120"/>
            <a:ext cx="637200" cy="207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Rectangle 48"/>
          <p:cNvSpPr/>
          <p:nvPr/>
        </p:nvSpPr>
        <p:spPr>
          <a:xfrm>
            <a:off x="8551080" y="3441240"/>
            <a:ext cx="588600" cy="20628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Rectangle 49"/>
          <p:cNvSpPr/>
          <p:nvPr/>
        </p:nvSpPr>
        <p:spPr>
          <a:xfrm>
            <a:off x="9141480" y="3138120"/>
            <a:ext cx="352800" cy="207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3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981080" y="274680"/>
            <a:ext cx="822888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Mutation Examples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ectangle 69"/>
          <p:cNvSpPr/>
          <p:nvPr/>
        </p:nvSpPr>
        <p:spPr>
          <a:xfrm>
            <a:off x="1735200" y="2708280"/>
            <a:ext cx="3436200" cy="489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Modification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Line 81"/>
          <p:cNvSpPr/>
          <p:nvPr/>
        </p:nvSpPr>
        <p:spPr>
          <a:xfrm>
            <a:off x="3536640" y="3339720"/>
            <a:ext cx="376200" cy="360"/>
          </a:xfrm>
          <a:prstGeom prst="line">
            <a:avLst/>
          </a:prstGeom>
          <a:ln w="50800">
            <a:solidFill>
              <a:srgbClr val="ff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58" name="Group 97"/>
          <p:cNvGrpSpPr/>
          <p:nvPr/>
        </p:nvGrpSpPr>
        <p:grpSpPr>
          <a:xfrm>
            <a:off x="1628640" y="3220920"/>
            <a:ext cx="1783440" cy="234360"/>
            <a:chOff x="1628640" y="3220920"/>
            <a:chExt cx="1783440" cy="234360"/>
          </a:xfrm>
        </p:grpSpPr>
        <p:sp>
          <p:nvSpPr>
            <p:cNvPr id="59" name="Rectangle 4"/>
            <p:cNvSpPr/>
            <p:nvPr/>
          </p:nvSpPr>
          <p:spPr>
            <a:xfrm>
              <a:off x="2125800" y="322092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0" name="Rectangle 95"/>
            <p:cNvSpPr/>
            <p:nvPr/>
          </p:nvSpPr>
          <p:spPr>
            <a:xfrm>
              <a:off x="2365200" y="322092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1" name="Rectangle 96"/>
            <p:cNvSpPr/>
            <p:nvPr/>
          </p:nvSpPr>
          <p:spPr>
            <a:xfrm>
              <a:off x="1628640" y="3220920"/>
              <a:ext cx="492840" cy="234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grpSp>
        <p:nvGrpSpPr>
          <p:cNvPr id="62" name="Group 98"/>
          <p:cNvGrpSpPr/>
          <p:nvPr/>
        </p:nvGrpSpPr>
        <p:grpSpPr>
          <a:xfrm>
            <a:off x="4006800" y="3220920"/>
            <a:ext cx="1783440" cy="234360"/>
            <a:chOff x="4006800" y="3220920"/>
            <a:chExt cx="1783440" cy="234360"/>
          </a:xfrm>
        </p:grpSpPr>
        <p:sp>
          <p:nvSpPr>
            <p:cNvPr id="63" name="Rectangle 99"/>
            <p:cNvSpPr/>
            <p:nvPr/>
          </p:nvSpPr>
          <p:spPr>
            <a:xfrm>
              <a:off x="4503600" y="322092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4" name="Rectangle 100"/>
            <p:cNvSpPr/>
            <p:nvPr/>
          </p:nvSpPr>
          <p:spPr>
            <a:xfrm>
              <a:off x="4743360" y="322092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65" name="Rectangle 101"/>
            <p:cNvSpPr/>
            <p:nvPr/>
          </p:nvSpPr>
          <p:spPr>
            <a:xfrm>
              <a:off x="4006800" y="3220920"/>
              <a:ext cx="492840" cy="234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66" name="Rectangle 103"/>
          <p:cNvSpPr/>
          <p:nvPr/>
        </p:nvSpPr>
        <p:spPr>
          <a:xfrm>
            <a:off x="1743120" y="4689360"/>
            <a:ext cx="3436200" cy="489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Duplication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Line 105"/>
          <p:cNvSpPr/>
          <p:nvPr/>
        </p:nvSpPr>
        <p:spPr>
          <a:xfrm>
            <a:off x="3536640" y="5329080"/>
            <a:ext cx="376200" cy="360"/>
          </a:xfrm>
          <a:prstGeom prst="line">
            <a:avLst/>
          </a:prstGeom>
          <a:ln w="50800">
            <a:solidFill>
              <a:srgbClr val="ff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68" name="Group 106"/>
          <p:cNvGrpSpPr/>
          <p:nvPr/>
        </p:nvGrpSpPr>
        <p:grpSpPr>
          <a:xfrm>
            <a:off x="1627200" y="5202360"/>
            <a:ext cx="1783440" cy="234360"/>
            <a:chOff x="1627200" y="5202360"/>
            <a:chExt cx="1783440" cy="234360"/>
          </a:xfrm>
        </p:grpSpPr>
        <p:sp>
          <p:nvSpPr>
            <p:cNvPr id="69" name="Rectangle 107"/>
            <p:cNvSpPr/>
            <p:nvPr/>
          </p:nvSpPr>
          <p:spPr>
            <a:xfrm>
              <a:off x="2124000" y="520236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0" name="Rectangle 108"/>
            <p:cNvSpPr/>
            <p:nvPr/>
          </p:nvSpPr>
          <p:spPr>
            <a:xfrm>
              <a:off x="2363760" y="520236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1" name="Rectangle 109"/>
            <p:cNvSpPr/>
            <p:nvPr/>
          </p:nvSpPr>
          <p:spPr>
            <a:xfrm>
              <a:off x="1627200" y="5202360"/>
              <a:ext cx="492840" cy="234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72" name="Rectangle 111"/>
          <p:cNvSpPr/>
          <p:nvPr/>
        </p:nvSpPr>
        <p:spPr>
          <a:xfrm>
            <a:off x="4502160" y="5202360"/>
            <a:ext cx="234360" cy="2343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ff99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" name="Rectangle 113"/>
          <p:cNvSpPr/>
          <p:nvPr/>
        </p:nvSpPr>
        <p:spPr>
          <a:xfrm>
            <a:off x="4005360" y="5202360"/>
            <a:ext cx="492840" cy="23436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Rectangle 117"/>
          <p:cNvSpPr/>
          <p:nvPr/>
        </p:nvSpPr>
        <p:spPr>
          <a:xfrm>
            <a:off x="6367320" y="2708280"/>
            <a:ext cx="3436200" cy="489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Insertion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Rectangle 139"/>
          <p:cNvSpPr/>
          <p:nvPr/>
        </p:nvSpPr>
        <p:spPr>
          <a:xfrm>
            <a:off x="6365880" y="4689360"/>
            <a:ext cx="3436200" cy="4899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algn="ctr" defTabSz="457200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chemeClr val="lt1"/>
                </a:solidFill>
                <a:latin typeface="Arial"/>
              </a:rPr>
              <a:t>Deletion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6" name="Group 156"/>
          <p:cNvGrpSpPr/>
          <p:nvPr/>
        </p:nvGrpSpPr>
        <p:grpSpPr>
          <a:xfrm>
            <a:off x="4494600" y="5202360"/>
            <a:ext cx="1288440" cy="234360"/>
            <a:chOff x="4494600" y="5202360"/>
            <a:chExt cx="1288440" cy="234360"/>
          </a:xfrm>
        </p:grpSpPr>
        <p:sp>
          <p:nvSpPr>
            <p:cNvPr id="77" name="Rectangle 112"/>
            <p:cNvSpPr/>
            <p:nvPr/>
          </p:nvSpPr>
          <p:spPr>
            <a:xfrm>
              <a:off x="4736160" y="520236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78" name="Rectangle 114"/>
            <p:cNvSpPr/>
            <p:nvPr/>
          </p:nvSpPr>
          <p:spPr>
            <a:xfrm>
              <a:off x="4494600" y="520236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79" name="Line 168"/>
          <p:cNvSpPr/>
          <p:nvPr/>
        </p:nvSpPr>
        <p:spPr>
          <a:xfrm>
            <a:off x="8188200" y="3339720"/>
            <a:ext cx="376200" cy="360"/>
          </a:xfrm>
          <a:prstGeom prst="line">
            <a:avLst/>
          </a:prstGeom>
          <a:ln w="50800">
            <a:solidFill>
              <a:srgbClr val="ff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80" name="Group 169"/>
          <p:cNvGrpSpPr/>
          <p:nvPr/>
        </p:nvGrpSpPr>
        <p:grpSpPr>
          <a:xfrm>
            <a:off x="6259680" y="3222720"/>
            <a:ext cx="1783440" cy="234360"/>
            <a:chOff x="6259680" y="3222720"/>
            <a:chExt cx="1783440" cy="234360"/>
          </a:xfrm>
        </p:grpSpPr>
        <p:sp>
          <p:nvSpPr>
            <p:cNvPr id="81" name="Rectangle 170"/>
            <p:cNvSpPr/>
            <p:nvPr/>
          </p:nvSpPr>
          <p:spPr>
            <a:xfrm>
              <a:off x="6756480" y="322272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2" name="Rectangle 171"/>
            <p:cNvSpPr/>
            <p:nvPr/>
          </p:nvSpPr>
          <p:spPr>
            <a:xfrm>
              <a:off x="6996240" y="322272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3" name="Rectangle 172"/>
            <p:cNvSpPr/>
            <p:nvPr/>
          </p:nvSpPr>
          <p:spPr>
            <a:xfrm>
              <a:off x="6259680" y="3222720"/>
              <a:ext cx="492840" cy="234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84" name="Rectangle 173"/>
          <p:cNvSpPr/>
          <p:nvPr/>
        </p:nvSpPr>
        <p:spPr>
          <a:xfrm>
            <a:off x="9131400" y="3220920"/>
            <a:ext cx="234360" cy="234360"/>
          </a:xfrm>
          <a:prstGeom prst="rect">
            <a:avLst/>
          </a:prstGeom>
          <a:solidFill>
            <a:srgbClr val="00b050"/>
          </a:solidFill>
          <a:ln w="9525">
            <a:solidFill>
              <a:srgbClr val="00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Rectangle 174"/>
          <p:cNvSpPr/>
          <p:nvPr/>
        </p:nvSpPr>
        <p:spPr>
          <a:xfrm>
            <a:off x="8637480" y="3222720"/>
            <a:ext cx="492840" cy="23436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86" name="Group 175"/>
          <p:cNvGrpSpPr/>
          <p:nvPr/>
        </p:nvGrpSpPr>
        <p:grpSpPr>
          <a:xfrm>
            <a:off x="9124920" y="3223080"/>
            <a:ext cx="1288080" cy="234360"/>
            <a:chOff x="9124920" y="3223080"/>
            <a:chExt cx="1288080" cy="234360"/>
          </a:xfrm>
        </p:grpSpPr>
        <p:sp>
          <p:nvSpPr>
            <p:cNvPr id="87" name="Rectangle 176"/>
            <p:cNvSpPr/>
            <p:nvPr/>
          </p:nvSpPr>
          <p:spPr>
            <a:xfrm>
              <a:off x="9366120" y="322308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88" name="Rectangle 177"/>
            <p:cNvSpPr/>
            <p:nvPr/>
          </p:nvSpPr>
          <p:spPr>
            <a:xfrm>
              <a:off x="9124920" y="322308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89" name="Rectangle 178"/>
          <p:cNvSpPr/>
          <p:nvPr/>
        </p:nvSpPr>
        <p:spPr>
          <a:xfrm>
            <a:off x="4508640" y="3220920"/>
            <a:ext cx="234360" cy="234360"/>
          </a:xfrm>
          <a:prstGeom prst="rect">
            <a:avLst/>
          </a:prstGeom>
          <a:solidFill>
            <a:srgbClr val="00b050"/>
          </a:solidFill>
          <a:ln w="9525">
            <a:solidFill>
              <a:srgbClr val="00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Line 179"/>
          <p:cNvSpPr/>
          <p:nvPr/>
        </p:nvSpPr>
        <p:spPr>
          <a:xfrm>
            <a:off x="8313480" y="5319360"/>
            <a:ext cx="376200" cy="360"/>
          </a:xfrm>
          <a:prstGeom prst="line">
            <a:avLst/>
          </a:prstGeom>
          <a:ln w="50800">
            <a:solidFill>
              <a:srgbClr val="ffff00"/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91" name="Group 180"/>
          <p:cNvGrpSpPr/>
          <p:nvPr/>
        </p:nvGrpSpPr>
        <p:grpSpPr>
          <a:xfrm>
            <a:off x="6404040" y="5192640"/>
            <a:ext cx="1783440" cy="234360"/>
            <a:chOff x="6404040" y="5192640"/>
            <a:chExt cx="1783440" cy="234360"/>
          </a:xfrm>
        </p:grpSpPr>
        <p:sp>
          <p:nvSpPr>
            <p:cNvPr id="92" name="Rectangle 181"/>
            <p:cNvSpPr/>
            <p:nvPr/>
          </p:nvSpPr>
          <p:spPr>
            <a:xfrm>
              <a:off x="6900840" y="5192640"/>
              <a:ext cx="234360" cy="23436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rgbClr val="ff99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3" name="Rectangle 182"/>
            <p:cNvSpPr/>
            <p:nvPr/>
          </p:nvSpPr>
          <p:spPr>
            <a:xfrm>
              <a:off x="7140600" y="5192640"/>
              <a:ext cx="1046880" cy="234360"/>
            </a:xfrm>
            <a:prstGeom prst="rect">
              <a:avLst/>
            </a:prstGeom>
            <a:solidFill>
              <a:srgbClr val="0070c0"/>
            </a:solidFill>
            <a:ln w="9525">
              <a:solidFill>
                <a:srgbClr val="00c0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  <p:sp>
          <p:nvSpPr>
            <p:cNvPr id="94" name="Rectangle 183"/>
            <p:cNvSpPr/>
            <p:nvPr/>
          </p:nvSpPr>
          <p:spPr>
            <a:xfrm>
              <a:off x="6404040" y="5192640"/>
              <a:ext cx="492840" cy="23436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9525">
              <a:solidFill>
                <a:srgbClr val="ffc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Arial"/>
              </a:endParaRPr>
            </a:p>
          </p:txBody>
        </p:sp>
      </p:grpSp>
      <p:sp>
        <p:nvSpPr>
          <p:cNvPr id="95" name="Rectangle 185"/>
          <p:cNvSpPr/>
          <p:nvPr/>
        </p:nvSpPr>
        <p:spPr>
          <a:xfrm>
            <a:off x="9279000" y="5192640"/>
            <a:ext cx="234360" cy="2343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ff99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6" name="Rectangle 186"/>
          <p:cNvSpPr/>
          <p:nvPr/>
        </p:nvSpPr>
        <p:spPr>
          <a:xfrm>
            <a:off x="9518760" y="5192640"/>
            <a:ext cx="1046880" cy="234360"/>
          </a:xfrm>
          <a:prstGeom prst="rect">
            <a:avLst/>
          </a:prstGeom>
          <a:solidFill>
            <a:srgbClr val="0070c0"/>
          </a:solidFill>
          <a:ln w="9525">
            <a:solidFill>
              <a:srgbClr val="00c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7" name="Rectangle 187"/>
          <p:cNvSpPr/>
          <p:nvPr/>
        </p:nvSpPr>
        <p:spPr>
          <a:xfrm>
            <a:off x="8782200" y="5192640"/>
            <a:ext cx="492840" cy="23436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ffc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2" dur="indefinite" restart="never" nodeType="tmRoot">
          <p:childTnLst>
            <p:seq>
              <p:cTn id="143" dur="indefinite" nodeType="mainSeq">
                <p:childTnLst>
                  <p:par>
                    <p:cTn id="144" nodeType="clickEffect" fill="hold">
                      <p:stCondLst>
                        <p:cond delay="indefinite"/>
                      </p:stCondLst>
                      <p:childTnLst>
                        <p:par>
                          <p:cTn id="1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nodeType="clickEffect" fill="hold">
                      <p:stCondLst>
                        <p:cond delay="indefinite"/>
                      </p:stCondLst>
                      <p:childTnLst>
                        <p:par>
                          <p:cTn id="1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nodeType="clickEffect" fill="hold">
                      <p:stCondLst>
                        <p:cond delay="indefinite"/>
                      </p:stCondLst>
                      <p:childTnLst>
                        <p:par>
                          <p:cTn id="1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nodeType="clickEffect" fill="hold">
                      <p:stCondLst>
                        <p:cond delay="indefinite"/>
                      </p:stCondLst>
                      <p:childTnLst>
                        <p:par>
                          <p:cTn id="1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nodeType="clickEffect" fill="hold">
                      <p:stCondLst>
                        <p:cond delay="indefinite"/>
                      </p:stCondLst>
                      <p:childTnLst>
                        <p:par>
                          <p:cTn id="1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nodeType="clickEffect" fill="hold">
                      <p:stCondLst>
                        <p:cond delay="indefinite"/>
                      </p:stCondLst>
                      <p:childTnLst>
                        <p:par>
                          <p:cTn id="1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nodeType="clickEffect" fill="hold">
                      <p:stCondLst>
                        <p:cond delay="indefinite"/>
                      </p:stCondLst>
                      <p:childTnLst>
                        <p:par>
                          <p:cTn id="18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8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9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path" presetID="42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4.44444E-006 L 0.02045 -4.44444E-006 E">
                                      <p:cBhvr>
                                        <p:cTn id="198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nodeType="clickEffect" fill="hold">
                      <p:stCondLst>
                        <p:cond delay="indefinite"/>
                      </p:stCondLst>
                      <p:childTnLst>
                        <p:par>
                          <p:cTn id="2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nodeType="clickEffect" fill="hold">
                      <p:stCondLst>
                        <p:cond delay="indefinite"/>
                      </p:stCondLst>
                      <p:childTnLst>
                        <p:par>
                          <p:cTn id="2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nodeType="clickEffect" fill="hold">
                      <p:stCondLst>
                        <p:cond delay="indefinite"/>
                      </p:stCondLst>
                      <p:childTnLst>
                        <p:par>
                          <p:cTn id="21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nodeType="clickEffect" fill="hold">
                      <p:stCondLst>
                        <p:cond delay="indefinite"/>
                      </p:stCondLst>
                      <p:childTnLst>
                        <p:par>
                          <p:cTn id="21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nodeType="clickEffect" fill="hold">
                      <p:stCondLst>
                        <p:cond delay="indefinite"/>
                      </p:stCondLst>
                      <p:childTnLst>
                        <p:par>
                          <p:cTn id="2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006 0.00023 L 0.02018 0.00023 E">
                                      <p:cBhvr>
                                        <p:cTn id="228" dur="2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nodeType="clickEffect" fill="hold">
                      <p:stCondLst>
                        <p:cond delay="indefinite"/>
                      </p:stCondLst>
                      <p:childTnLst>
                        <p:par>
                          <p:cTn id="2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nodeType="clickEffect" fill="hold">
                      <p:stCondLst>
                        <p:cond delay="indefinite"/>
                      </p:stCondLst>
                      <p:childTnLst>
                        <p:par>
                          <p:cTn id="2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nodeType="clickEffect" fill="hold">
                      <p:stCondLst>
                        <p:cond delay="indefinite"/>
                      </p:stCondLst>
                      <p:childTnLst>
                        <p:par>
                          <p:cTn id="2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nodeType="clickEffect" fill="hold">
                      <p:stCondLst>
                        <p:cond delay="indefinite"/>
                      </p:stCondLst>
                      <p:childTnLst>
                        <p:par>
                          <p:cTn id="2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5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path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006 4.44444E-006 L -0.01927 4.44444E-006 E">
                                      <p:cBhvr>
                                        <p:cTn id="261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981080" y="152280"/>
            <a:ext cx="822888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048120" y="834120"/>
            <a:ext cx="6019200" cy="532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marL="91440" indent="-91440" algn="ctr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Arial Regular"/>
              </a:rPr>
              <a:t>Implementation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820800" y="1743480"/>
            <a:ext cx="3252240" cy="2431080"/>
          </a:xfrm>
          <a:prstGeom prst="rect">
            <a:avLst/>
          </a:prstGeom>
          <a:solidFill>
            <a:srgbClr val="002060"/>
          </a:solidFill>
          <a:ln w="95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class Gene: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data = None #?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Class Chromosome: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fitness = 0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45720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    </a:t>
            </a:r>
            <a:r>
              <a:rPr b="0" lang="en-US" sz="2200" spc="-1" strike="noStrike">
                <a:solidFill>
                  <a:schemeClr val="lt1"/>
                </a:solidFill>
                <a:latin typeface="Consolas"/>
              </a:rPr>
              <a:t>genes = []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 6"/>
          <p:cNvSpPr/>
          <p:nvPr/>
        </p:nvSpPr>
        <p:spPr>
          <a:xfrm>
            <a:off x="4387680" y="1693080"/>
            <a:ext cx="7582320" cy="46904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609480" indent="-609480" defTabSz="45720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Steps to Genetic Search: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defTabSz="457200">
              <a:lnSpc>
                <a:spcPct val="80000"/>
              </a:lnSpc>
              <a:spcBef>
                <a:spcPts val="400"/>
              </a:spcBef>
              <a:buClr>
                <a:srgbClr val="00b0f0"/>
              </a:buClr>
              <a:buSzPct val="70000"/>
              <a:buFont typeface="Wingdings" charset="2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Generate a random pool of chromosomes.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defTabSz="457200">
              <a:lnSpc>
                <a:spcPct val="80000"/>
              </a:lnSpc>
              <a:spcBef>
                <a:spcPts val="400"/>
              </a:spcBef>
              <a:buClr>
                <a:srgbClr val="00b0f0"/>
              </a:buClr>
              <a:buSzPct val="70000"/>
              <a:buFont typeface="Wingdings" charset="2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Calculate the fitness of all chromosomes.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8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defTabSz="457200">
              <a:lnSpc>
                <a:spcPct val="80000"/>
              </a:lnSpc>
              <a:spcBef>
                <a:spcPts val="400"/>
              </a:spcBef>
              <a:buClr>
                <a:srgbClr val="00b0f0"/>
              </a:buClr>
              <a:buSzPct val="70000"/>
              <a:buFont typeface="Wingdings" charset="2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If finished: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Return best candidate as solution.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marL="990720" indent="-533520" defTabSz="457200">
              <a:lnSpc>
                <a:spcPct val="80000"/>
              </a:lnSpc>
              <a:spcBef>
                <a:spcPts val="360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609480" indent="-609480" defTabSz="457200">
              <a:lnSpc>
                <a:spcPct val="80000"/>
              </a:lnSpc>
              <a:spcBef>
                <a:spcPts val="400"/>
              </a:spcBef>
              <a:buClr>
                <a:srgbClr val="00b0ff"/>
              </a:buClr>
              <a:buSzPct val="70000"/>
              <a:buFont typeface="Wingdings" charset="2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Otherwise: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Use selection method to select candidates.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Generate offspring pool from the candidates.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Mutate each of the offspring generated in B).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Optionally, move best individual to offspring pool.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Discard parent pool.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lvl="1" marL="990720" indent="-533520" defTabSz="457200">
              <a:lnSpc>
                <a:spcPct val="80000"/>
              </a:lnSpc>
              <a:spcBef>
                <a:spcPts val="360"/>
              </a:spcBef>
              <a:buClr>
                <a:srgbClr val="ffc000"/>
              </a:buClr>
              <a:buSzPct val="70000"/>
              <a:buFont typeface="Wingdings" charset="2"/>
              <a:buAutoNum type="alphaUcPeriod"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</a:rPr>
              <a:t>Go to step 2.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2" dur="indefinite" restart="never" nodeType="tmRoot">
          <p:childTnLst>
            <p:seq>
              <p:cTn id="263" dur="indefinite" nodeType="mainSeq">
                <p:childTnLst>
                  <p:par>
                    <p:cTn id="264" nodeType="clickEffect" fill="hold">
                      <p:stCondLst>
                        <p:cond delay="indefinite"/>
                      </p:stCondLst>
                      <p:childTnLst>
                        <p:par>
                          <p:cTn id="2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68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3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78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3" dur="500"/>
                                        <p:tgtEl>
                                          <p:spTgt spid="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88" dur="500"/>
                                        <p:tgtEl>
                                          <p:spTgt spid="1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nodeType="clickEffect" fill="hold">
                      <p:stCondLst>
                        <p:cond delay="indefinite"/>
                      </p:stCondLst>
                      <p:childTnLst>
                        <p:par>
                          <p:cTn id="2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3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nodeType="clickEffect" fill="hold">
                      <p:stCondLst>
                        <p:cond delay="indefinite"/>
                      </p:stCondLst>
                      <p:childTnLst>
                        <p:par>
                          <p:cTn id="2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8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nodeType="clickEffect" fill="hold">
                      <p:stCondLst>
                        <p:cond delay="indefinite"/>
                      </p:stCondLst>
                      <p:childTnLst>
                        <p:par>
                          <p:cTn id="3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3" dur="500"/>
                                        <p:tgtEl>
                                          <p:spTgt spid="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nodeType="clickEffect" fill="hold">
                      <p:stCondLst>
                        <p:cond delay="indefinite"/>
                      </p:stCondLst>
                      <p:childTnLst>
                        <p:par>
                          <p:cTn id="3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08" dur="500"/>
                                        <p:tgtEl>
                                          <p:spTgt spid="1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1" dur="500"/>
                                        <p:tgtEl>
                                          <p:spTgt spid="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nodeType="clickEffect" fill="hold">
                      <p:stCondLst>
                        <p:cond delay="indefinite"/>
                      </p:stCondLst>
                      <p:childTnLst>
                        <p:par>
                          <p:cTn id="3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6" dur="500"/>
                                        <p:tgtEl>
                                          <p:spTgt spid="10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19" dur="500"/>
                                        <p:tgtEl>
                                          <p:spTgt spid="10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2" dur="500"/>
                                        <p:tgtEl>
                                          <p:spTgt spid="10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5" dur="500"/>
                                        <p:tgtEl>
                                          <p:spTgt spid="10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28" dur="500"/>
                                        <p:tgtEl>
                                          <p:spTgt spid="10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1" dur="500"/>
                                        <p:tgtEl>
                                          <p:spTgt spid="10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nodeType="with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34" dur="500"/>
                                        <p:tgtEl>
                                          <p:spTgt spid="10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981080" y="144360"/>
            <a:ext cx="8228880" cy="144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94" strike="noStrike">
                <a:solidFill>
                  <a:schemeClr val="lt1"/>
                </a:solidFill>
                <a:latin typeface="Garamond"/>
              </a:rPr>
              <a:t>Genetic Algorithms</a:t>
            </a:r>
            <a:br>
              <a:rPr sz="4800"/>
            </a:br>
            <a:r>
              <a:rPr b="0" lang="en-US" sz="3200" spc="94" strike="noStrike">
                <a:solidFill>
                  <a:schemeClr val="lt1"/>
                </a:solidFill>
                <a:latin typeface="Garamond"/>
              </a:rPr>
              <a:t>Benefits &amp; Drawbacks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606680" y="1802880"/>
            <a:ext cx="9111600" cy="47314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3333"/>
          </a:bodyPr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Benefits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Can be applied when time is limited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Usually involves progressively better solutions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Is cheaper than many traditional search methods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Can be applied to large state spaces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ffffff"/>
                </a:solidFill>
                <a:uFillTx/>
                <a:latin typeface="Arial Regular"/>
              </a:rPr>
              <a:t>Drawbacks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Not optimal or complete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Very poorly suited for some applications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Random and therefore unpredictable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Diminishing returns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-18288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marL="182880" indent="0" defTabSz="914400">
              <a:lnSpc>
                <a:spcPct val="8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	</a:t>
            </a:r>
            <a:br>
              <a:rPr sz="2000"/>
            </a:br>
            <a:r>
              <a:rPr b="0" lang="en-US" sz="2000" spc="-1" strike="noStrike">
                <a:solidFill>
                  <a:srgbClr val="ffffff"/>
                </a:solidFill>
                <a:latin typeface="Arial Regular"/>
              </a:rPr>
              <a:t>Even with their drawbacks, genetic algorithms are still used to solve many problems in gaming as well as other areas (biology, mapping, military, etc.)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Picture 6" descr="MCj03981910000[1]"/>
          <p:cNvPicPr/>
          <p:nvPr/>
        </p:nvPicPr>
        <p:blipFill>
          <a:blip r:embed="rId1"/>
          <a:stretch/>
        </p:blipFill>
        <p:spPr>
          <a:xfrm>
            <a:off x="7597440" y="3085560"/>
            <a:ext cx="1978560" cy="230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5" dur="indefinite" restart="never" nodeType="tmRoot">
          <p:childTnLst>
            <p:seq>
              <p:cTn id="336" dur="indefinite" nodeType="mainSeq">
                <p:childTnLst>
                  <p:par>
                    <p:cTn id="337" nodeType="clickEffect" fill="hold">
                      <p:stCondLst>
                        <p:cond delay="indefinite"/>
                      </p:stCondLst>
                      <p:childTnLst>
                        <p:par>
                          <p:cTn id="3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1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nodeType="clickEffect" fill="hold">
                      <p:stCondLst>
                        <p:cond delay="indefinite"/>
                      </p:stCondLst>
                      <p:childTnLst>
                        <p:par>
                          <p:cTn id="3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6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nodeType="clickEffect" fill="hold">
                      <p:stCondLst>
                        <p:cond delay="indefinite"/>
                      </p:stCondLst>
                      <p:childTnLst>
                        <p:par>
                          <p:cTn id="3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1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nodeType="clickEffect" fill="hold">
                      <p:stCondLst>
                        <p:cond delay="indefinite"/>
                      </p:stCondLst>
                      <p:childTnLst>
                        <p:par>
                          <p:cTn id="3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56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nodeType="clickEffect" fill="hold">
                      <p:stCondLst>
                        <p:cond delay="indefinite"/>
                      </p:stCondLst>
                      <p:childTnLst>
                        <p:par>
                          <p:cTn id="3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1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nodeType="clickEffect" fill="hold">
                      <p:stCondLst>
                        <p:cond delay="indefinite"/>
                      </p:stCondLst>
                      <p:childTnLst>
                        <p:par>
                          <p:cTn id="3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66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nodeType="clickEffect" fill="hold">
                      <p:stCondLst>
                        <p:cond delay="indefinite"/>
                      </p:stCondLst>
                      <p:childTnLst>
                        <p:par>
                          <p:cTn id="3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1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nodeType="clickEffect" fill="hold">
                      <p:stCondLst>
                        <p:cond delay="indefinite"/>
                      </p:stCondLst>
                      <p:childTnLst>
                        <p:par>
                          <p:cTn id="3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76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nodeType="clickEffect" fill="hold">
                      <p:stCondLst>
                        <p:cond delay="indefinite"/>
                      </p:stCondLst>
                      <p:childTnLst>
                        <p:par>
                          <p:cTn id="3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1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nodeType="clickEffect" fill="hold">
                      <p:stCondLst>
                        <p:cond delay="indefinite"/>
                      </p:stCondLst>
                      <p:childTnLst>
                        <p:par>
                          <p:cTn id="3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86" dur="500"/>
                                        <p:tgtEl>
                                          <p:spTgt spid="1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nodeType="clickEffect" fill="hold">
                      <p:stCondLst>
                        <p:cond delay="indefinite"/>
                      </p:stCondLst>
                      <p:childTnLst>
                        <p:par>
                          <p:cTn id="38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1" dur="500"/>
                                        <p:tgtEl>
                                          <p:spTgt spid="1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28160" y="2943000"/>
            <a:ext cx="11935080" cy="80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197" strike="noStrike">
                <a:solidFill>
                  <a:schemeClr val="lt1"/>
                </a:solidFill>
                <a:latin typeface="Arial"/>
              </a:rPr>
              <a:t>Fin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cap4053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00ff"/>
      </a:accent1>
      <a:accent2>
        <a:srgbClr val="70fbdf"/>
      </a:accent2>
      <a:accent3>
        <a:srgbClr val="90d850"/>
      </a:accent3>
      <a:accent4>
        <a:srgbClr val="ec3323"/>
      </a:accent4>
      <a:accent5>
        <a:srgbClr val="fafd59"/>
      </a:accent5>
      <a:accent6>
        <a:srgbClr val="f97c15"/>
      </a:accent6>
      <a:hlink>
        <a:srgbClr val="113ea7"/>
      </a:hlink>
      <a:folHlink>
        <a:srgbClr val="b2b8b3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srcRect l="0" t="0" r="0" b="0"/>
          <a:tile tx="0" ty="0" sx="40000" sy="40000" flip="none" algn="tl"/>
        </a:blip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cap4053_ppt_template</Template>
  <TotalTime>489</TotalTime>
  <Application>LibreOffice/24.2.7.2$Linux_X86_64 LibreOffice_project/420$Build-2</Application>
  <AppVersion>15.0000</AppVersion>
  <Words>467</Words>
  <Paragraphs>111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2018-09-23T01:33:33Z</dcterms:created>
  <dc:creator>Jeremiah Blanchard</dc:creator>
  <dc:description/>
  <dc:language>en-US</dc:language>
  <cp:lastModifiedBy>Jeremiah Blanchard</cp:lastModifiedBy>
  <dcterms:modified xsi:type="dcterms:W3CDTF">2025-10-05T20:55:45Z</dcterms:modified>
  <cp:revision>96</cp:revision>
  <dc:subject/>
  <dc:title>Fundamentals of AI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8A5176DE-1C3A-4C5F-BD19-F0ED2390E70E</vt:lpwstr>
  </property>
  <property fmtid="{D5CDD505-2E9C-101B-9397-08002B2CF9AE}" pid="3" name="ArticulatePath">
    <vt:lpwstr>Presentation2</vt:lpwstr>
  </property>
  <property fmtid="{D5CDD505-2E9C-101B-9397-08002B2CF9AE}" pid="4" name="ArticulateProjectFull">
    <vt:lpwstr>H:\PowerPoint training for IDs\COIP-PPT-example-template.ppta</vt:lpwstr>
  </property>
  <property fmtid="{D5CDD505-2E9C-101B-9397-08002B2CF9AE}" pid="5" name="ArticulateProjectVersion">
    <vt:lpwstr>8</vt:lpwstr>
  </property>
  <property fmtid="{D5CDD505-2E9C-101B-9397-08002B2CF9AE}" pid="6" name="ArticulateUseProject">
    <vt:lpwstr>1</vt:lpwstr>
  </property>
  <property fmtid="{D5CDD505-2E9C-101B-9397-08002B2CF9AE}" pid="7" name="Notes">
    <vt:i4>7</vt:i4>
  </property>
  <property fmtid="{D5CDD505-2E9C-101B-9397-08002B2CF9AE}" pid="8" name="PresentationFormat">
    <vt:lpwstr>Widescreen</vt:lpwstr>
  </property>
  <property fmtid="{D5CDD505-2E9C-101B-9397-08002B2CF9AE}" pid="9" name="Slides">
    <vt:i4>9</vt:i4>
  </property>
</Properties>
</file>