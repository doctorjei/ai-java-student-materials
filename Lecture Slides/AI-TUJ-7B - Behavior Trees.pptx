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wmf" ContentType="image/x-wmf"/>
  <Override PartName="/ppt/media/image5.png" ContentType="image/png"/>
  <Override PartName="/ppt/media/image6.png" ContentType="image/pn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2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CJK JP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Noto Serif CJK JP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Noto Serif CJK JP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CJK JP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Noto Serif CJK JP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Noto Serif CJK JP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CJK JP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Noto Serif CJK JP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Noto Serif CJK JP"/>
              </a:defRPr>
            </a:lvl1pPr>
          </a:lstStyle>
          <a:p>
            <a:pPr indent="0" algn="r">
              <a:buNone/>
            </a:pPr>
            <a:fld id="{C459B8CA-67DB-49C4-B2D6-94CE66889DB5}" type="slidenum">
              <a:rPr b="0" lang="en-US" sz="1400" spc="-1" strike="noStrike">
                <a:solidFill>
                  <a:srgbClr val="000000"/>
                </a:solidFill>
                <a:latin typeface="Noto Serif CJK JP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Noto Serif CJK JP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 u="sng">
                <a:solidFill>
                  <a:schemeClr val="dk1"/>
                </a:solidFill>
                <a:uFillTx/>
                <a:latin typeface="Arial"/>
                <a:ea typeface="ＭＳ Ｐゴシック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928C456-45BB-4B1C-8DF5-C097CD2CC637}" type="slidenum">
              <a:rPr b="0" lang="en-US" sz="1200" spc="-1" strike="noStrike" u="sng">
                <a:solidFill>
                  <a:schemeClr val="dk1"/>
                </a:solidFill>
                <a:uFillTx/>
                <a:latin typeface="Arial"/>
                <a:ea typeface="ＭＳ Ｐゴシック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Noto Serif CJK JP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 u="sng">
                <a:solidFill>
                  <a:schemeClr val="dk1"/>
                </a:solidFill>
                <a:uFillTx/>
                <a:latin typeface="Arial"/>
                <a:ea typeface="ＭＳ Ｐゴシック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826FFB0-7F91-4119-A1C6-205FAD3B7DD0}" type="slidenum">
              <a:rPr b="0" lang="en-US" sz="1200" spc="-1" strike="noStrike" u="sng">
                <a:solidFill>
                  <a:schemeClr val="dk1"/>
                </a:solidFill>
                <a:uFillTx/>
                <a:latin typeface="Arial"/>
                <a:ea typeface="ＭＳ Ｐゴシック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Noto Serif CJK JP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 u="sng">
                <a:solidFill>
                  <a:schemeClr val="dk1"/>
                </a:solidFill>
                <a:uFillTx/>
                <a:latin typeface="Arial"/>
                <a:ea typeface="ＭＳ Ｐゴシック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BF17D64-E346-41CF-962A-5F4007EED559}" type="slidenum">
              <a:rPr b="0" lang="en-US" sz="1200" spc="-1" strike="noStrike" u="sng">
                <a:solidFill>
                  <a:schemeClr val="dk1"/>
                </a:solidFill>
                <a:uFillTx/>
                <a:latin typeface="Arial"/>
                <a:ea typeface="ＭＳ Ｐゴシック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Noto Serif CJK JP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 u="sng">
                <a:solidFill>
                  <a:schemeClr val="dk1"/>
                </a:solidFill>
                <a:uFillTx/>
                <a:latin typeface="Arial"/>
                <a:ea typeface="ＭＳ Ｐゴシック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C4394F3-79EE-4740-A7C0-C49E3BE6780A}" type="slidenum">
              <a:rPr b="0" lang="en-US" sz="1200" spc="-1" strike="noStrike" u="sng">
                <a:solidFill>
                  <a:schemeClr val="dk1"/>
                </a:solidFill>
                <a:uFillTx/>
                <a:latin typeface="Arial"/>
                <a:ea typeface="ＭＳ Ｐゴシック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Noto Serif CJK JP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 u="sng">
                <a:solidFill>
                  <a:schemeClr val="dk1"/>
                </a:solidFill>
                <a:uFillTx/>
                <a:latin typeface="Arial"/>
                <a:ea typeface="ＭＳ Ｐゴシック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A2EE9A8-8B4A-4A2E-B515-C8D474084EB4}" type="slidenum">
              <a:rPr b="0" lang="en-US" sz="1200" spc="-1" strike="noStrike" u="sng">
                <a:solidFill>
                  <a:schemeClr val="dk1"/>
                </a:solidFill>
                <a:uFillTx/>
                <a:latin typeface="Arial"/>
                <a:ea typeface="ＭＳ Ｐゴシック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Noto Serif CJK JP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 u="sng">
                <a:solidFill>
                  <a:schemeClr val="dk1"/>
                </a:solidFill>
                <a:uFillTx/>
                <a:latin typeface="Arial"/>
                <a:ea typeface="ＭＳ Ｐゴシック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8E46ECD-9AB5-4F7C-A2CA-249487E64989}" type="slidenum">
              <a:rPr b="0" lang="en-US" sz="1200" spc="-1" strike="noStrike" u="sng">
                <a:solidFill>
                  <a:schemeClr val="dk1"/>
                </a:solidFill>
                <a:uFillTx/>
                <a:latin typeface="Arial"/>
                <a:ea typeface="ＭＳ Ｐゴシック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Noto Serif CJK JP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 u="sng">
                <a:solidFill>
                  <a:schemeClr val="dk1"/>
                </a:solidFill>
                <a:uFillTx/>
                <a:latin typeface="Arial"/>
                <a:ea typeface="ＭＳ Ｐゴシック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70C1D68-6DB3-46AB-9BAE-F2AB7F9E6C13}" type="slidenum">
              <a:rPr b="0" lang="en-US" sz="1200" spc="-1" strike="noStrike" u="sng">
                <a:solidFill>
                  <a:schemeClr val="dk1"/>
                </a:solidFill>
                <a:uFillTx/>
                <a:latin typeface="Arial"/>
                <a:ea typeface="ＭＳ Ｐゴシック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Noto Serif CJK JP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 u="sng">
                <a:solidFill>
                  <a:schemeClr val="dk1"/>
                </a:solidFill>
                <a:uFillTx/>
                <a:latin typeface="Arial"/>
                <a:ea typeface="ＭＳ Ｐゴシック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F0A01AC-B4BE-40FA-A9E1-381436356AA2}" type="slidenum">
              <a:rPr b="0" lang="en-US" sz="1200" spc="-1" strike="noStrike" u="sng">
                <a:solidFill>
                  <a:schemeClr val="dk1"/>
                </a:solidFill>
                <a:uFillTx/>
                <a:latin typeface="Arial"/>
                <a:ea typeface="ＭＳ Ｐゴシック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Noto Serif CJK JP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 u="sng">
                <a:solidFill>
                  <a:schemeClr val="dk1"/>
                </a:solidFill>
                <a:uFillTx/>
                <a:latin typeface="Arial"/>
                <a:ea typeface="ＭＳ Ｐゴシック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49F670A-0AF1-4162-AE3D-DE21A843E9E4}" type="slidenum">
              <a:rPr b="0" lang="en-US" sz="1200" spc="-1" strike="noStrike" u="sng">
                <a:solidFill>
                  <a:schemeClr val="dk1"/>
                </a:solidFill>
                <a:uFillTx/>
                <a:latin typeface="Arial"/>
                <a:ea typeface="ＭＳ Ｐゴシック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Noto Serif CJK JP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 u="sng">
                <a:solidFill>
                  <a:schemeClr val="dk1"/>
                </a:solidFill>
                <a:uFillTx/>
                <a:latin typeface="Arial"/>
                <a:ea typeface="ＭＳ Ｐゴシック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2472825-1D7B-497C-BFBC-B9325476BA8F}" type="slidenum">
              <a:rPr b="0" lang="en-US" sz="1200" spc="-1" strike="noStrike" u="sng">
                <a:solidFill>
                  <a:schemeClr val="dk1"/>
                </a:solidFill>
                <a:uFillTx/>
                <a:latin typeface="Arial"/>
                <a:ea typeface="ＭＳ Ｐゴシック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Noto Serif CJK JP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body"/>
          </p:nvPr>
        </p:nvSpPr>
        <p:spPr>
          <a:xfrm>
            <a:off x="879120" y="3003480"/>
            <a:ext cx="10433520" cy="4069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Arial Regular"/>
              </a:rPr>
              <a:t>Click to edit the outline text format</a:t>
            </a:r>
            <a:endParaRPr b="0" lang="en-US" sz="2400" spc="-1" strike="noStrike">
              <a:solidFill>
                <a:schemeClr val="dk1"/>
              </a:solidFill>
              <a:latin typeface="Arial Regular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Arial Regular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Arial Regular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Arial Regular"/>
              </a:rPr>
              <a:t>Third Outline Level</a:t>
            </a:r>
            <a:endParaRPr b="0" lang="en-US" sz="2400" spc="-1" strike="noStrike">
              <a:solidFill>
                <a:schemeClr val="dk1"/>
              </a:solidFill>
              <a:latin typeface="Arial Regular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Arial Regular"/>
              </a:rPr>
              <a:t>Fourth Outline Level</a:t>
            </a:r>
            <a:endParaRPr b="0" lang="en-US" sz="2400" spc="-1" strike="noStrike">
              <a:solidFill>
                <a:schemeClr val="dk1"/>
              </a:solidFill>
              <a:latin typeface="Arial Regular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Arial Regular"/>
              </a:rPr>
              <a:t>Fifth Outline Level</a:t>
            </a:r>
            <a:endParaRPr b="0" lang="en-US" sz="2400" spc="-1" strike="noStrike">
              <a:solidFill>
                <a:schemeClr val="dk1"/>
              </a:solidFill>
              <a:latin typeface="Arial Regular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Arial Regular"/>
              </a:rPr>
              <a:t>Sixth Outline Level</a:t>
            </a:r>
            <a:endParaRPr b="0" lang="en-US" sz="2400" spc="-1" strike="noStrike">
              <a:solidFill>
                <a:schemeClr val="dk1"/>
              </a:solidFill>
              <a:latin typeface="Arial Regular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Arial Regular"/>
              </a:rPr>
              <a:t>Seventh Outline Level</a:t>
            </a:r>
            <a:endParaRPr b="0" lang="en-US" sz="2400" spc="-1" strike="noStrike">
              <a:solidFill>
                <a:schemeClr val="dk1"/>
              </a:solidFill>
              <a:latin typeface="Arial Regular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title"/>
          </p:nvPr>
        </p:nvSpPr>
        <p:spPr>
          <a:xfrm>
            <a:off x="736200" y="1939320"/>
            <a:ext cx="10719360" cy="791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77987"/>
          </a:bodyPr>
          <a:p>
            <a:pPr indent="0">
              <a:buNone/>
            </a:pPr>
            <a:r>
              <a:rPr b="0" lang="en-US" sz="60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US" sz="60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2573280" y="2431080"/>
            <a:ext cx="7045200" cy="1675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1" lang="en-US" sz="4000" spc="199" strike="noStrike">
                <a:solidFill>
                  <a:schemeClr val="lt1"/>
                </a:solidFill>
                <a:latin typeface="Arial"/>
              </a:rPr>
              <a:t>You have reached the end of this presentation.</a:t>
            </a:r>
            <a:endParaRPr b="0" lang="en-US" sz="4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200" spc="-1" strike="noStrike">
                <a:solidFill>
                  <a:schemeClr val="dk1"/>
                </a:solidFill>
                <a:latin typeface="Arial Regular"/>
              </a:rPr>
              <a:t>Click to edit the outline text format</a:t>
            </a:r>
            <a:endParaRPr b="0" lang="en-US" sz="2200" spc="-1" strike="noStrike">
              <a:solidFill>
                <a:schemeClr val="dk1"/>
              </a:solidFill>
              <a:latin typeface="Arial Regular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chemeClr val="dk1"/>
                </a:solidFill>
                <a:latin typeface="Arial Regular"/>
              </a:rPr>
              <a:t>Second Outline Level</a:t>
            </a:r>
            <a:endParaRPr b="0" lang="en-US" sz="1400" spc="-1" strike="noStrike">
              <a:solidFill>
                <a:schemeClr val="dk1"/>
              </a:solidFill>
              <a:latin typeface="Arial Regular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chemeClr val="dk1"/>
                </a:solidFill>
                <a:latin typeface="Arial Regular"/>
              </a:rPr>
              <a:t>Third Outline Level</a:t>
            </a:r>
            <a:endParaRPr b="0" lang="en-US" sz="1400" spc="-1" strike="noStrike">
              <a:solidFill>
                <a:schemeClr val="dk1"/>
              </a:solidFill>
              <a:latin typeface="Arial Regular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chemeClr val="dk1"/>
                </a:solidFill>
                <a:latin typeface="Arial Regular"/>
              </a:rPr>
              <a:t>Fourth Outline Level</a:t>
            </a:r>
            <a:endParaRPr b="0" lang="en-US" sz="1400" spc="-1" strike="noStrike">
              <a:solidFill>
                <a:schemeClr val="dk1"/>
              </a:solidFill>
              <a:latin typeface="Arial Regular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rial Regular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Arial Regular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rial Regular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Arial Regular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rial Regular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Arial Regula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body"/>
          </p:nvPr>
        </p:nvSpPr>
        <p:spPr>
          <a:xfrm>
            <a:off x="740160" y="1682280"/>
            <a:ext cx="10711080" cy="461988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ffff"/>
              </a:buClr>
              <a:buFont typeface="Tw Cen MT"/>
              <a:buChar char=" "/>
            </a:pPr>
            <a:r>
              <a:rPr b="0" lang="en-US" sz="3600" spc="-1" strike="noStrike">
                <a:solidFill>
                  <a:schemeClr val="lt1"/>
                </a:solidFill>
                <a:latin typeface="Garamond"/>
              </a:rPr>
              <a:t>Edit Master text styles</a:t>
            </a:r>
            <a:endParaRPr b="0" lang="en-US" sz="3600" spc="-1" strike="noStrike">
              <a:solidFill>
                <a:schemeClr val="dk1"/>
              </a:solidFill>
              <a:latin typeface="Arial Regular"/>
            </a:endParaRPr>
          </a:p>
          <a:p>
            <a:pPr lvl="1" marL="26532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c000"/>
              </a:buClr>
              <a:buFont typeface="Wingdings" charset="2"/>
              <a:buChar char=""/>
            </a:pPr>
            <a:r>
              <a:rPr b="0" lang="en-US" sz="3200" spc="-1" strike="noStrike">
                <a:solidFill>
                  <a:schemeClr val="lt1"/>
                </a:solidFill>
                <a:latin typeface="Garamond"/>
              </a:rPr>
              <a:t>Second level</a:t>
            </a:r>
            <a:endParaRPr b="0" lang="en-US" sz="3200" spc="-1" strike="noStrike">
              <a:solidFill>
                <a:schemeClr val="dk1"/>
              </a:solidFill>
              <a:latin typeface="Arial Regular"/>
            </a:endParaRPr>
          </a:p>
          <a:p>
            <a:pPr lvl="2" marL="44820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ffff"/>
              </a:buClr>
              <a:buFont typeface="Arial"/>
              <a:buChar char="◦"/>
            </a:pPr>
            <a:r>
              <a:rPr b="0" lang="en-US" sz="2400" spc="-1" strike="noStrike">
                <a:solidFill>
                  <a:schemeClr val="lt1"/>
                </a:solidFill>
                <a:latin typeface="Garamond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Arial Regular"/>
            </a:endParaRPr>
          </a:p>
          <a:p>
            <a:pPr lvl="3" marL="59436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ffff"/>
              </a:buClr>
              <a:buFont typeface="Wingdings 3" charset="2"/>
              <a:buChar char=""/>
            </a:pPr>
            <a:r>
              <a:rPr b="0" lang="en-US" sz="2400" spc="-1" strike="noStrike">
                <a:solidFill>
                  <a:schemeClr val="lt1"/>
                </a:solidFill>
                <a:latin typeface="Garamond"/>
              </a:rPr>
              <a:t>Fourth level</a:t>
            </a:r>
            <a:endParaRPr b="0" lang="en-US" sz="2400" spc="-1" strike="noStrike">
              <a:solidFill>
                <a:schemeClr val="dk1"/>
              </a:solidFill>
              <a:latin typeface="Arial Regular"/>
            </a:endParaRPr>
          </a:p>
          <a:p>
            <a:pPr lvl="4" marL="77724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ffff"/>
              </a:buClr>
              <a:buFont typeface="Calibri"/>
              <a:buChar char="−"/>
            </a:pPr>
            <a:r>
              <a:rPr b="0" lang="en-US" sz="2400" spc="-1" strike="noStrike">
                <a:solidFill>
                  <a:schemeClr val="lt1"/>
                </a:solidFill>
                <a:latin typeface="Garamond"/>
              </a:rPr>
              <a:t>Fifth level</a:t>
            </a:r>
            <a:endParaRPr b="0" lang="en-US" sz="2400" spc="-1" strike="noStrike">
              <a:solidFill>
                <a:schemeClr val="dk1"/>
              </a:solidFill>
              <a:latin typeface="Arial Regular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title"/>
          </p:nvPr>
        </p:nvSpPr>
        <p:spPr>
          <a:xfrm>
            <a:off x="468720" y="555480"/>
            <a:ext cx="11254320" cy="69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ctr">
            <a:noAutofit/>
          </a:bodyPr>
          <a:p>
            <a:pPr indent="0" algn="ctr" defTabSz="914400">
              <a:lnSpc>
                <a:spcPct val="80000"/>
              </a:lnSpc>
              <a:buNone/>
            </a:pPr>
            <a:r>
              <a:rPr b="1" lang="en-US" sz="4800" spc="97" strike="noStrike">
                <a:solidFill>
                  <a:schemeClr val="lt1"/>
                </a:solidFill>
                <a:latin typeface="Garamond"/>
              </a:rPr>
              <a:t>Click to edit Master title style</a:t>
            </a:r>
            <a:endParaRPr b="0" lang="en-US" sz="4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4.wmf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/>
          </p:nvPr>
        </p:nvSpPr>
        <p:spPr>
          <a:xfrm>
            <a:off x="879120" y="4998960"/>
            <a:ext cx="10433520" cy="461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lt1"/>
                </a:solidFill>
                <a:latin typeface="Garamond"/>
              </a:rPr>
              <a:t>There is a Clever Description of this Somewhere in My Brain</a:t>
            </a:r>
            <a:endParaRPr b="0" lang="en-US" sz="2400" spc="-1" strike="noStrike">
              <a:solidFill>
                <a:schemeClr val="dk1"/>
              </a:solidFill>
              <a:latin typeface="Arial Regular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title"/>
          </p:nvPr>
        </p:nvSpPr>
        <p:spPr>
          <a:xfrm>
            <a:off x="736200" y="1526760"/>
            <a:ext cx="10719360" cy="791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6818"/>
          </a:bodyPr>
          <a:p>
            <a:pPr indent="0" algn="ctr" defTabSz="914400">
              <a:lnSpc>
                <a:spcPct val="80000"/>
              </a:lnSpc>
              <a:buNone/>
            </a:pPr>
            <a:r>
              <a:rPr b="1" lang="en-US" sz="6000" spc="97" strike="noStrike">
                <a:solidFill>
                  <a:schemeClr val="lt1"/>
                </a:solidFill>
                <a:latin typeface="Garamond"/>
              </a:rPr>
              <a:t>Behavior Trees</a:t>
            </a:r>
            <a:endParaRPr b="0" lang="en-US" sz="60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981080" y="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ctr">
            <a:noAutofit/>
          </a:bodyPr>
          <a:p>
            <a:pPr indent="0" algn="ctr" defTabSz="914400">
              <a:lnSpc>
                <a:spcPct val="80000"/>
              </a:lnSpc>
              <a:buNone/>
            </a:pPr>
            <a:r>
              <a:rPr b="1" lang="en-US" sz="4800" spc="97" strike="noStrike">
                <a:solidFill>
                  <a:schemeClr val="lt1"/>
                </a:solidFill>
                <a:latin typeface="Garamond"/>
                <a:ea typeface="ＭＳ Ｐゴシック"/>
              </a:rPr>
              <a:t>Behavior Trees</a:t>
            </a:r>
            <a:endParaRPr b="0" lang="en-US" sz="4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1789560" y="1020600"/>
            <a:ext cx="8585280" cy="524700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 fontScale="96666"/>
          </a:bodyPr>
          <a:p>
            <a:pPr indent="0" algn="ctr" defTabSz="914400">
              <a:lnSpc>
                <a:spcPct val="90000"/>
              </a:lnSpc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lt1"/>
                </a:solidFill>
                <a:latin typeface="Garamond"/>
              </a:rPr>
              <a:t>To model more complex agent behaviors, we can use </a:t>
            </a:r>
            <a:r>
              <a:rPr b="1" lang="en-US" sz="2400" spc="-1" strike="noStrike">
                <a:solidFill>
                  <a:srgbClr val="00ff00"/>
                </a:solidFill>
                <a:latin typeface="Garamond"/>
              </a:rPr>
              <a:t>Behavior Trees</a:t>
            </a:r>
            <a:r>
              <a:rPr b="0" lang="en-US" sz="2400" spc="-1" strike="noStrike">
                <a:solidFill>
                  <a:schemeClr val="lt1"/>
                </a:solidFill>
                <a:latin typeface="Garamond"/>
              </a:rPr>
              <a:t>.</a:t>
            </a:r>
            <a:endParaRPr b="0" lang="en-US" sz="2400" spc="-1" strike="noStrike">
              <a:solidFill>
                <a:schemeClr val="dk1"/>
              </a:solidFill>
              <a:latin typeface="Arial Regular"/>
            </a:endParaRPr>
          </a:p>
          <a:p>
            <a:pPr indent="0" defTabSz="914400">
              <a:lnSpc>
                <a:spcPct val="90000"/>
              </a:lnSpc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2400" spc="-1" strike="noStrike">
              <a:solidFill>
                <a:schemeClr val="dk1"/>
              </a:solidFill>
              <a:latin typeface="Arial Regular"/>
            </a:endParaRPr>
          </a:p>
          <a:p>
            <a:pPr marL="251640" indent="-34308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lt1"/>
                </a:solidFill>
                <a:latin typeface="Garamond"/>
              </a:rPr>
              <a:t>Primitives</a:t>
            </a:r>
            <a:endParaRPr b="0" lang="en-US" sz="2400" spc="-1" strike="noStrike">
              <a:solidFill>
                <a:schemeClr val="dk1"/>
              </a:solidFill>
              <a:latin typeface="Arial Regular"/>
            </a:endParaRPr>
          </a:p>
          <a:p>
            <a:pPr lvl="1" marL="605880" indent="-3430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00b0f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lt1"/>
                </a:solidFill>
                <a:latin typeface="Garamond"/>
              </a:rPr>
              <a:t>Conditions</a:t>
            </a:r>
            <a:endParaRPr b="0" lang="en-US" sz="2400" spc="-1" strike="noStrike">
              <a:solidFill>
                <a:schemeClr val="dk1"/>
              </a:solidFill>
              <a:latin typeface="Arial Regular"/>
            </a:endParaRPr>
          </a:p>
          <a:p>
            <a:pPr lvl="1" marL="605880" indent="-3430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00b0f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lt1"/>
                </a:solidFill>
                <a:latin typeface="Garamond"/>
              </a:rPr>
              <a:t>Actions</a:t>
            </a:r>
            <a:endParaRPr b="0" lang="en-US" sz="2400" spc="-1" strike="noStrike">
              <a:solidFill>
                <a:schemeClr val="dk1"/>
              </a:solidFill>
              <a:latin typeface="Arial Regular"/>
            </a:endParaRPr>
          </a:p>
          <a:p>
            <a:pPr marL="251640" indent="-34308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lt1"/>
                </a:solidFill>
                <a:latin typeface="Garamond"/>
              </a:rPr>
              <a:t>Decorators</a:t>
            </a:r>
            <a:endParaRPr b="0" lang="en-US" sz="2400" spc="-1" strike="noStrike">
              <a:solidFill>
                <a:schemeClr val="dk1"/>
              </a:solidFill>
              <a:latin typeface="Arial Regular"/>
            </a:endParaRPr>
          </a:p>
          <a:p>
            <a:pPr lvl="1" marL="605880" indent="-3430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00b0f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lt1"/>
                </a:solidFill>
                <a:latin typeface="Garamond"/>
              </a:rPr>
              <a:t>Loop</a:t>
            </a:r>
            <a:endParaRPr b="0" lang="en-US" sz="2400" spc="-1" strike="noStrike">
              <a:solidFill>
                <a:schemeClr val="dk1"/>
              </a:solidFill>
              <a:latin typeface="Arial Regular"/>
            </a:endParaRPr>
          </a:p>
          <a:p>
            <a:pPr lvl="1" marL="605880" indent="-3430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00b0f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lt1"/>
                </a:solidFill>
                <a:latin typeface="Garamond"/>
              </a:rPr>
              <a:t>Invert</a:t>
            </a:r>
            <a:endParaRPr b="0" lang="en-US" sz="2400" spc="-1" strike="noStrike">
              <a:solidFill>
                <a:schemeClr val="dk1"/>
              </a:solidFill>
              <a:latin typeface="Arial Regular"/>
            </a:endParaRPr>
          </a:p>
          <a:p>
            <a:pPr marL="251640" indent="-34308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lt1"/>
                </a:solidFill>
                <a:latin typeface="Garamond"/>
              </a:rPr>
              <a:t>Composites</a:t>
            </a:r>
            <a:endParaRPr b="0" lang="en-US" sz="2400" spc="-1" strike="noStrike">
              <a:solidFill>
                <a:schemeClr val="dk1"/>
              </a:solidFill>
              <a:latin typeface="Arial Regular"/>
            </a:endParaRPr>
          </a:p>
          <a:p>
            <a:pPr lvl="1" marL="605880" indent="-3430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00b0f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lt1"/>
                </a:solidFill>
                <a:latin typeface="Garamond"/>
              </a:rPr>
              <a:t>Sequences</a:t>
            </a:r>
            <a:endParaRPr b="0" lang="en-US" sz="2400" spc="-1" strike="noStrike">
              <a:solidFill>
                <a:schemeClr val="dk1"/>
              </a:solidFill>
              <a:latin typeface="Arial Regular"/>
            </a:endParaRPr>
          </a:p>
          <a:p>
            <a:pPr lvl="1" marL="605880" indent="-3430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00b0f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lt1"/>
                </a:solidFill>
                <a:latin typeface="Garamond"/>
              </a:rPr>
              <a:t>Selectors</a:t>
            </a:r>
            <a:endParaRPr b="0" lang="en-US" sz="2400" spc="-1" strike="noStrike">
              <a:solidFill>
                <a:schemeClr val="dk1"/>
              </a:solidFill>
              <a:latin typeface="Arial Regular"/>
            </a:endParaRPr>
          </a:p>
          <a:p>
            <a:pPr lvl="1" marL="605880" indent="-3430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00b0f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lt1"/>
                </a:solidFill>
                <a:latin typeface="Garamond"/>
              </a:rPr>
              <a:t>Parallels</a:t>
            </a:r>
            <a:endParaRPr b="0" lang="en-US" sz="2400" spc="-1" strike="noStrike">
              <a:solidFill>
                <a:schemeClr val="dk1"/>
              </a:solidFill>
              <a:latin typeface="Arial Regular"/>
            </a:endParaRPr>
          </a:p>
        </p:txBody>
      </p:sp>
      <p:pic>
        <p:nvPicPr>
          <p:cNvPr id="16" name="Picture 25" descr="C:\Users\Mister J\AppData\Local\Microsoft\Windows\Temporary Internet Files\Content.IE5\B0XK5IAQ\MCPE01590_0000[1].wmf"/>
          <p:cNvPicPr/>
          <p:nvPr/>
        </p:nvPicPr>
        <p:blipFill>
          <a:blip r:embed="rId1"/>
          <a:stretch/>
        </p:blipFill>
        <p:spPr>
          <a:xfrm>
            <a:off x="4806720" y="1665360"/>
            <a:ext cx="3232440" cy="2693880"/>
          </a:xfrm>
          <a:prstGeom prst="rect">
            <a:avLst/>
          </a:prstGeom>
          <a:ln w="0">
            <a:noFill/>
          </a:ln>
        </p:spPr>
      </p:pic>
      <p:sp>
        <p:nvSpPr>
          <p:cNvPr id="17" name="Content Placeholder 2"/>
          <p:cNvSpPr/>
          <p:nvPr/>
        </p:nvSpPr>
        <p:spPr>
          <a:xfrm>
            <a:off x="5292360" y="4527000"/>
            <a:ext cx="5103720" cy="17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rmAutofit fontScale="87500" lnSpcReduction="10000"/>
          </a:bodyPr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0" lang="en-US" sz="24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After a behavior runs, it returns a </a:t>
            </a:r>
            <a:r>
              <a:rPr b="1" lang="en-US" sz="2400" spc="-1" strike="noStrike">
                <a:solidFill>
                  <a:srgbClr val="00ff00"/>
                </a:solidFill>
                <a:latin typeface="Garamond"/>
                <a:ea typeface="ＭＳ Ｐゴシック"/>
              </a:rPr>
              <a:t>status</a:t>
            </a:r>
            <a:r>
              <a:rPr b="0" lang="en-US" sz="24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: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251640" indent="-343080" defTabSz="914400">
              <a:lnSpc>
                <a:spcPct val="100000"/>
              </a:lnSpc>
              <a:spcAft>
                <a:spcPts val="201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Success (completed)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251640" indent="-343080" defTabSz="914400">
              <a:lnSpc>
                <a:spcPct val="100000"/>
              </a:lnSpc>
              <a:spcAft>
                <a:spcPts val="201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Failure (did not complete)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251640" indent="-343080" defTabSz="914400">
              <a:lnSpc>
                <a:spcPct val="100000"/>
              </a:lnSpc>
              <a:spcAft>
                <a:spcPts val="201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Running (suspended</a:t>
            </a:r>
            <a:r>
              <a:rPr b="0" lang="en-US" sz="24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 to return later)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8" name="Group 3"/>
          <p:cNvGrpSpPr/>
          <p:nvPr/>
        </p:nvGrpSpPr>
        <p:grpSpPr>
          <a:xfrm>
            <a:off x="8009280" y="1561680"/>
            <a:ext cx="2503800" cy="2985480"/>
            <a:chOff x="8009280" y="1561680"/>
            <a:chExt cx="2503800" cy="2985480"/>
          </a:xfrm>
        </p:grpSpPr>
        <p:grpSp>
          <p:nvGrpSpPr>
            <p:cNvPr id="19" name="Group 4"/>
            <p:cNvGrpSpPr/>
            <p:nvPr/>
          </p:nvGrpSpPr>
          <p:grpSpPr>
            <a:xfrm>
              <a:off x="8009280" y="1561680"/>
              <a:ext cx="2503800" cy="2985480"/>
              <a:chOff x="8009280" y="1561680"/>
              <a:chExt cx="2503800" cy="2985480"/>
            </a:xfrm>
          </p:grpSpPr>
          <p:pic>
            <p:nvPicPr>
              <p:cNvPr id="20" name="Picture 5" descr="MPj04372940000.png"/>
              <p:cNvPicPr/>
              <p:nvPr/>
            </p:nvPicPr>
            <p:blipFill>
              <a:blip r:embed="rId2"/>
              <a:stretch/>
            </p:blipFill>
            <p:spPr>
              <a:xfrm>
                <a:off x="8009280" y="1561680"/>
                <a:ext cx="2503800" cy="2985480"/>
              </a:xfrm>
              <a:prstGeom prst="rect">
                <a:avLst/>
              </a:prstGeom>
              <a:ln w="0">
                <a:noFill/>
              </a:ln>
            </p:spPr>
          </p:pic>
          <p:sp>
            <p:nvSpPr>
              <p:cNvPr id="21" name="Oval 10"/>
              <p:cNvSpPr/>
              <p:nvPr/>
            </p:nvSpPr>
            <p:spPr>
              <a:xfrm>
                <a:off x="9068760" y="2043360"/>
                <a:ext cx="384840" cy="24048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00000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ffffff"/>
                  </a:solidFill>
                  <a:latin typeface="Garamond"/>
                </a:endParaRPr>
              </a:p>
            </p:txBody>
          </p:sp>
          <p:sp>
            <p:nvSpPr>
              <p:cNvPr id="22" name="Oval 11"/>
              <p:cNvSpPr/>
              <p:nvPr/>
            </p:nvSpPr>
            <p:spPr>
              <a:xfrm>
                <a:off x="8538840" y="2428560"/>
                <a:ext cx="384840" cy="24048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00000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ffffff"/>
                  </a:solidFill>
                  <a:latin typeface="Garamond"/>
                </a:endParaRPr>
              </a:p>
            </p:txBody>
          </p:sp>
          <p:sp>
            <p:nvSpPr>
              <p:cNvPr id="23" name="Oval 12"/>
              <p:cNvSpPr/>
              <p:nvPr/>
            </p:nvSpPr>
            <p:spPr>
              <a:xfrm>
                <a:off x="9068760" y="2428560"/>
                <a:ext cx="384840" cy="24048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00000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ffffff"/>
                  </a:solidFill>
                  <a:latin typeface="Garamond"/>
                </a:endParaRPr>
              </a:p>
            </p:txBody>
          </p:sp>
          <p:sp>
            <p:nvSpPr>
              <p:cNvPr id="24" name="Oval 13"/>
              <p:cNvSpPr/>
              <p:nvPr/>
            </p:nvSpPr>
            <p:spPr>
              <a:xfrm>
                <a:off x="9598320" y="2428560"/>
                <a:ext cx="384840" cy="24048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00000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ffffff"/>
                  </a:solidFill>
                  <a:latin typeface="Garamond"/>
                </a:endParaRPr>
              </a:p>
            </p:txBody>
          </p:sp>
          <p:cxnSp>
            <p:nvCxnSpPr>
              <p:cNvPr id="25" name="Straight Connector 14"/>
              <p:cNvCxnSpPr/>
              <p:nvPr/>
            </p:nvCxnSpPr>
            <p:spPr>
              <a:xfrm flipH="1">
                <a:off x="8867880" y="2235960"/>
                <a:ext cx="249120" cy="227880"/>
              </a:xfrm>
              <a:prstGeom prst="straightConnector1">
                <a:avLst/>
              </a:prstGeom>
              <a:ln w="25400">
                <a:solidFill>
                  <a:srgbClr val="000000"/>
                </a:solidFill>
                <a:round/>
              </a:ln>
            </p:spPr>
          </p:cxnSp>
          <p:cxnSp>
            <p:nvCxnSpPr>
              <p:cNvPr id="26" name="Straight Connector 15"/>
              <p:cNvCxnSpPr/>
              <p:nvPr/>
            </p:nvCxnSpPr>
            <p:spPr>
              <a:xfrm>
                <a:off x="9261360" y="2283840"/>
                <a:ext cx="360" cy="145080"/>
              </a:xfrm>
              <a:prstGeom prst="straightConnector1">
                <a:avLst/>
              </a:prstGeom>
              <a:ln w="25400">
                <a:solidFill>
                  <a:srgbClr val="000000"/>
                </a:solidFill>
                <a:round/>
              </a:ln>
            </p:spPr>
          </p:cxnSp>
          <p:cxnSp>
            <p:nvCxnSpPr>
              <p:cNvPr id="27" name="Straight Connector 16"/>
              <p:cNvCxnSpPr/>
              <p:nvPr/>
            </p:nvCxnSpPr>
            <p:spPr>
              <a:xfrm flipH="1" flipV="1">
                <a:off x="9397800" y="2248920"/>
                <a:ext cx="257040" cy="214920"/>
              </a:xfrm>
              <a:prstGeom prst="straightConnector1">
                <a:avLst/>
              </a:prstGeom>
              <a:ln w="25400">
                <a:solidFill>
                  <a:srgbClr val="000000"/>
                </a:solidFill>
                <a:round/>
              </a:ln>
            </p:spPr>
          </p:cxnSp>
          <p:sp>
            <p:nvSpPr>
              <p:cNvPr id="28" name="Oval 17"/>
              <p:cNvSpPr/>
              <p:nvPr/>
            </p:nvSpPr>
            <p:spPr>
              <a:xfrm>
                <a:off x="8538840" y="2813760"/>
                <a:ext cx="384840" cy="24048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00000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ffffff"/>
                  </a:solidFill>
                  <a:latin typeface="Garamond"/>
                </a:endParaRPr>
              </a:p>
            </p:txBody>
          </p:sp>
          <p:sp>
            <p:nvSpPr>
              <p:cNvPr id="29" name="Oval 18"/>
              <p:cNvSpPr/>
              <p:nvPr/>
            </p:nvSpPr>
            <p:spPr>
              <a:xfrm>
                <a:off x="9068760" y="2813760"/>
                <a:ext cx="384840" cy="24048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00000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ffffff"/>
                  </a:solidFill>
                  <a:latin typeface="Garamond"/>
                </a:endParaRPr>
              </a:p>
            </p:txBody>
          </p:sp>
          <p:cxnSp>
            <p:nvCxnSpPr>
              <p:cNvPr id="30" name="Straight Connector 20"/>
              <p:cNvCxnSpPr/>
              <p:nvPr/>
            </p:nvCxnSpPr>
            <p:spPr>
              <a:xfrm flipH="1">
                <a:off x="8867880" y="2621160"/>
                <a:ext cx="249120" cy="227880"/>
              </a:xfrm>
              <a:prstGeom prst="straightConnector1">
                <a:avLst/>
              </a:prstGeom>
              <a:ln w="25400">
                <a:solidFill>
                  <a:srgbClr val="000000"/>
                </a:solidFill>
                <a:round/>
              </a:ln>
            </p:spPr>
          </p:cxnSp>
          <p:cxnSp>
            <p:nvCxnSpPr>
              <p:cNvPr id="31" name="Straight Connector 21"/>
              <p:cNvCxnSpPr/>
              <p:nvPr/>
            </p:nvCxnSpPr>
            <p:spPr>
              <a:xfrm>
                <a:off x="9261360" y="2669040"/>
                <a:ext cx="360" cy="145080"/>
              </a:xfrm>
              <a:prstGeom prst="straightConnector1">
                <a:avLst/>
              </a:prstGeom>
              <a:ln w="25400">
                <a:solidFill>
                  <a:srgbClr val="000000"/>
                </a:solidFill>
                <a:round/>
              </a:ln>
            </p:spPr>
          </p:cxnSp>
        </p:grpSp>
        <p:sp>
          <p:nvSpPr>
            <p:cNvPr id="32" name="Oval 7"/>
            <p:cNvSpPr/>
            <p:nvPr/>
          </p:nvSpPr>
          <p:spPr>
            <a:xfrm>
              <a:off x="9598320" y="2813760"/>
              <a:ext cx="384840" cy="24048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00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Garamond"/>
              </a:endParaRPr>
            </a:p>
          </p:txBody>
        </p:sp>
        <p:cxnSp>
          <p:nvCxnSpPr>
            <p:cNvPr id="33" name="Straight Connector 8"/>
            <p:cNvCxnSpPr>
              <a:endCxn id="32" idx="0"/>
            </p:cNvCxnSpPr>
            <p:nvPr/>
          </p:nvCxnSpPr>
          <p:spPr>
            <a:xfrm>
              <a:off x="9790920" y="2669040"/>
              <a:ext cx="360" cy="145080"/>
            </a:xfrm>
            <a:prstGeom prst="straightConnector1">
              <a:avLst/>
            </a:prstGeom>
            <a:ln w="25400">
              <a:solidFill>
                <a:srgbClr val="000000"/>
              </a:solidFill>
              <a:round/>
            </a:ln>
          </p:spPr>
        </p:cxn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nodeType="clickEffect" fill="hold">
                      <p:stCondLst>
                        <p:cond delay="indefinite"/>
                      </p:stCondLst>
                      <p:childTnLst>
                        <p:par>
                          <p:cTn id="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nodeType="clickEffect" fill="hold">
                      <p:stCondLst>
                        <p:cond delay="indefinite"/>
                      </p:stCondLst>
                      <p:childTnLst>
                        <p:par>
                          <p:cTn id="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0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nodeType="clickEffect" fill="hold">
                      <p:stCondLst>
                        <p:cond delay="indefinite"/>
                      </p:stCondLst>
                      <p:childTnLst>
                        <p:par>
                          <p:cTn id="1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5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7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nodeType="clickEffect" fill="hold">
                      <p:stCondLst>
                        <p:cond delay="indefinite"/>
                      </p:stCondLst>
                      <p:childTnLst>
                        <p:par>
                          <p:cTn id="1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0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2" dur="500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7" dur="500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2" dur="500"/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nodeType="clickEffect" fill="hold">
                      <p:stCondLst>
                        <p:cond delay="indefinite"/>
                      </p:stCondLst>
                      <p:childTnLst>
                        <p:par>
                          <p:cTn id="3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5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7" dur="500"/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2" dur="500"/>
                                        <p:tgtEl>
                                          <p:spTgt spid="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7" dur="500"/>
                                        <p:tgtEl>
                                          <p:spTgt spid="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2" dur="500"/>
                                        <p:tgtEl>
                                          <p:spTgt spid="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981080" y="1522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ctr">
            <a:noAutofit/>
          </a:bodyPr>
          <a:p>
            <a:pPr indent="0" algn="ctr" defTabSz="914400">
              <a:lnSpc>
                <a:spcPct val="80000"/>
              </a:lnSpc>
              <a:buNone/>
            </a:pPr>
            <a:r>
              <a:rPr b="1" lang="en-US" sz="4800" spc="97" strike="noStrike">
                <a:solidFill>
                  <a:schemeClr val="lt1"/>
                </a:solidFill>
                <a:latin typeface="Garamond"/>
                <a:ea typeface="ＭＳ Ｐゴシック"/>
              </a:rPr>
              <a:t>Conditions &amp; Actions</a:t>
            </a:r>
            <a:endParaRPr b="0" lang="en-US" sz="4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5" name="Rectangle 3"/>
          <p:cNvSpPr/>
          <p:nvPr/>
        </p:nvSpPr>
        <p:spPr>
          <a:xfrm>
            <a:off x="7570800" y="3012480"/>
            <a:ext cx="2234160" cy="1142640"/>
          </a:xfrm>
          <a:prstGeom prst="rect">
            <a:avLst/>
          </a:prstGeom>
          <a:solidFill>
            <a:schemeClr val="tx1"/>
          </a:solidFill>
          <a:ln w="76200">
            <a:solidFill>
              <a:srgbClr val="ff66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400" spc="-1" strike="noStrike">
                <a:ln>
                  <a:solidFill>
                    <a:schemeClr val="lt2"/>
                  </a:solidFill>
                </a:ln>
                <a:solidFill>
                  <a:srgbClr val="ffffff"/>
                </a:solidFill>
                <a:latin typeface="Garamond"/>
              </a:rPr>
              <a:t>Is Door Open?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Oval 4"/>
          <p:cNvSpPr/>
          <p:nvPr/>
        </p:nvSpPr>
        <p:spPr>
          <a:xfrm>
            <a:off x="7570800" y="4993920"/>
            <a:ext cx="2234160" cy="1142640"/>
          </a:xfrm>
          <a:prstGeom prst="ellipse">
            <a:avLst/>
          </a:prstGeom>
          <a:solidFill>
            <a:schemeClr val="tx1"/>
          </a:solidFill>
          <a:ln w="76200">
            <a:solidFill>
              <a:srgbClr val="ff66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400" spc="-1" strike="noStrike">
                <a:ln>
                  <a:solidFill>
                    <a:schemeClr val="lt2"/>
                  </a:solidFill>
                </a:ln>
                <a:solidFill>
                  <a:srgbClr val="ffffff"/>
                </a:solidFill>
                <a:latin typeface="Garamond"/>
              </a:rPr>
              <a:t>Open Door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2002680" y="1600200"/>
            <a:ext cx="8076960" cy="502884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Autofit/>
          </a:bodyPr>
          <a:p>
            <a:pPr indent="0" algn="ctr" defTabSz="914400">
              <a:lnSpc>
                <a:spcPct val="90000"/>
              </a:lnSpc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Conditions and actions are the most basic behaviors.</a:t>
            </a:r>
            <a:endParaRPr b="0" lang="en-US" sz="2800" spc="-1" strike="noStrike">
              <a:solidFill>
                <a:schemeClr val="dk1"/>
              </a:solidFill>
              <a:latin typeface="Arial Regular"/>
            </a:endParaRPr>
          </a:p>
          <a:p>
            <a:pPr indent="0" defTabSz="914400">
              <a:lnSpc>
                <a:spcPct val="90000"/>
              </a:lnSpc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2800" spc="-1" strike="noStrike">
              <a:solidFill>
                <a:schemeClr val="dk1"/>
              </a:solidFill>
              <a:latin typeface="Arial Regular"/>
            </a:endParaRPr>
          </a:p>
          <a:p>
            <a:pPr indent="0" defTabSz="914400">
              <a:lnSpc>
                <a:spcPct val="90000"/>
              </a:lnSpc>
              <a:spcAft>
                <a:spcPts val="201"/>
              </a:spcAft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ff00"/>
                </a:solidFill>
                <a:latin typeface="Garamond"/>
                <a:ea typeface="ＭＳ Ｐゴシック"/>
              </a:rPr>
              <a:t>Conditions</a:t>
            </a:r>
            <a:r>
              <a:rPr b="0" lang="en-US" sz="28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 check the status of something in the world</a:t>
            </a:r>
            <a:r>
              <a:rPr b="0" lang="en-US" sz="28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.</a:t>
            </a:r>
            <a:endParaRPr b="0" lang="en-US" sz="2800" spc="-1" strike="noStrike">
              <a:solidFill>
                <a:schemeClr val="dk1"/>
              </a:solidFill>
              <a:latin typeface="Arial Regular"/>
            </a:endParaRPr>
          </a:p>
          <a:p>
            <a:pPr marL="365760" indent="-457200" defTabSz="914400">
              <a:lnSpc>
                <a:spcPct val="90000"/>
              </a:lnSpc>
              <a:spcAft>
                <a:spcPts val="201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Are enemies nearby?</a:t>
            </a:r>
            <a:endParaRPr b="0" lang="en-US" sz="2800" spc="-1" strike="noStrike">
              <a:solidFill>
                <a:schemeClr val="dk1"/>
              </a:solidFill>
              <a:latin typeface="Arial Regular"/>
            </a:endParaRPr>
          </a:p>
          <a:p>
            <a:pPr marL="365760" indent="-457200" defTabSz="914400">
              <a:lnSpc>
                <a:spcPct val="90000"/>
              </a:lnSpc>
              <a:spcAft>
                <a:spcPts val="201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Is the character attacking?</a:t>
            </a:r>
            <a:endParaRPr b="0" lang="en-US" sz="2800" spc="-1" strike="noStrike">
              <a:solidFill>
                <a:schemeClr val="dk1"/>
              </a:solidFill>
              <a:latin typeface="Arial Regular"/>
            </a:endParaRPr>
          </a:p>
          <a:p>
            <a:pPr marL="365760" indent="-457200" defTabSz="914400">
              <a:lnSpc>
                <a:spcPct val="90000"/>
              </a:lnSpc>
              <a:spcAft>
                <a:spcPts val="201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Do I have a key?</a:t>
            </a:r>
            <a:endParaRPr b="0" lang="en-US" sz="2800" spc="-1" strike="noStrike">
              <a:solidFill>
                <a:schemeClr val="dk1"/>
              </a:solidFill>
              <a:latin typeface="Arial Regular"/>
            </a:endParaRPr>
          </a:p>
          <a:p>
            <a:pPr indent="0" defTabSz="914400">
              <a:lnSpc>
                <a:spcPct val="90000"/>
              </a:lnSpc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2800" spc="-1" strike="noStrike">
              <a:solidFill>
                <a:schemeClr val="dk1"/>
              </a:solidFill>
              <a:latin typeface="Arial Regular"/>
            </a:endParaRPr>
          </a:p>
          <a:p>
            <a:pPr indent="0" defTabSz="914400">
              <a:lnSpc>
                <a:spcPct val="90000"/>
              </a:lnSpc>
              <a:spcAft>
                <a:spcPts val="201"/>
              </a:spcAft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ff00"/>
                </a:solidFill>
                <a:latin typeface="Garamond"/>
                <a:ea typeface="ＭＳ Ｐゴシック"/>
              </a:rPr>
              <a:t>Actions</a:t>
            </a:r>
            <a:r>
              <a:rPr b="0" lang="en-US" sz="28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 do something that alters the world in some way.</a:t>
            </a:r>
            <a:endParaRPr b="0" lang="en-US" sz="2800" spc="-1" strike="noStrike">
              <a:solidFill>
                <a:schemeClr val="dk1"/>
              </a:solidFill>
              <a:latin typeface="Arial Regular"/>
            </a:endParaRPr>
          </a:p>
          <a:p>
            <a:pPr marL="365760" indent="-457200" defTabSz="914400">
              <a:lnSpc>
                <a:spcPct val="90000"/>
              </a:lnSpc>
              <a:spcAft>
                <a:spcPts val="201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Grab pick-axe</a:t>
            </a:r>
            <a:endParaRPr b="0" lang="en-US" sz="2800" spc="-1" strike="noStrike">
              <a:solidFill>
                <a:schemeClr val="dk1"/>
              </a:solidFill>
              <a:latin typeface="Arial Regular"/>
            </a:endParaRPr>
          </a:p>
          <a:p>
            <a:pPr marL="365760" indent="-457200" defTabSz="914400">
              <a:lnSpc>
                <a:spcPct val="90000"/>
              </a:lnSpc>
              <a:spcAft>
                <a:spcPts val="201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Push block to the left</a:t>
            </a:r>
            <a:endParaRPr b="0" lang="en-US" sz="2800" spc="-1" strike="noStrike">
              <a:solidFill>
                <a:schemeClr val="dk1"/>
              </a:solidFill>
              <a:latin typeface="Arial Regular"/>
            </a:endParaRPr>
          </a:p>
          <a:p>
            <a:pPr marL="365760" indent="-457200" defTabSz="914400">
              <a:lnSpc>
                <a:spcPct val="90000"/>
              </a:lnSpc>
              <a:spcAft>
                <a:spcPts val="201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Eat a sandwich</a:t>
            </a:r>
            <a:endParaRPr b="0" lang="en-US" sz="2800" spc="-1" strike="noStrike">
              <a:solidFill>
                <a:schemeClr val="dk1"/>
              </a:solidFill>
              <a:latin typeface="Arial Regula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1981080" y="1522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ctr">
            <a:noAutofit/>
          </a:bodyPr>
          <a:p>
            <a:pPr indent="0" algn="ctr" defTabSz="914400">
              <a:lnSpc>
                <a:spcPct val="80000"/>
              </a:lnSpc>
              <a:buNone/>
            </a:pPr>
            <a:r>
              <a:rPr b="1" lang="en-US" sz="4800" spc="97" strike="noStrike">
                <a:solidFill>
                  <a:schemeClr val="lt1"/>
                </a:solidFill>
                <a:latin typeface="Garamond"/>
                <a:ea typeface="ＭＳ Ｐゴシック"/>
              </a:rPr>
              <a:t>Decorators</a:t>
            </a:r>
            <a:endParaRPr b="0" lang="en-US" sz="4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/>
          </p:nvPr>
        </p:nvSpPr>
        <p:spPr>
          <a:xfrm>
            <a:off x="593640" y="1143000"/>
            <a:ext cx="11004480" cy="99036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/>
          </a:bodyPr>
          <a:p>
            <a:pPr indent="0" defTabSz="914400">
              <a:lnSpc>
                <a:spcPct val="90000"/>
              </a:lnSpc>
              <a:spcAft>
                <a:spcPts val="201"/>
              </a:spcAft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00ff00"/>
                </a:solidFill>
                <a:latin typeface="Garamond"/>
                <a:ea typeface="ＭＳ Ｐゴシック"/>
              </a:rPr>
              <a:t>Decorators</a:t>
            </a:r>
            <a:r>
              <a:rPr b="0" lang="en-US" sz="32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 allow for tweaking actions without modifying their code.</a:t>
            </a:r>
            <a:endParaRPr b="0" lang="en-US" sz="3200" spc="-1" strike="noStrike">
              <a:solidFill>
                <a:schemeClr val="dk1"/>
              </a:solidFill>
              <a:latin typeface="Arial Regular"/>
            </a:endParaRPr>
          </a:p>
        </p:txBody>
      </p:sp>
      <p:sp>
        <p:nvSpPr>
          <p:cNvPr id="40" name="Diamond 3"/>
          <p:cNvSpPr/>
          <p:nvPr/>
        </p:nvSpPr>
        <p:spPr>
          <a:xfrm>
            <a:off x="7926480" y="2629080"/>
            <a:ext cx="2437920" cy="990360"/>
          </a:xfrm>
          <a:prstGeom prst="diamond">
            <a:avLst/>
          </a:prstGeom>
          <a:solidFill>
            <a:schemeClr val="tx1"/>
          </a:solidFill>
          <a:ln w="76200">
            <a:solidFill>
              <a:srgbClr val="ff66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400" spc="-1" strike="noStrike">
                <a:ln>
                  <a:solidFill>
                    <a:schemeClr val="lt2"/>
                  </a:solidFill>
                </a:ln>
                <a:solidFill>
                  <a:srgbClr val="ffffff"/>
                </a:solidFill>
                <a:latin typeface="Garamond"/>
              </a:rPr>
              <a:t>Do 2 Times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Oval 4"/>
          <p:cNvSpPr/>
          <p:nvPr/>
        </p:nvSpPr>
        <p:spPr>
          <a:xfrm>
            <a:off x="7926480" y="4305240"/>
            <a:ext cx="2437920" cy="990360"/>
          </a:xfrm>
          <a:prstGeom prst="ellipse">
            <a:avLst/>
          </a:prstGeom>
          <a:solidFill>
            <a:schemeClr val="tx1"/>
          </a:solidFill>
          <a:ln w="76200">
            <a:solidFill>
              <a:srgbClr val="ff66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400" spc="-1" strike="noStrike">
                <a:ln>
                  <a:solidFill>
                    <a:schemeClr val="lt2"/>
                  </a:solidFill>
                </a:ln>
                <a:solidFill>
                  <a:srgbClr val="ffffff"/>
                </a:solidFill>
                <a:latin typeface="Garamond"/>
              </a:rPr>
              <a:t>Find Door Key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42" name="Straight Arrow Connector 5"/>
          <p:cNvCxnSpPr>
            <a:endCxn id="41" idx="0"/>
          </p:cNvCxnSpPr>
          <p:nvPr/>
        </p:nvCxnSpPr>
        <p:spPr>
          <a:xfrm>
            <a:off x="9145440" y="3619440"/>
            <a:ext cx="360" cy="686160"/>
          </a:xfrm>
          <a:prstGeom prst="straightConnector1">
            <a:avLst/>
          </a:prstGeom>
          <a:ln w="38100">
            <a:solidFill>
              <a:srgbClr val="ffff00"/>
            </a:solidFill>
            <a:round/>
            <a:tailEnd len="med" type="arrow" w="med"/>
          </a:ln>
        </p:spPr>
      </p:cxnSp>
      <p:sp>
        <p:nvSpPr>
          <p:cNvPr id="43" name="Content Placeholder 2"/>
          <p:cNvSpPr/>
          <p:nvPr/>
        </p:nvSpPr>
        <p:spPr>
          <a:xfrm>
            <a:off x="1587960" y="2568960"/>
            <a:ext cx="5790960" cy="25905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3200" spc="-1" strike="noStrike" u="sng">
                <a:solidFill>
                  <a:schemeClr val="lt1"/>
                </a:solidFill>
                <a:uFillTx/>
                <a:latin typeface="Garamond"/>
              </a:rPr>
              <a:t>Examples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Inverter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Loop (Count, Timer, Retry)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Debug</a:t>
            </a:r>
            <a:r>
              <a:rPr b="0" lang="en-US" sz="32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 Node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Guard</a:t>
            </a:r>
            <a:r>
              <a:rPr b="0" lang="x-none" sz="32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 </a:t>
            </a:r>
            <a:r>
              <a:rPr b="0" lang="en-US" sz="32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(</a:t>
            </a:r>
            <a:r>
              <a:rPr b="0" lang="x-none" sz="32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semaphore</a:t>
            </a:r>
            <a:r>
              <a:rPr b="0" lang="en-US" sz="32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 / mutex</a:t>
            </a:r>
            <a:r>
              <a:rPr b="0" lang="x-none" sz="32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)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3" dur="indefinite" restart="never" nodeType="tmRoot">
          <p:childTnLst>
            <p:seq>
              <p:cTn id="54" dur="indefinite" nodeType="mainSeq">
                <p:childTnLst>
                  <p:par>
                    <p:cTn id="55" nodeType="clickEffect" fill="hold">
                      <p:stCondLst>
                        <p:cond delay="indefinite"/>
                      </p:stCondLst>
                      <p:childTnLst>
                        <p:par>
                          <p:cTn id="5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7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9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4" dur="500"/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9" dur="500"/>
                                        <p:tgtEl>
                                          <p:spTgt spid="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nodeType="clickEffect" fill="hold">
                      <p:stCondLst>
                        <p:cond delay="indefinite"/>
                      </p:stCondLst>
                      <p:childTnLst>
                        <p:par>
                          <p:cTn id="7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2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74" dur="500"/>
                                        <p:tgtEl>
                                          <p:spTgt spid="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nodeType="clickEffect" fill="hold">
                      <p:stCondLst>
                        <p:cond delay="indefinite"/>
                      </p:stCondLst>
                      <p:childTnLst>
                        <p:par>
                          <p:cTn id="7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7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79" dur="500"/>
                                        <p:tgtEl>
                                          <p:spTgt spid="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Freeform 50"/>
          <p:cNvSpPr/>
          <p:nvPr/>
        </p:nvSpPr>
        <p:spPr>
          <a:xfrm flipH="1">
            <a:off x="1706400" y="3487680"/>
            <a:ext cx="3017520" cy="2819160"/>
          </a:xfrm>
          <a:custGeom>
            <a:avLst/>
            <a:gdLst>
              <a:gd name="textAreaLeft" fmla="*/ 360 w 3017520"/>
              <a:gd name="textAreaRight" fmla="*/ 3018240 w 3017520"/>
              <a:gd name="textAreaTop" fmla="*/ 0 h 2819160"/>
              <a:gd name="textAreaBottom" fmla="*/ 2819520 h 2819160"/>
            </a:gdLst>
            <a:ahLst/>
            <a:rect l="textAreaLeft" t="textAreaTop" r="textAreaRight" b="textAreaBottom"/>
            <a:pathLst>
              <a:path w="3018019" h="2819401">
                <a:moveTo>
                  <a:pt x="1676401" y="2438400"/>
                </a:moveTo>
                <a:cubicBezTo>
                  <a:pt x="1696174" y="2471677"/>
                  <a:pt x="1689101" y="2603501"/>
                  <a:pt x="1752601" y="2667001"/>
                </a:cubicBezTo>
                <a:cubicBezTo>
                  <a:pt x="1816101" y="2730501"/>
                  <a:pt x="1905001" y="2819401"/>
                  <a:pt x="2057401" y="2819401"/>
                </a:cubicBezTo>
                <a:cubicBezTo>
                  <a:pt x="2209801" y="2819401"/>
                  <a:pt x="2514601" y="2768601"/>
                  <a:pt x="2667001" y="2667001"/>
                </a:cubicBezTo>
                <a:cubicBezTo>
                  <a:pt x="2819401" y="2565401"/>
                  <a:pt x="2971801" y="2425702"/>
                  <a:pt x="2971801" y="2209802"/>
                </a:cubicBezTo>
                <a:cubicBezTo>
                  <a:pt x="2971801" y="1993902"/>
                  <a:pt x="3018019" y="1574800"/>
                  <a:pt x="2667000" y="1371600"/>
                </a:cubicBezTo>
                <a:cubicBezTo>
                  <a:pt x="2315981" y="1168400"/>
                  <a:pt x="1310189" y="1219200"/>
                  <a:pt x="865689" y="990600"/>
                </a:cubicBezTo>
                <a:cubicBezTo>
                  <a:pt x="421189" y="762000"/>
                  <a:pt x="8681" y="528576"/>
                  <a:pt x="0" y="0"/>
                </a:cubicBezTo>
              </a:path>
            </a:pathLst>
          </a:custGeom>
          <a:noFill/>
          <a:ln w="38100">
            <a:solidFill>
              <a:srgbClr val="ffffff"/>
            </a:solidFill>
            <a:round/>
            <a:tailEnd len="lg" type="stealth" w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Garamond"/>
            </a:endParaRPr>
          </a:p>
        </p:txBody>
      </p:sp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1981080" y="159120"/>
            <a:ext cx="8229240" cy="83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ctr">
            <a:noAutofit/>
          </a:bodyPr>
          <a:p>
            <a:pPr indent="0" algn="ctr" defTabSz="914400">
              <a:lnSpc>
                <a:spcPct val="80000"/>
              </a:lnSpc>
              <a:buNone/>
            </a:pPr>
            <a:r>
              <a:rPr b="1" lang="en-US" sz="4800" spc="97" strike="noStrike">
                <a:solidFill>
                  <a:schemeClr val="lt1"/>
                </a:solidFill>
                <a:latin typeface="Garamond"/>
                <a:ea typeface="ＭＳ Ｐゴシック"/>
              </a:rPr>
              <a:t>Sequences</a:t>
            </a:r>
            <a:endParaRPr b="0" lang="en-US" sz="4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/>
          </p:nvPr>
        </p:nvSpPr>
        <p:spPr>
          <a:xfrm>
            <a:off x="1752480" y="1189800"/>
            <a:ext cx="8686440" cy="205704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Autofit/>
          </a:bodyPr>
          <a:p>
            <a:pPr indent="0" defTabSz="914400">
              <a:lnSpc>
                <a:spcPct val="90000"/>
              </a:lnSpc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lt1"/>
                </a:solidFill>
                <a:latin typeface="Garamond"/>
              </a:rPr>
              <a:t>A </a:t>
            </a:r>
            <a:r>
              <a:rPr b="1" lang="en-US" sz="2800" spc="-1" strike="noStrike">
                <a:solidFill>
                  <a:srgbClr val="00ff00"/>
                </a:solidFill>
                <a:latin typeface="Garamond"/>
              </a:rPr>
              <a:t>sequence</a:t>
            </a:r>
            <a:r>
              <a:rPr b="0" lang="en-US" sz="2800" spc="-1" strike="noStrike">
                <a:solidFill>
                  <a:schemeClr val="lt1"/>
                </a:solidFill>
                <a:latin typeface="Garamond"/>
              </a:rPr>
              <a:t> is a set of behaviors all of which must complete for the sequence to succeed.</a:t>
            </a:r>
            <a:endParaRPr b="0" lang="en-US" sz="2800" spc="-1" strike="noStrike">
              <a:solidFill>
                <a:schemeClr val="dk1"/>
              </a:solidFill>
              <a:latin typeface="Arial Regular"/>
            </a:endParaRPr>
          </a:p>
          <a:p>
            <a:pPr indent="0" defTabSz="914400">
              <a:lnSpc>
                <a:spcPct val="90000"/>
              </a:lnSpc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2800" spc="-1" strike="noStrike">
              <a:solidFill>
                <a:schemeClr val="dk1"/>
              </a:solidFill>
              <a:latin typeface="Arial Regular"/>
            </a:endParaRPr>
          </a:p>
          <a:p>
            <a:pPr indent="0" defTabSz="914400">
              <a:lnSpc>
                <a:spcPct val="90000"/>
              </a:lnSpc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lt1"/>
                </a:solidFill>
                <a:latin typeface="Garamond"/>
              </a:rPr>
              <a:t>If any child fails, </a:t>
            </a:r>
            <a:r>
              <a:rPr b="0" lang="en-US" sz="2800" spc="-1" strike="noStrike" u="sng">
                <a:solidFill>
                  <a:schemeClr val="lt1"/>
                </a:solidFill>
                <a:uFillTx/>
                <a:latin typeface="Garamond"/>
              </a:rPr>
              <a:t>the sequence immediately fails</a:t>
            </a:r>
            <a:r>
              <a:rPr b="0" lang="en-US" sz="2800" spc="-1" strike="noStrike">
                <a:solidFill>
                  <a:schemeClr val="lt1"/>
                </a:solidFill>
                <a:latin typeface="Garamond"/>
              </a:rPr>
              <a:t>.</a:t>
            </a:r>
            <a:endParaRPr b="0" lang="en-US" sz="2800" spc="-1" strike="noStrike">
              <a:solidFill>
                <a:schemeClr val="dk1"/>
              </a:solidFill>
              <a:latin typeface="Arial Regular"/>
            </a:endParaRPr>
          </a:p>
          <a:p>
            <a:pPr indent="0" defTabSz="914400">
              <a:lnSpc>
                <a:spcPct val="90000"/>
              </a:lnSpc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3600" spc="-1" strike="noStrike">
              <a:solidFill>
                <a:schemeClr val="dk1"/>
              </a:solidFill>
              <a:latin typeface="Arial Regular"/>
            </a:endParaRPr>
          </a:p>
        </p:txBody>
      </p:sp>
      <p:sp>
        <p:nvSpPr>
          <p:cNvPr id="47" name="Oval 7"/>
          <p:cNvSpPr/>
          <p:nvPr/>
        </p:nvSpPr>
        <p:spPr>
          <a:xfrm>
            <a:off x="4800600" y="3259080"/>
            <a:ext cx="2437920" cy="990360"/>
          </a:xfrm>
          <a:prstGeom prst="ellipse">
            <a:avLst/>
          </a:prstGeom>
          <a:solidFill>
            <a:schemeClr val="tx1"/>
          </a:solidFill>
          <a:ln w="76200">
            <a:solidFill>
              <a:srgbClr val="0070c0"/>
            </a:solidFill>
            <a:prstDash val="sysDot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400" spc="-1" strike="noStrike">
                <a:ln>
                  <a:solidFill>
                    <a:schemeClr val="lt2"/>
                  </a:solidFill>
                </a:ln>
                <a:solidFill>
                  <a:srgbClr val="ffffff"/>
                </a:solidFill>
                <a:latin typeface="Garamond"/>
              </a:rPr>
              <a:t>Approach Enemy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Oval 31"/>
          <p:cNvSpPr/>
          <p:nvPr/>
        </p:nvSpPr>
        <p:spPr>
          <a:xfrm>
            <a:off x="1828800" y="4935240"/>
            <a:ext cx="2437920" cy="990360"/>
          </a:xfrm>
          <a:prstGeom prst="ellipse">
            <a:avLst/>
          </a:prstGeom>
          <a:solidFill>
            <a:schemeClr val="tx1"/>
          </a:solidFill>
          <a:ln w="76200">
            <a:solidFill>
              <a:srgbClr val="ff66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400" spc="-1" strike="noStrike">
                <a:ln>
                  <a:solidFill>
                    <a:schemeClr val="lt2"/>
                  </a:solidFill>
                </a:ln>
                <a:solidFill>
                  <a:srgbClr val="ffffff"/>
                </a:solidFill>
                <a:latin typeface="Garamond"/>
              </a:rPr>
              <a:t>Locate Enemy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Oval 32"/>
          <p:cNvSpPr/>
          <p:nvPr/>
        </p:nvSpPr>
        <p:spPr>
          <a:xfrm>
            <a:off x="4800600" y="4935240"/>
            <a:ext cx="2437920" cy="990360"/>
          </a:xfrm>
          <a:prstGeom prst="ellipse">
            <a:avLst/>
          </a:prstGeom>
          <a:solidFill>
            <a:schemeClr val="tx1"/>
          </a:solidFill>
          <a:ln w="76200">
            <a:solidFill>
              <a:srgbClr val="ff66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400" spc="-1" strike="noStrike">
                <a:ln>
                  <a:solidFill>
                    <a:schemeClr val="lt2"/>
                  </a:solidFill>
                </a:ln>
                <a:solidFill>
                  <a:srgbClr val="ffffff"/>
                </a:solidFill>
                <a:latin typeface="Garamond"/>
              </a:rPr>
              <a:t>Plan Path to Enemy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50" name="Straight Arrow Connector 39"/>
          <p:cNvCxnSpPr>
            <a:stCxn id="48" idx="6"/>
            <a:endCxn id="49" idx="2"/>
          </p:cNvCxnSpPr>
          <p:nvPr/>
        </p:nvCxnSpPr>
        <p:spPr>
          <a:xfrm>
            <a:off x="4266720" y="5430600"/>
            <a:ext cx="534240" cy="360"/>
          </a:xfrm>
          <a:prstGeom prst="straightConnector1">
            <a:avLst/>
          </a:prstGeom>
          <a:ln w="38100">
            <a:solidFill>
              <a:srgbClr val="ffffff"/>
            </a:solidFill>
            <a:round/>
            <a:tailEnd len="med" type="arrow" w="med"/>
          </a:ln>
        </p:spPr>
      </p:cxnSp>
      <p:cxnSp>
        <p:nvCxnSpPr>
          <p:cNvPr id="51" name="Straight Arrow Connector 42"/>
          <p:cNvCxnSpPr>
            <a:stCxn id="49" idx="6"/>
            <a:endCxn id="52" idx="2"/>
          </p:cNvCxnSpPr>
          <p:nvPr/>
        </p:nvCxnSpPr>
        <p:spPr>
          <a:xfrm>
            <a:off x="7238520" y="5430600"/>
            <a:ext cx="534240" cy="360"/>
          </a:xfrm>
          <a:prstGeom prst="straightConnector1">
            <a:avLst/>
          </a:prstGeom>
          <a:ln w="38100">
            <a:solidFill>
              <a:srgbClr val="ffffff"/>
            </a:solidFill>
            <a:round/>
            <a:tailEnd len="med" type="arrow" w="med"/>
          </a:ln>
        </p:spPr>
      </p:cxnSp>
      <p:sp>
        <p:nvSpPr>
          <p:cNvPr id="53" name="Freeform 49"/>
          <p:cNvSpPr/>
          <p:nvPr/>
        </p:nvSpPr>
        <p:spPr>
          <a:xfrm>
            <a:off x="7287120" y="3411360"/>
            <a:ext cx="3249360" cy="2018880"/>
          </a:xfrm>
          <a:custGeom>
            <a:avLst/>
            <a:gdLst>
              <a:gd name="textAreaLeft" fmla="*/ 0 w 3249360"/>
              <a:gd name="textAreaRight" fmla="*/ 3249720 w 3249360"/>
              <a:gd name="textAreaTop" fmla="*/ 0 h 2018880"/>
              <a:gd name="textAreaBottom" fmla="*/ 2019240 h 2018880"/>
            </a:gdLst>
            <a:ahLst/>
            <a:rect l="textAreaLeft" t="textAreaTop" r="textAreaRight" b="textAreaBottom"/>
            <a:pathLst>
              <a:path w="3249110" h="2019781">
                <a:moveTo>
                  <a:pt x="2959261" y="2019781"/>
                </a:moveTo>
                <a:cubicBezTo>
                  <a:pt x="3231266" y="1858699"/>
                  <a:pt x="3249110" y="1619329"/>
                  <a:pt x="2895600" y="1447799"/>
                </a:cubicBezTo>
                <a:cubicBezTo>
                  <a:pt x="2542090" y="1276269"/>
                  <a:pt x="1320799" y="1231900"/>
                  <a:pt x="838199" y="990600"/>
                </a:cubicBezTo>
                <a:cubicBezTo>
                  <a:pt x="355599" y="749300"/>
                  <a:pt x="8681" y="528576"/>
                  <a:pt x="0" y="0"/>
                </a:cubicBezTo>
              </a:path>
            </a:pathLst>
          </a:custGeom>
          <a:noFill/>
          <a:ln w="38100">
            <a:solidFill>
              <a:srgbClr val="ffffff"/>
            </a:solidFill>
            <a:round/>
            <a:tailEnd len="lg" type="stealth" w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Garamond"/>
            </a:endParaRPr>
          </a:p>
        </p:txBody>
      </p:sp>
      <p:sp>
        <p:nvSpPr>
          <p:cNvPr id="54" name="Freeform 52"/>
          <p:cNvSpPr/>
          <p:nvPr/>
        </p:nvSpPr>
        <p:spPr>
          <a:xfrm>
            <a:off x="2514600" y="5925960"/>
            <a:ext cx="3580920" cy="529920"/>
          </a:xfrm>
          <a:custGeom>
            <a:avLst/>
            <a:gdLst>
              <a:gd name="textAreaLeft" fmla="*/ 0 w 3580920"/>
              <a:gd name="textAreaRight" fmla="*/ 3581280 w 3580920"/>
              <a:gd name="textAreaTop" fmla="*/ 0 h 529920"/>
              <a:gd name="textAreaBottom" fmla="*/ 530280 h 529920"/>
            </a:gdLst>
            <a:ahLst/>
            <a:rect l="textAreaLeft" t="textAreaTop" r="textAreaRight" b="textAreaBottom"/>
            <a:pathLst>
              <a:path w="3581399" h="529541">
                <a:moveTo>
                  <a:pt x="3581399" y="0"/>
                </a:moveTo>
                <a:cubicBezTo>
                  <a:pt x="3514844" y="529541"/>
                  <a:pt x="2827277" y="326665"/>
                  <a:pt x="1676400" y="381001"/>
                </a:cubicBezTo>
                <a:cubicBezTo>
                  <a:pt x="867941" y="392898"/>
                  <a:pt x="451734" y="372159"/>
                  <a:pt x="0" y="381001"/>
                </a:cubicBezTo>
              </a:path>
            </a:pathLst>
          </a:custGeom>
          <a:noFill/>
          <a:ln w="38100">
            <a:solidFill>
              <a:srgbClr val="ffffff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Garamond"/>
            </a:endParaRPr>
          </a:p>
        </p:txBody>
      </p:sp>
      <p:sp>
        <p:nvSpPr>
          <p:cNvPr id="55" name="Freeform 53"/>
          <p:cNvSpPr/>
          <p:nvPr/>
        </p:nvSpPr>
        <p:spPr>
          <a:xfrm>
            <a:off x="2590920" y="5925960"/>
            <a:ext cx="6552720" cy="529920"/>
          </a:xfrm>
          <a:custGeom>
            <a:avLst/>
            <a:gdLst>
              <a:gd name="textAreaLeft" fmla="*/ 0 w 6552720"/>
              <a:gd name="textAreaRight" fmla="*/ 6553080 w 6552720"/>
              <a:gd name="textAreaTop" fmla="*/ 0 h 529920"/>
              <a:gd name="textAreaBottom" fmla="*/ 530280 h 529920"/>
            </a:gdLst>
            <a:ahLst/>
            <a:rect l="textAreaLeft" t="textAreaTop" r="textAreaRight" b="textAreaBottom"/>
            <a:pathLst>
              <a:path w="6553199" h="529541">
                <a:moveTo>
                  <a:pt x="6553199" y="0"/>
                </a:moveTo>
                <a:cubicBezTo>
                  <a:pt x="6486644" y="529541"/>
                  <a:pt x="5799077" y="402865"/>
                  <a:pt x="4648200" y="457201"/>
                </a:cubicBezTo>
                <a:lnTo>
                  <a:pt x="0" y="381000"/>
                </a:lnTo>
              </a:path>
            </a:pathLst>
          </a:custGeom>
          <a:noFill/>
          <a:ln w="38100">
            <a:solidFill>
              <a:srgbClr val="ffffff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Garamond"/>
            </a:endParaRPr>
          </a:p>
        </p:txBody>
      </p:sp>
      <p:sp>
        <p:nvSpPr>
          <p:cNvPr id="56" name="TextBox 54"/>
          <p:cNvSpPr/>
          <p:nvPr/>
        </p:nvSpPr>
        <p:spPr>
          <a:xfrm>
            <a:off x="4343400" y="5011560"/>
            <a:ext cx="3805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S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TextBox 55"/>
          <p:cNvSpPr/>
          <p:nvPr/>
        </p:nvSpPr>
        <p:spPr>
          <a:xfrm>
            <a:off x="7315200" y="5011560"/>
            <a:ext cx="3805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S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TextBox 56"/>
          <p:cNvSpPr/>
          <p:nvPr/>
        </p:nvSpPr>
        <p:spPr>
          <a:xfrm>
            <a:off x="10122480" y="4935240"/>
            <a:ext cx="3805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S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TextBox 57"/>
          <p:cNvSpPr/>
          <p:nvPr/>
        </p:nvSpPr>
        <p:spPr>
          <a:xfrm>
            <a:off x="7315200" y="3411360"/>
            <a:ext cx="3805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S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TextBox 58"/>
          <p:cNvSpPr/>
          <p:nvPr/>
        </p:nvSpPr>
        <p:spPr>
          <a:xfrm>
            <a:off x="3048120" y="5849640"/>
            <a:ext cx="3805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F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TextBox 60"/>
          <p:cNvSpPr/>
          <p:nvPr/>
        </p:nvSpPr>
        <p:spPr>
          <a:xfrm>
            <a:off x="6095880" y="5849640"/>
            <a:ext cx="3805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F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TextBox 61"/>
          <p:cNvSpPr/>
          <p:nvPr/>
        </p:nvSpPr>
        <p:spPr>
          <a:xfrm>
            <a:off x="9144000" y="5849640"/>
            <a:ext cx="3805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F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TextBox 62"/>
          <p:cNvSpPr/>
          <p:nvPr/>
        </p:nvSpPr>
        <p:spPr>
          <a:xfrm>
            <a:off x="4267080" y="3411360"/>
            <a:ext cx="3805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F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64" name="Straight Arrow Connector 21"/>
          <p:cNvCxnSpPr>
            <a:stCxn id="47" idx="3"/>
            <a:endCxn id="48" idx="0"/>
          </p:cNvCxnSpPr>
          <p:nvPr/>
        </p:nvCxnSpPr>
        <p:spPr>
          <a:xfrm flipH="1">
            <a:off x="3047760" y="4104360"/>
            <a:ext cx="2109960" cy="831240"/>
          </a:xfrm>
          <a:prstGeom prst="straightConnector1">
            <a:avLst/>
          </a:prstGeom>
          <a:ln w="38100">
            <a:solidFill>
              <a:srgbClr val="ffff00"/>
            </a:solidFill>
            <a:round/>
            <a:tailEnd len="med" type="arrow" w="med"/>
          </a:ln>
        </p:spPr>
      </p:cxnSp>
      <p:sp>
        <p:nvSpPr>
          <p:cNvPr id="52" name="Oval 33"/>
          <p:cNvSpPr/>
          <p:nvPr/>
        </p:nvSpPr>
        <p:spPr>
          <a:xfrm>
            <a:off x="7772400" y="4935240"/>
            <a:ext cx="2437920" cy="990360"/>
          </a:xfrm>
          <a:prstGeom prst="ellipse">
            <a:avLst/>
          </a:prstGeom>
          <a:solidFill>
            <a:schemeClr val="tx1"/>
          </a:solidFill>
          <a:ln w="76200">
            <a:solidFill>
              <a:srgbClr val="ff66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400" spc="-1" strike="noStrike">
                <a:ln>
                  <a:solidFill>
                    <a:schemeClr val="lt2"/>
                  </a:solidFill>
                </a:ln>
                <a:solidFill>
                  <a:srgbClr val="ffffff"/>
                </a:solidFill>
                <a:latin typeface="Garamond"/>
              </a:rPr>
              <a:t>Follow Path to Enemy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0" dur="indefinite" restart="never" nodeType="tmRoot">
          <p:childTnLst>
            <p:seq>
              <p:cTn id="81" dur="indefinite" nodeType="mainSeq">
                <p:childTnLst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5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5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Freeform 50"/>
          <p:cNvSpPr/>
          <p:nvPr/>
        </p:nvSpPr>
        <p:spPr>
          <a:xfrm flipH="1">
            <a:off x="1706400" y="3495240"/>
            <a:ext cx="3017520" cy="2819160"/>
          </a:xfrm>
          <a:custGeom>
            <a:avLst/>
            <a:gdLst>
              <a:gd name="textAreaLeft" fmla="*/ 360 w 3017520"/>
              <a:gd name="textAreaRight" fmla="*/ 3018240 w 3017520"/>
              <a:gd name="textAreaTop" fmla="*/ 0 h 2819160"/>
              <a:gd name="textAreaBottom" fmla="*/ 2819520 h 2819160"/>
            </a:gdLst>
            <a:ahLst/>
            <a:rect l="textAreaLeft" t="textAreaTop" r="textAreaRight" b="textAreaBottom"/>
            <a:pathLst>
              <a:path w="3018019" h="2819401">
                <a:moveTo>
                  <a:pt x="1676401" y="2438400"/>
                </a:moveTo>
                <a:cubicBezTo>
                  <a:pt x="1696174" y="2471677"/>
                  <a:pt x="1689101" y="2603501"/>
                  <a:pt x="1752601" y="2667001"/>
                </a:cubicBezTo>
                <a:cubicBezTo>
                  <a:pt x="1816101" y="2730501"/>
                  <a:pt x="1905001" y="2819401"/>
                  <a:pt x="2057401" y="2819401"/>
                </a:cubicBezTo>
                <a:cubicBezTo>
                  <a:pt x="2209801" y="2819401"/>
                  <a:pt x="2514601" y="2768601"/>
                  <a:pt x="2667001" y="2667001"/>
                </a:cubicBezTo>
                <a:cubicBezTo>
                  <a:pt x="2819401" y="2565401"/>
                  <a:pt x="2971801" y="2425702"/>
                  <a:pt x="2971801" y="2209802"/>
                </a:cubicBezTo>
                <a:cubicBezTo>
                  <a:pt x="2971801" y="1993902"/>
                  <a:pt x="3018019" y="1574800"/>
                  <a:pt x="2667000" y="1371600"/>
                </a:cubicBezTo>
                <a:cubicBezTo>
                  <a:pt x="2315981" y="1168400"/>
                  <a:pt x="1310189" y="1219200"/>
                  <a:pt x="865689" y="990600"/>
                </a:cubicBezTo>
                <a:cubicBezTo>
                  <a:pt x="421189" y="762000"/>
                  <a:pt x="8681" y="528576"/>
                  <a:pt x="0" y="0"/>
                </a:cubicBezTo>
              </a:path>
            </a:pathLst>
          </a:custGeom>
          <a:noFill/>
          <a:ln w="38100">
            <a:solidFill>
              <a:srgbClr val="ffffff"/>
            </a:solidFill>
            <a:round/>
            <a:tailEnd len="lg" type="stealth" w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Garamond"/>
            </a:endParaRPr>
          </a:p>
        </p:txBody>
      </p:sp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1981080" y="204120"/>
            <a:ext cx="8229240" cy="83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ctr">
            <a:noAutofit/>
          </a:bodyPr>
          <a:p>
            <a:pPr indent="0" algn="ctr" defTabSz="914400">
              <a:lnSpc>
                <a:spcPct val="80000"/>
              </a:lnSpc>
              <a:buNone/>
            </a:pPr>
            <a:r>
              <a:rPr b="1" lang="en-US" sz="4800" spc="97" strike="noStrike">
                <a:solidFill>
                  <a:schemeClr val="lt1"/>
                </a:solidFill>
                <a:latin typeface="Garamond"/>
                <a:ea typeface="ＭＳ Ｐゴシック"/>
              </a:rPr>
              <a:t>Selectors</a:t>
            </a:r>
            <a:endParaRPr b="0" lang="en-US" sz="4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1676520" y="965880"/>
            <a:ext cx="8838720" cy="190476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 fontScale="87500" lnSpcReduction="20000"/>
          </a:bodyPr>
          <a:p>
            <a:pPr indent="0" algn="just" defTabSz="914400">
              <a:lnSpc>
                <a:spcPct val="90000"/>
              </a:lnSpc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lt1"/>
                </a:solidFill>
                <a:latin typeface="Garamond"/>
              </a:rPr>
              <a:t>A </a:t>
            </a:r>
            <a:r>
              <a:rPr b="1" lang="en-US" sz="2800" spc="-1" strike="noStrike">
                <a:solidFill>
                  <a:srgbClr val="00ff00"/>
                </a:solidFill>
                <a:latin typeface="Garamond"/>
              </a:rPr>
              <a:t>selector</a:t>
            </a:r>
            <a:r>
              <a:rPr b="0" lang="en-US" sz="2800" spc="-1" strike="noStrike">
                <a:solidFill>
                  <a:schemeClr val="lt1"/>
                </a:solidFill>
                <a:latin typeface="Garamond"/>
              </a:rPr>
              <a:t> is a set of behaviors any one of which must complete for the selector to succeed. They are normally picked from left to right but can also use priorities or randomness.</a:t>
            </a:r>
            <a:endParaRPr b="0" lang="en-US" sz="2800" spc="-1" strike="noStrike">
              <a:solidFill>
                <a:schemeClr val="dk1"/>
              </a:solidFill>
              <a:latin typeface="Arial Regular"/>
            </a:endParaRPr>
          </a:p>
          <a:p>
            <a:pPr indent="0" defTabSz="914400">
              <a:lnSpc>
                <a:spcPct val="90000"/>
              </a:lnSpc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2800" spc="-1" strike="noStrike">
              <a:solidFill>
                <a:schemeClr val="dk1"/>
              </a:solidFill>
              <a:latin typeface="Arial Regular"/>
            </a:endParaRPr>
          </a:p>
          <a:p>
            <a:pPr indent="0" algn="ctr" defTabSz="914400">
              <a:lnSpc>
                <a:spcPct val="90000"/>
              </a:lnSpc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lt1"/>
                </a:solidFill>
                <a:latin typeface="Garamond"/>
              </a:rPr>
              <a:t>If any child succeeds, </a:t>
            </a:r>
            <a:r>
              <a:rPr b="0" lang="en-US" sz="2800" spc="-1" strike="noStrike" u="sng">
                <a:solidFill>
                  <a:schemeClr val="lt1"/>
                </a:solidFill>
                <a:uFillTx/>
                <a:latin typeface="Garamond"/>
              </a:rPr>
              <a:t>the selector immediately succeeds</a:t>
            </a:r>
            <a:r>
              <a:rPr b="0" lang="en-US" sz="2800" spc="-1" strike="noStrike">
                <a:solidFill>
                  <a:schemeClr val="lt1"/>
                </a:solidFill>
                <a:latin typeface="Garamond"/>
              </a:rPr>
              <a:t>.</a:t>
            </a:r>
            <a:endParaRPr b="0" lang="en-US" sz="2800" spc="-1" strike="noStrike">
              <a:solidFill>
                <a:schemeClr val="dk1"/>
              </a:solidFill>
              <a:latin typeface="Arial Regular"/>
            </a:endParaRPr>
          </a:p>
          <a:p>
            <a:pPr indent="0" defTabSz="914400">
              <a:lnSpc>
                <a:spcPct val="90000"/>
              </a:lnSpc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3600" spc="-1" strike="noStrike">
              <a:solidFill>
                <a:schemeClr val="dk1"/>
              </a:solidFill>
              <a:latin typeface="Arial Regular"/>
            </a:endParaRPr>
          </a:p>
        </p:txBody>
      </p:sp>
      <p:sp>
        <p:nvSpPr>
          <p:cNvPr id="68" name="Oval 7"/>
          <p:cNvSpPr/>
          <p:nvPr/>
        </p:nvSpPr>
        <p:spPr>
          <a:xfrm>
            <a:off x="4800600" y="3266640"/>
            <a:ext cx="2437920" cy="990360"/>
          </a:xfrm>
          <a:prstGeom prst="ellipse">
            <a:avLst/>
          </a:prstGeom>
          <a:solidFill>
            <a:schemeClr val="tx1"/>
          </a:solidFill>
          <a:ln w="76200">
            <a:solidFill>
              <a:srgbClr val="0070c0"/>
            </a:solidFill>
            <a:prstDash val="sysDot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400" spc="-1" strike="noStrike">
                <a:ln>
                  <a:solidFill>
                    <a:schemeClr val="lt2"/>
                  </a:solidFill>
                </a:ln>
                <a:solidFill>
                  <a:srgbClr val="ffffff"/>
                </a:solidFill>
                <a:latin typeface="Garamond"/>
              </a:rPr>
              <a:t>Attack Enemy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Oval 31"/>
          <p:cNvSpPr/>
          <p:nvPr/>
        </p:nvSpPr>
        <p:spPr>
          <a:xfrm>
            <a:off x="1828800" y="4943160"/>
            <a:ext cx="2437920" cy="990360"/>
          </a:xfrm>
          <a:prstGeom prst="ellipse">
            <a:avLst/>
          </a:prstGeom>
          <a:solidFill>
            <a:schemeClr val="tx1"/>
          </a:solidFill>
          <a:ln w="76200">
            <a:solidFill>
              <a:srgbClr val="ff66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400" spc="-1" strike="noStrike">
                <a:ln>
                  <a:solidFill>
                    <a:schemeClr val="lt2"/>
                  </a:solidFill>
                </a:ln>
                <a:solidFill>
                  <a:srgbClr val="ffffff"/>
                </a:solidFill>
                <a:latin typeface="Garamond"/>
              </a:rPr>
              <a:t>Gun Attack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Oval 32"/>
          <p:cNvSpPr/>
          <p:nvPr/>
        </p:nvSpPr>
        <p:spPr>
          <a:xfrm>
            <a:off x="4800600" y="4943160"/>
            <a:ext cx="2437920" cy="990360"/>
          </a:xfrm>
          <a:prstGeom prst="ellipse">
            <a:avLst/>
          </a:prstGeom>
          <a:solidFill>
            <a:schemeClr val="tx1"/>
          </a:solidFill>
          <a:ln w="76200">
            <a:solidFill>
              <a:srgbClr val="ff66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400" spc="-1" strike="noStrike">
                <a:ln>
                  <a:solidFill>
                    <a:schemeClr val="lt2"/>
                  </a:solidFill>
                </a:ln>
                <a:solidFill>
                  <a:srgbClr val="ffffff"/>
                </a:solidFill>
                <a:latin typeface="Garamond"/>
              </a:rPr>
              <a:t>Knife Attack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71" name="Straight Arrow Connector 39"/>
          <p:cNvCxnSpPr>
            <a:stCxn id="69" idx="6"/>
            <a:endCxn id="70" idx="2"/>
          </p:cNvCxnSpPr>
          <p:nvPr/>
        </p:nvCxnSpPr>
        <p:spPr>
          <a:xfrm>
            <a:off x="4266720" y="5438520"/>
            <a:ext cx="534240" cy="360"/>
          </a:xfrm>
          <a:prstGeom prst="straightConnector1">
            <a:avLst/>
          </a:prstGeom>
          <a:ln w="38100">
            <a:solidFill>
              <a:srgbClr val="ffffff"/>
            </a:solidFill>
            <a:round/>
            <a:tailEnd len="med" type="arrow" w="med"/>
          </a:ln>
        </p:spPr>
      </p:cxnSp>
      <p:cxnSp>
        <p:nvCxnSpPr>
          <p:cNvPr id="72" name="Straight Arrow Connector 42"/>
          <p:cNvCxnSpPr>
            <a:stCxn id="70" idx="6"/>
            <a:endCxn id="73" idx="2"/>
          </p:cNvCxnSpPr>
          <p:nvPr/>
        </p:nvCxnSpPr>
        <p:spPr>
          <a:xfrm>
            <a:off x="7238520" y="5438520"/>
            <a:ext cx="534240" cy="360"/>
          </a:xfrm>
          <a:prstGeom prst="straightConnector1">
            <a:avLst/>
          </a:prstGeom>
          <a:ln w="38100">
            <a:solidFill>
              <a:srgbClr val="ffffff"/>
            </a:solidFill>
            <a:round/>
            <a:tailEnd len="med" type="arrow" w="med"/>
          </a:ln>
        </p:spPr>
      </p:cxnSp>
      <p:sp>
        <p:nvSpPr>
          <p:cNvPr id="74" name="Freeform 49"/>
          <p:cNvSpPr/>
          <p:nvPr/>
        </p:nvSpPr>
        <p:spPr>
          <a:xfrm>
            <a:off x="7303320" y="3419280"/>
            <a:ext cx="3249360" cy="2018880"/>
          </a:xfrm>
          <a:custGeom>
            <a:avLst/>
            <a:gdLst>
              <a:gd name="textAreaLeft" fmla="*/ 0 w 3249360"/>
              <a:gd name="textAreaRight" fmla="*/ 3249720 w 3249360"/>
              <a:gd name="textAreaTop" fmla="*/ 0 h 2018880"/>
              <a:gd name="textAreaBottom" fmla="*/ 2019240 h 2018880"/>
            </a:gdLst>
            <a:ahLst/>
            <a:rect l="textAreaLeft" t="textAreaTop" r="textAreaRight" b="textAreaBottom"/>
            <a:pathLst>
              <a:path w="3249110" h="2019781">
                <a:moveTo>
                  <a:pt x="2959261" y="2019781"/>
                </a:moveTo>
                <a:cubicBezTo>
                  <a:pt x="3231266" y="1858699"/>
                  <a:pt x="3249110" y="1619329"/>
                  <a:pt x="2895600" y="1447799"/>
                </a:cubicBezTo>
                <a:cubicBezTo>
                  <a:pt x="2542090" y="1276269"/>
                  <a:pt x="1320799" y="1231900"/>
                  <a:pt x="838199" y="990600"/>
                </a:cubicBezTo>
                <a:cubicBezTo>
                  <a:pt x="355599" y="749300"/>
                  <a:pt x="8681" y="528576"/>
                  <a:pt x="0" y="0"/>
                </a:cubicBezTo>
              </a:path>
            </a:pathLst>
          </a:custGeom>
          <a:noFill/>
          <a:ln w="38100">
            <a:solidFill>
              <a:srgbClr val="ffffff"/>
            </a:solidFill>
            <a:round/>
            <a:tailEnd len="lg" type="stealth" w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Garamond"/>
            </a:endParaRPr>
          </a:p>
        </p:txBody>
      </p:sp>
      <p:sp>
        <p:nvSpPr>
          <p:cNvPr id="75" name="Freeform 52"/>
          <p:cNvSpPr/>
          <p:nvPr/>
        </p:nvSpPr>
        <p:spPr>
          <a:xfrm>
            <a:off x="2514600" y="5933880"/>
            <a:ext cx="3580920" cy="529920"/>
          </a:xfrm>
          <a:custGeom>
            <a:avLst/>
            <a:gdLst>
              <a:gd name="textAreaLeft" fmla="*/ 0 w 3580920"/>
              <a:gd name="textAreaRight" fmla="*/ 3581280 w 3580920"/>
              <a:gd name="textAreaTop" fmla="*/ 0 h 529920"/>
              <a:gd name="textAreaBottom" fmla="*/ 530280 h 529920"/>
            </a:gdLst>
            <a:ahLst/>
            <a:rect l="textAreaLeft" t="textAreaTop" r="textAreaRight" b="textAreaBottom"/>
            <a:pathLst>
              <a:path w="3581399" h="529541">
                <a:moveTo>
                  <a:pt x="3581399" y="0"/>
                </a:moveTo>
                <a:cubicBezTo>
                  <a:pt x="3514844" y="529541"/>
                  <a:pt x="2827277" y="326665"/>
                  <a:pt x="1676400" y="381001"/>
                </a:cubicBezTo>
                <a:cubicBezTo>
                  <a:pt x="867941" y="392898"/>
                  <a:pt x="451734" y="372159"/>
                  <a:pt x="0" y="381001"/>
                </a:cubicBezTo>
              </a:path>
            </a:pathLst>
          </a:custGeom>
          <a:noFill/>
          <a:ln w="38100">
            <a:solidFill>
              <a:srgbClr val="ffffff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Garamond"/>
            </a:endParaRPr>
          </a:p>
        </p:txBody>
      </p:sp>
      <p:sp>
        <p:nvSpPr>
          <p:cNvPr id="76" name="Freeform 53"/>
          <p:cNvSpPr/>
          <p:nvPr/>
        </p:nvSpPr>
        <p:spPr>
          <a:xfrm>
            <a:off x="2590920" y="5933880"/>
            <a:ext cx="6552720" cy="529920"/>
          </a:xfrm>
          <a:custGeom>
            <a:avLst/>
            <a:gdLst>
              <a:gd name="textAreaLeft" fmla="*/ 0 w 6552720"/>
              <a:gd name="textAreaRight" fmla="*/ 6553080 w 6552720"/>
              <a:gd name="textAreaTop" fmla="*/ 0 h 529920"/>
              <a:gd name="textAreaBottom" fmla="*/ 530280 h 529920"/>
            </a:gdLst>
            <a:ahLst/>
            <a:rect l="textAreaLeft" t="textAreaTop" r="textAreaRight" b="textAreaBottom"/>
            <a:pathLst>
              <a:path w="6553199" h="529541">
                <a:moveTo>
                  <a:pt x="6553199" y="0"/>
                </a:moveTo>
                <a:cubicBezTo>
                  <a:pt x="6486644" y="529541"/>
                  <a:pt x="5799077" y="402865"/>
                  <a:pt x="4648200" y="457201"/>
                </a:cubicBezTo>
                <a:lnTo>
                  <a:pt x="0" y="381000"/>
                </a:lnTo>
              </a:path>
            </a:pathLst>
          </a:custGeom>
          <a:noFill/>
          <a:ln w="38100">
            <a:solidFill>
              <a:srgbClr val="ffffff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Garamond"/>
            </a:endParaRPr>
          </a:p>
        </p:txBody>
      </p:sp>
      <p:sp>
        <p:nvSpPr>
          <p:cNvPr id="77" name="TextBox 54"/>
          <p:cNvSpPr/>
          <p:nvPr/>
        </p:nvSpPr>
        <p:spPr>
          <a:xfrm>
            <a:off x="4343400" y="5019480"/>
            <a:ext cx="3805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F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TextBox 55"/>
          <p:cNvSpPr/>
          <p:nvPr/>
        </p:nvSpPr>
        <p:spPr>
          <a:xfrm>
            <a:off x="7315200" y="5019480"/>
            <a:ext cx="3805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F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TextBox 56"/>
          <p:cNvSpPr/>
          <p:nvPr/>
        </p:nvSpPr>
        <p:spPr>
          <a:xfrm>
            <a:off x="10122480" y="4943160"/>
            <a:ext cx="3805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F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TextBox 57"/>
          <p:cNvSpPr/>
          <p:nvPr/>
        </p:nvSpPr>
        <p:spPr>
          <a:xfrm>
            <a:off x="7315200" y="3419280"/>
            <a:ext cx="3805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F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TextBox 58"/>
          <p:cNvSpPr/>
          <p:nvPr/>
        </p:nvSpPr>
        <p:spPr>
          <a:xfrm>
            <a:off x="3048120" y="5857560"/>
            <a:ext cx="3805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S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TextBox 60"/>
          <p:cNvSpPr/>
          <p:nvPr/>
        </p:nvSpPr>
        <p:spPr>
          <a:xfrm>
            <a:off x="6095880" y="5857560"/>
            <a:ext cx="3805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S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TextBox 61"/>
          <p:cNvSpPr/>
          <p:nvPr/>
        </p:nvSpPr>
        <p:spPr>
          <a:xfrm>
            <a:off x="9144000" y="5857560"/>
            <a:ext cx="3805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S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TextBox 62"/>
          <p:cNvSpPr/>
          <p:nvPr/>
        </p:nvSpPr>
        <p:spPr>
          <a:xfrm>
            <a:off x="4267080" y="3419280"/>
            <a:ext cx="3805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S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85" name="Straight Arrow Connector 21"/>
          <p:cNvCxnSpPr>
            <a:stCxn id="68" idx="3"/>
            <a:endCxn id="69" idx="0"/>
          </p:cNvCxnSpPr>
          <p:nvPr/>
        </p:nvCxnSpPr>
        <p:spPr>
          <a:xfrm flipH="1">
            <a:off x="3047760" y="4111920"/>
            <a:ext cx="2109960" cy="831600"/>
          </a:xfrm>
          <a:prstGeom prst="straightConnector1">
            <a:avLst/>
          </a:prstGeom>
          <a:ln w="38100">
            <a:solidFill>
              <a:srgbClr val="ffff00"/>
            </a:solidFill>
            <a:round/>
            <a:tailEnd len="med" type="arrow" w="med"/>
          </a:ln>
        </p:spPr>
      </p:cxnSp>
      <p:sp>
        <p:nvSpPr>
          <p:cNvPr id="73" name="Oval 33"/>
          <p:cNvSpPr/>
          <p:nvPr/>
        </p:nvSpPr>
        <p:spPr>
          <a:xfrm>
            <a:off x="7772400" y="4943160"/>
            <a:ext cx="2437920" cy="990360"/>
          </a:xfrm>
          <a:prstGeom prst="ellipse">
            <a:avLst/>
          </a:prstGeom>
          <a:solidFill>
            <a:schemeClr val="tx1"/>
          </a:solidFill>
          <a:ln w="76200">
            <a:solidFill>
              <a:srgbClr val="ff66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400" spc="-1" strike="noStrike">
                <a:ln>
                  <a:solidFill>
                    <a:schemeClr val="lt2"/>
                  </a:solidFill>
                </a:ln>
                <a:solidFill>
                  <a:srgbClr val="ffffff"/>
                </a:solidFill>
                <a:latin typeface="Garamond"/>
              </a:rPr>
              <a:t>Magic Attack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55" dur="indefinite" restart="never" nodeType="tmRoot">
          <p:childTnLst>
            <p:seq>
              <p:cTn id="156" dur="indefinite" nodeType="mainSeq">
                <p:childTnLst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6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6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6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7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7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8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8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8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9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9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9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0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0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1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1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1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2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2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2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ontent Placeholder 2"/>
          <p:cNvSpPr/>
          <p:nvPr/>
        </p:nvSpPr>
        <p:spPr>
          <a:xfrm>
            <a:off x="4123440" y="3288240"/>
            <a:ext cx="1806120" cy="67284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Bef>
                <a:spcPts val="320"/>
              </a:spcBef>
            </a:pPr>
            <a:r>
              <a:rPr b="1" lang="en-US" sz="1600" spc="-1" strike="noStrike">
                <a:solidFill>
                  <a:srgbClr val="00ff00"/>
                </a:solidFill>
                <a:latin typeface="Garamond"/>
                <a:ea typeface="ＭＳ Ｐゴシック"/>
              </a:rPr>
              <a:t>Sequence Parallel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1981080" y="33480"/>
            <a:ext cx="8229240" cy="83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ctr">
            <a:noAutofit/>
          </a:bodyPr>
          <a:p>
            <a:pPr indent="0" algn="ctr" defTabSz="914400">
              <a:lnSpc>
                <a:spcPct val="80000"/>
              </a:lnSpc>
              <a:buNone/>
            </a:pPr>
            <a:r>
              <a:rPr b="1" lang="en-US" sz="4800" spc="97" strike="noStrike">
                <a:solidFill>
                  <a:schemeClr val="lt1"/>
                </a:solidFill>
                <a:latin typeface="Garamond"/>
                <a:ea typeface="ＭＳ Ｐゴシック"/>
              </a:rPr>
              <a:t>Behavior Tree Example</a:t>
            </a:r>
            <a:endParaRPr b="0" lang="en-US" sz="4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88" name="Oval 10"/>
          <p:cNvSpPr/>
          <p:nvPr/>
        </p:nvSpPr>
        <p:spPr>
          <a:xfrm>
            <a:off x="2576880" y="2316600"/>
            <a:ext cx="1672920" cy="849960"/>
          </a:xfrm>
          <a:prstGeom prst="ellipse">
            <a:avLst/>
          </a:prstGeom>
          <a:solidFill>
            <a:schemeClr val="tx1"/>
          </a:solidFill>
          <a:ln w="44450">
            <a:solidFill>
              <a:srgbClr val="0070c0"/>
            </a:solidFill>
            <a:prstDash val="sysDot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200" spc="-1" strike="noStrike">
                <a:ln>
                  <a:solidFill>
                    <a:schemeClr val="lt2"/>
                  </a:solidFill>
                </a:ln>
                <a:solidFill>
                  <a:srgbClr val="ffffff"/>
                </a:solidFill>
                <a:latin typeface="Garamond"/>
              </a:rPr>
              <a:t>Gun Sequence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Oval 11"/>
          <p:cNvSpPr/>
          <p:nvPr/>
        </p:nvSpPr>
        <p:spPr>
          <a:xfrm>
            <a:off x="4561560" y="1022400"/>
            <a:ext cx="1672920" cy="845640"/>
          </a:xfrm>
          <a:prstGeom prst="ellipse">
            <a:avLst/>
          </a:prstGeom>
          <a:solidFill>
            <a:schemeClr val="tx1"/>
          </a:solidFill>
          <a:ln w="44450">
            <a:solidFill>
              <a:srgbClr val="0070c0"/>
            </a:solidFill>
            <a:prstDash val="sysDot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400" spc="-1" strike="noStrike">
                <a:ln>
                  <a:solidFill>
                    <a:schemeClr val="lt2"/>
                  </a:solidFill>
                </a:ln>
                <a:solidFill>
                  <a:srgbClr val="ffffff"/>
                </a:solidFill>
                <a:latin typeface="Garamond"/>
              </a:rPr>
              <a:t>Root Selector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Oval 13"/>
          <p:cNvSpPr/>
          <p:nvPr/>
        </p:nvSpPr>
        <p:spPr>
          <a:xfrm>
            <a:off x="2596320" y="3663720"/>
            <a:ext cx="1653480" cy="845640"/>
          </a:xfrm>
          <a:prstGeom prst="ellipse">
            <a:avLst/>
          </a:prstGeom>
          <a:solidFill>
            <a:schemeClr val="tx1"/>
          </a:solidFill>
          <a:ln w="44450">
            <a:solidFill>
              <a:srgbClr val="ff66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400" spc="-1" strike="noStrike">
                <a:ln>
                  <a:solidFill>
                    <a:schemeClr val="lt2"/>
                  </a:solidFill>
                </a:ln>
                <a:solidFill>
                  <a:srgbClr val="ffffff"/>
                </a:solidFill>
                <a:latin typeface="Garamond"/>
              </a:rPr>
              <a:t>Shoot Player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Rectangle 16"/>
          <p:cNvSpPr/>
          <p:nvPr/>
        </p:nvSpPr>
        <p:spPr>
          <a:xfrm>
            <a:off x="774000" y="2379240"/>
            <a:ext cx="1653480" cy="763560"/>
          </a:xfrm>
          <a:prstGeom prst="rect">
            <a:avLst/>
          </a:prstGeom>
          <a:solidFill>
            <a:schemeClr val="tx1"/>
          </a:solidFill>
          <a:ln w="44450">
            <a:solidFill>
              <a:srgbClr val="ff66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400" spc="-1" strike="noStrike">
                <a:ln>
                  <a:solidFill>
                    <a:schemeClr val="lt2"/>
                  </a:solidFill>
                </a:ln>
                <a:solidFill>
                  <a:srgbClr val="ffffff"/>
                </a:solidFill>
                <a:latin typeface="Garamond"/>
              </a:rPr>
              <a:t>Player Seen?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92" name="Straight Arrow Connector 17"/>
          <p:cNvCxnSpPr>
            <a:stCxn id="93" idx="5"/>
            <a:endCxn id="88" idx="0"/>
          </p:cNvCxnSpPr>
          <p:nvPr/>
        </p:nvCxnSpPr>
        <p:spPr>
          <a:xfrm>
            <a:off x="3096720" y="1759320"/>
            <a:ext cx="317160" cy="557640"/>
          </a:xfrm>
          <a:prstGeom prst="straightConnector1">
            <a:avLst/>
          </a:prstGeom>
          <a:ln w="38100">
            <a:solidFill>
              <a:srgbClr val="ffffff"/>
            </a:solidFill>
            <a:round/>
            <a:tailEnd len="med" type="arrow" w="med"/>
          </a:ln>
        </p:spPr>
      </p:cxnSp>
      <p:cxnSp>
        <p:nvCxnSpPr>
          <p:cNvPr id="94" name="Straight Arrow Connector 18"/>
          <p:cNvCxnSpPr>
            <a:stCxn id="93" idx="3"/>
            <a:endCxn id="91" idx="0"/>
          </p:cNvCxnSpPr>
          <p:nvPr/>
        </p:nvCxnSpPr>
        <p:spPr>
          <a:xfrm flipH="1">
            <a:off x="1600560" y="1759320"/>
            <a:ext cx="311400" cy="620280"/>
          </a:xfrm>
          <a:prstGeom prst="straightConnector1">
            <a:avLst/>
          </a:prstGeom>
          <a:ln w="38100">
            <a:solidFill>
              <a:srgbClr val="ffffff"/>
            </a:solidFill>
            <a:round/>
            <a:tailEnd len="med" type="arrow" w="med"/>
          </a:ln>
        </p:spPr>
      </p:cxnSp>
      <p:sp>
        <p:nvSpPr>
          <p:cNvPr id="95" name="Oval 25"/>
          <p:cNvSpPr/>
          <p:nvPr/>
        </p:nvSpPr>
        <p:spPr>
          <a:xfrm>
            <a:off x="774000" y="3663720"/>
            <a:ext cx="1653480" cy="845640"/>
          </a:xfrm>
          <a:prstGeom prst="ellipse">
            <a:avLst/>
          </a:prstGeom>
          <a:solidFill>
            <a:schemeClr val="tx1"/>
          </a:solidFill>
          <a:ln w="44450">
            <a:solidFill>
              <a:srgbClr val="ff66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400" spc="-1" strike="noStrike">
                <a:ln>
                  <a:solidFill>
                    <a:schemeClr val="lt2"/>
                  </a:solidFill>
                </a:ln>
                <a:solidFill>
                  <a:srgbClr val="ffffff"/>
                </a:solidFill>
                <a:latin typeface="Garamond"/>
              </a:rPr>
              <a:t>Find Ammo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7071480" y="1213200"/>
            <a:ext cx="4343760" cy="259056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 fontScale="93611"/>
          </a:bodyPr>
          <a:p>
            <a:pPr indent="0" algn="just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Starting with the root behavior, behaviors are chosen until one returns a running status, or the entire tree succeeds/fails. </a:t>
            </a:r>
            <a:r>
              <a:rPr b="0" lang="en-US" sz="2800" spc="-1" strike="noStrike">
                <a:solidFill>
                  <a:srgbClr val="ffff00"/>
                </a:solidFill>
                <a:latin typeface="Garamond"/>
                <a:ea typeface="ＭＳ Ｐゴシック"/>
              </a:rPr>
              <a:t>Yellow</a:t>
            </a:r>
            <a:r>
              <a:rPr b="0" lang="en-US" sz="2800" spc="-1" strike="noStrike">
                <a:solidFill>
                  <a:srgbClr val="00ff00"/>
                </a:solidFill>
                <a:latin typeface="Garamond"/>
                <a:ea typeface="ＭＳ Ｐゴシック"/>
              </a:rPr>
              <a:t> </a:t>
            </a:r>
            <a:r>
              <a:rPr b="0" lang="en-US" sz="28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arrows indicate order of evaluation.</a:t>
            </a:r>
            <a:endParaRPr b="0" lang="en-US" sz="2800" spc="-1" strike="noStrike">
              <a:solidFill>
                <a:schemeClr val="dk1"/>
              </a:solidFill>
              <a:latin typeface="Arial Regular"/>
            </a:endParaRPr>
          </a:p>
        </p:txBody>
      </p:sp>
      <p:cxnSp>
        <p:nvCxnSpPr>
          <p:cNvPr id="97" name="Straight Arrow Connector 35"/>
          <p:cNvCxnSpPr/>
          <p:nvPr/>
        </p:nvCxnSpPr>
        <p:spPr>
          <a:xfrm flipV="1">
            <a:off x="1476360" y="3406680"/>
            <a:ext cx="2494800" cy="11160"/>
          </a:xfrm>
          <a:prstGeom prst="straightConnector1">
            <a:avLst/>
          </a:prstGeom>
          <a:ln w="38100">
            <a:solidFill>
              <a:srgbClr val="ffff00"/>
            </a:solidFill>
            <a:prstDash val="sysDot"/>
            <a:round/>
            <a:tailEnd len="med" type="arrow" w="med"/>
          </a:ln>
        </p:spPr>
      </p:cxnSp>
      <p:sp>
        <p:nvSpPr>
          <p:cNvPr id="93" name="Oval 59"/>
          <p:cNvSpPr/>
          <p:nvPr/>
        </p:nvSpPr>
        <p:spPr>
          <a:xfrm>
            <a:off x="1666080" y="1037520"/>
            <a:ext cx="1676160" cy="845640"/>
          </a:xfrm>
          <a:prstGeom prst="ellipse">
            <a:avLst/>
          </a:prstGeom>
          <a:solidFill>
            <a:schemeClr val="tx1"/>
          </a:solidFill>
          <a:ln w="44450">
            <a:solidFill>
              <a:srgbClr val="0070c0"/>
            </a:solidFill>
            <a:prstDash val="sysDot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200" spc="-1" strike="noStrike">
                <a:ln>
                  <a:solidFill>
                    <a:schemeClr val="lt2"/>
                  </a:solidFill>
                </a:ln>
                <a:solidFill>
                  <a:srgbClr val="ffffff"/>
                </a:solidFill>
                <a:latin typeface="Garamond"/>
              </a:rPr>
              <a:t>Attack Sequence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98" name="Straight Arrow Connector 60"/>
          <p:cNvCxnSpPr>
            <a:stCxn id="89" idx="2"/>
            <a:endCxn id="93" idx="6"/>
          </p:cNvCxnSpPr>
          <p:nvPr/>
        </p:nvCxnSpPr>
        <p:spPr>
          <a:xfrm flipH="1">
            <a:off x="3342240" y="1445400"/>
            <a:ext cx="1219680" cy="15480"/>
          </a:xfrm>
          <a:prstGeom prst="straightConnector1">
            <a:avLst/>
          </a:prstGeom>
          <a:ln w="38100">
            <a:solidFill>
              <a:srgbClr val="ffffff"/>
            </a:solidFill>
            <a:round/>
            <a:tailEnd len="med" type="arrow" w="med"/>
          </a:ln>
        </p:spPr>
      </p:cxnSp>
      <p:cxnSp>
        <p:nvCxnSpPr>
          <p:cNvPr id="99" name="Straight Arrow Connector 66"/>
          <p:cNvCxnSpPr/>
          <p:nvPr/>
        </p:nvCxnSpPr>
        <p:spPr>
          <a:xfrm>
            <a:off x="4104360" y="2136960"/>
            <a:ext cx="2286360" cy="360"/>
          </a:xfrm>
          <a:prstGeom prst="straightConnector1">
            <a:avLst/>
          </a:prstGeom>
          <a:ln w="38100">
            <a:solidFill>
              <a:srgbClr val="ffff00"/>
            </a:solidFill>
            <a:prstDash val="sysDot"/>
            <a:round/>
            <a:tailEnd len="med" type="arrow" w="med"/>
          </a:ln>
        </p:spPr>
      </p:cxnSp>
      <p:cxnSp>
        <p:nvCxnSpPr>
          <p:cNvPr id="100" name="Straight Arrow Connector 67"/>
          <p:cNvCxnSpPr/>
          <p:nvPr/>
        </p:nvCxnSpPr>
        <p:spPr>
          <a:xfrm>
            <a:off x="4123800" y="1126440"/>
            <a:ext cx="360" cy="991080"/>
          </a:xfrm>
          <a:prstGeom prst="straightConnector1">
            <a:avLst/>
          </a:prstGeom>
          <a:ln w="38100">
            <a:solidFill>
              <a:srgbClr val="ffff00"/>
            </a:solidFill>
            <a:prstDash val="sysDot"/>
            <a:round/>
          </a:ln>
        </p:spPr>
      </p:cxnSp>
      <p:cxnSp>
        <p:nvCxnSpPr>
          <p:cNvPr id="101" name="Straight Arrow Connector 70"/>
          <p:cNvCxnSpPr/>
          <p:nvPr/>
        </p:nvCxnSpPr>
        <p:spPr>
          <a:xfrm>
            <a:off x="1561680" y="2104920"/>
            <a:ext cx="2122560" cy="360"/>
          </a:xfrm>
          <a:prstGeom prst="straightConnector1">
            <a:avLst/>
          </a:prstGeom>
          <a:ln w="38100">
            <a:solidFill>
              <a:srgbClr val="ffff00"/>
            </a:solidFill>
            <a:prstDash val="sysDot"/>
            <a:round/>
            <a:tailEnd len="med" type="arrow" w="med"/>
          </a:ln>
        </p:spPr>
      </p:cxnSp>
      <p:sp>
        <p:nvSpPr>
          <p:cNvPr id="102" name="Oval 95"/>
          <p:cNvSpPr/>
          <p:nvPr/>
        </p:nvSpPr>
        <p:spPr>
          <a:xfrm>
            <a:off x="5018760" y="3704760"/>
            <a:ext cx="1672920" cy="849960"/>
          </a:xfrm>
          <a:prstGeom prst="ellipse">
            <a:avLst/>
          </a:prstGeom>
          <a:solidFill>
            <a:schemeClr val="tx1"/>
          </a:solidFill>
          <a:ln w="44450">
            <a:solidFill>
              <a:srgbClr val="0070c0"/>
            </a:solidFill>
            <a:prstDash val="sysDot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400" spc="-1" strike="noStrike">
                <a:ln>
                  <a:solidFill>
                    <a:schemeClr val="lt2"/>
                  </a:solidFill>
                </a:ln>
                <a:solidFill>
                  <a:srgbClr val="ffffff"/>
                </a:solidFill>
                <a:latin typeface="Garamond"/>
              </a:rPr>
              <a:t>Patrol Parallel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Oval 102"/>
          <p:cNvSpPr/>
          <p:nvPr/>
        </p:nvSpPr>
        <p:spPr>
          <a:xfrm>
            <a:off x="4065480" y="4973760"/>
            <a:ext cx="1672920" cy="845640"/>
          </a:xfrm>
          <a:prstGeom prst="ellipse">
            <a:avLst/>
          </a:prstGeom>
          <a:solidFill>
            <a:schemeClr val="tx1"/>
          </a:solidFill>
          <a:ln w="44450">
            <a:solidFill>
              <a:srgbClr val="ff66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200" spc="-1" strike="noStrike">
                <a:ln>
                  <a:solidFill>
                    <a:schemeClr val="lt2"/>
                  </a:solidFill>
                </a:ln>
                <a:solidFill>
                  <a:srgbClr val="ffffff"/>
                </a:solidFill>
                <a:latin typeface="Garamond"/>
              </a:rPr>
              <a:t>Whistle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Oval 42"/>
          <p:cNvSpPr/>
          <p:nvPr/>
        </p:nvSpPr>
        <p:spPr>
          <a:xfrm>
            <a:off x="5968440" y="4973760"/>
            <a:ext cx="1672920" cy="845640"/>
          </a:xfrm>
          <a:prstGeom prst="ellipse">
            <a:avLst/>
          </a:prstGeom>
          <a:solidFill>
            <a:schemeClr val="tx1"/>
          </a:solidFill>
          <a:ln w="44450">
            <a:solidFill>
              <a:srgbClr val="ff66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400" spc="-1" strike="noStrike">
                <a:ln>
                  <a:solidFill>
                    <a:schemeClr val="lt2"/>
                  </a:solidFill>
                </a:ln>
                <a:solidFill>
                  <a:srgbClr val="ffffff"/>
                </a:solidFill>
                <a:latin typeface="Garamond"/>
              </a:rPr>
              <a:t>Walk Around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05" name="Group 2"/>
          <p:cNvGrpSpPr/>
          <p:nvPr/>
        </p:nvGrpSpPr>
        <p:grpSpPr>
          <a:xfrm>
            <a:off x="8428680" y="3778920"/>
            <a:ext cx="2895120" cy="1994040"/>
            <a:chOff x="8428680" y="3778920"/>
            <a:chExt cx="2895120" cy="1994040"/>
          </a:xfrm>
        </p:grpSpPr>
        <p:sp>
          <p:nvSpPr>
            <p:cNvPr id="106" name="Rectangle 34"/>
            <p:cNvSpPr/>
            <p:nvPr/>
          </p:nvSpPr>
          <p:spPr>
            <a:xfrm>
              <a:off x="8428680" y="3778920"/>
              <a:ext cx="2869920" cy="1676160"/>
            </a:xfrm>
            <a:prstGeom prst="rect">
              <a:avLst/>
            </a:prstGeom>
            <a:noFill/>
            <a:ln>
              <a:solidFill>
                <a:srgbClr val="ffffff"/>
              </a:solidFill>
              <a:rou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US" sz="1800" spc="-1" strike="noStrike">
                <a:solidFill>
                  <a:srgbClr val="00ff00"/>
                </a:solidFill>
                <a:latin typeface="Arial"/>
              </a:endParaRPr>
            </a:p>
          </p:txBody>
        </p:sp>
        <p:sp>
          <p:nvSpPr>
            <p:cNvPr id="107" name="Oval 36"/>
            <p:cNvSpPr/>
            <p:nvPr/>
          </p:nvSpPr>
          <p:spPr>
            <a:xfrm>
              <a:off x="8581320" y="3931560"/>
              <a:ext cx="744120" cy="274320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rgbClr val="0070c0"/>
              </a:solidFill>
              <a:prstDash val="sysDot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2400" spc="-1" strike="noStrike">
                <a:ln>
                  <a:solidFill>
                    <a:schemeClr val="lt2"/>
                  </a:solidFill>
                </a:ln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8" name="TextBox 37"/>
            <p:cNvSpPr/>
            <p:nvPr/>
          </p:nvSpPr>
          <p:spPr>
            <a:xfrm>
              <a:off x="9343080" y="3778920"/>
              <a:ext cx="1980720" cy="1994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ts val="2999"/>
                </a:lnSpc>
              </a:pPr>
              <a:r>
                <a:rPr b="0" lang="en-US" sz="2000" spc="-1" strike="noStrike">
                  <a:solidFill>
                    <a:schemeClr val="lt1"/>
                  </a:solidFill>
                  <a:latin typeface="Garamond"/>
                  <a:ea typeface="ＭＳ Ｐゴシック"/>
                </a:rPr>
                <a:t>= compound task</a:t>
              </a:r>
              <a:endParaRPr b="0" lang="en-US" sz="2000" spc="-1" strike="noStrike">
                <a:solidFill>
                  <a:srgbClr val="ffffff"/>
                </a:solidFill>
                <a:latin typeface="Arial"/>
              </a:endParaRPr>
            </a:p>
            <a:p>
              <a:pPr defTabSz="457200">
                <a:lnSpc>
                  <a:spcPts val="2999"/>
                </a:lnSpc>
              </a:pPr>
              <a:r>
                <a:rPr b="0" lang="en-US" sz="2000" spc="-1" strike="noStrike">
                  <a:solidFill>
                    <a:schemeClr val="lt1"/>
                  </a:solidFill>
                  <a:latin typeface="Garamond"/>
                  <a:ea typeface="ＭＳ Ｐゴシック"/>
                </a:rPr>
                <a:t>= decorator</a:t>
              </a:r>
              <a:endParaRPr b="0" lang="en-US" sz="2000" spc="-1" strike="noStrike">
                <a:solidFill>
                  <a:srgbClr val="ffffff"/>
                </a:solidFill>
                <a:latin typeface="Arial"/>
              </a:endParaRPr>
            </a:p>
            <a:p>
              <a:pPr defTabSz="457200">
                <a:lnSpc>
                  <a:spcPts val="2999"/>
                </a:lnSpc>
              </a:pPr>
              <a:r>
                <a:rPr b="0" lang="en-US" sz="2000" spc="-1" strike="noStrike">
                  <a:solidFill>
                    <a:schemeClr val="lt1"/>
                  </a:solidFill>
                  <a:latin typeface="Garamond"/>
                  <a:ea typeface="ＭＳ Ｐゴシック"/>
                </a:rPr>
                <a:t>= action</a:t>
              </a:r>
              <a:endParaRPr b="0" lang="en-US" sz="2000" spc="-1" strike="noStrike">
                <a:solidFill>
                  <a:srgbClr val="ffffff"/>
                </a:solidFill>
                <a:latin typeface="Arial"/>
              </a:endParaRPr>
            </a:p>
            <a:p>
              <a:pPr defTabSz="457200">
                <a:lnSpc>
                  <a:spcPts val="2999"/>
                </a:lnSpc>
              </a:pPr>
              <a:r>
                <a:rPr b="0" lang="en-US" sz="2000" spc="-1" strike="noStrike">
                  <a:solidFill>
                    <a:schemeClr val="lt1"/>
                  </a:solidFill>
                  <a:latin typeface="Garamond"/>
                  <a:ea typeface="ＭＳ Ｐゴシック"/>
                </a:rPr>
                <a:t>= condition</a:t>
              </a:r>
              <a:endParaRPr b="0" lang="en-US" sz="20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9" name="Oval 38"/>
            <p:cNvSpPr/>
            <p:nvPr/>
          </p:nvSpPr>
          <p:spPr>
            <a:xfrm>
              <a:off x="8581320" y="4693320"/>
              <a:ext cx="744120" cy="274320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rgbClr val="ff66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2400" spc="-1" strike="noStrike">
                <a:ln>
                  <a:solidFill>
                    <a:schemeClr val="lt2"/>
                  </a:solidFill>
                </a:ln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0" name="Rectangle 39"/>
            <p:cNvSpPr/>
            <p:nvPr/>
          </p:nvSpPr>
          <p:spPr>
            <a:xfrm>
              <a:off x="8581320" y="5072760"/>
              <a:ext cx="744120" cy="274320"/>
            </a:xfrm>
            <a:prstGeom prst="rect">
              <a:avLst/>
            </a:prstGeom>
            <a:solidFill>
              <a:schemeClr val="tx1"/>
            </a:solidFill>
            <a:ln w="38100">
              <a:solidFill>
                <a:srgbClr val="ff66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2400" spc="-1" strike="noStrike">
                <a:ln>
                  <a:solidFill>
                    <a:schemeClr val="lt2"/>
                  </a:solidFill>
                </a:ln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1" name="Diamond 41"/>
            <p:cNvSpPr/>
            <p:nvPr/>
          </p:nvSpPr>
          <p:spPr>
            <a:xfrm>
              <a:off x="8581320" y="4312440"/>
              <a:ext cx="740880" cy="274320"/>
            </a:xfrm>
            <a:prstGeom prst="diamond">
              <a:avLst/>
            </a:prstGeom>
            <a:solidFill>
              <a:schemeClr val="tx1"/>
            </a:solidFill>
            <a:ln w="38100">
              <a:solidFill>
                <a:srgbClr val="ff66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2400" spc="-1" strike="noStrike">
                <a:ln>
                  <a:solidFill>
                    <a:schemeClr val="lt2"/>
                  </a:solidFill>
                </a:ln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12" name="Diamond 40"/>
          <p:cNvSpPr/>
          <p:nvPr/>
        </p:nvSpPr>
        <p:spPr>
          <a:xfrm>
            <a:off x="5018400" y="2348280"/>
            <a:ext cx="1672920" cy="849960"/>
          </a:xfrm>
          <a:prstGeom prst="diamond">
            <a:avLst/>
          </a:prstGeom>
          <a:solidFill>
            <a:schemeClr val="tx1"/>
          </a:solidFill>
          <a:ln w="44450">
            <a:solidFill>
              <a:srgbClr val="ff66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000" spc="-1" strike="noStrike">
                <a:ln>
                  <a:solidFill>
                    <a:schemeClr val="lt2"/>
                  </a:solidFill>
                </a:ln>
                <a:solidFill>
                  <a:srgbClr val="ffffff"/>
                </a:solidFill>
                <a:latin typeface="Garamond"/>
              </a:rPr>
              <a:t>Patrol Hourly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13" name="Straight Arrow Connector 43"/>
          <p:cNvCxnSpPr>
            <a:endCxn id="112" idx="0"/>
          </p:cNvCxnSpPr>
          <p:nvPr/>
        </p:nvCxnSpPr>
        <p:spPr>
          <a:xfrm>
            <a:off x="5658840" y="1868400"/>
            <a:ext cx="196560" cy="480240"/>
          </a:xfrm>
          <a:prstGeom prst="straightConnector1">
            <a:avLst/>
          </a:prstGeom>
          <a:ln w="38100">
            <a:solidFill>
              <a:srgbClr val="ffffff"/>
            </a:solidFill>
            <a:round/>
            <a:tailEnd len="med" type="arrow" w="med"/>
          </a:ln>
        </p:spPr>
      </p:cxnSp>
      <p:cxnSp>
        <p:nvCxnSpPr>
          <p:cNvPr id="114" name="Straight Arrow Connector 44"/>
          <p:cNvCxnSpPr>
            <a:stCxn id="112" idx="2"/>
            <a:endCxn id="102" idx="0"/>
          </p:cNvCxnSpPr>
          <p:nvPr/>
        </p:nvCxnSpPr>
        <p:spPr>
          <a:xfrm>
            <a:off x="5855040" y="3198240"/>
            <a:ext cx="720" cy="506880"/>
          </a:xfrm>
          <a:prstGeom prst="straightConnector1">
            <a:avLst/>
          </a:prstGeom>
          <a:ln w="38100">
            <a:solidFill>
              <a:srgbClr val="ffffff"/>
            </a:solidFill>
            <a:round/>
            <a:tailEnd len="med" type="arrow" w="med"/>
          </a:ln>
        </p:spPr>
      </p:cxnSp>
      <p:cxnSp>
        <p:nvCxnSpPr>
          <p:cNvPr id="115" name="Straight Arrow Connector 32"/>
          <p:cNvCxnSpPr/>
          <p:nvPr/>
        </p:nvCxnSpPr>
        <p:spPr>
          <a:xfrm>
            <a:off x="5105880" y="3568680"/>
            <a:ext cx="105120" cy="174960"/>
          </a:xfrm>
          <a:prstGeom prst="straightConnector1">
            <a:avLst/>
          </a:prstGeom>
          <a:ln w="25400">
            <a:solidFill>
              <a:srgbClr val="00ff00"/>
            </a:solidFill>
            <a:round/>
            <a:tailEnd len="med" type="arrow" w="med"/>
          </a:ln>
        </p:spPr>
      </p:cxnSp>
      <p:cxnSp>
        <p:nvCxnSpPr>
          <p:cNvPr id="116" name="Straight Arrow Connector 61"/>
          <p:cNvCxnSpPr>
            <a:stCxn id="88" idx="3"/>
            <a:endCxn id="95" idx="0"/>
          </p:cNvCxnSpPr>
          <p:nvPr/>
        </p:nvCxnSpPr>
        <p:spPr>
          <a:xfrm flipH="1">
            <a:off x="1600920" y="3042360"/>
            <a:ext cx="1221120" cy="621720"/>
          </a:xfrm>
          <a:prstGeom prst="straightConnector1">
            <a:avLst/>
          </a:prstGeom>
          <a:ln w="38100">
            <a:solidFill>
              <a:srgbClr val="ffffff"/>
            </a:solidFill>
            <a:round/>
            <a:tailEnd len="med" type="arrow" w="med"/>
          </a:ln>
        </p:spPr>
      </p:cxnSp>
      <p:cxnSp>
        <p:nvCxnSpPr>
          <p:cNvPr id="117" name="Straight Arrow Connector 63"/>
          <p:cNvCxnSpPr>
            <a:stCxn id="88" idx="4"/>
            <a:endCxn id="90" idx="0"/>
          </p:cNvCxnSpPr>
          <p:nvPr/>
        </p:nvCxnSpPr>
        <p:spPr>
          <a:xfrm>
            <a:off x="3413520" y="3166560"/>
            <a:ext cx="10080" cy="497520"/>
          </a:xfrm>
          <a:prstGeom prst="straightConnector1">
            <a:avLst/>
          </a:prstGeom>
          <a:ln w="38100">
            <a:solidFill>
              <a:srgbClr val="ffffff"/>
            </a:solidFill>
            <a:round/>
            <a:tailEnd len="med" type="arrow" w="med"/>
          </a:ln>
        </p:spPr>
      </p:cxnSp>
      <p:cxnSp>
        <p:nvCxnSpPr>
          <p:cNvPr id="118" name="Straight Arrow Connector 72"/>
          <p:cNvCxnSpPr>
            <a:stCxn id="102" idx="5"/>
            <a:endCxn id="104" idx="0"/>
          </p:cNvCxnSpPr>
          <p:nvPr/>
        </p:nvCxnSpPr>
        <p:spPr>
          <a:xfrm>
            <a:off x="6446880" y="4430520"/>
            <a:ext cx="358560" cy="543600"/>
          </a:xfrm>
          <a:prstGeom prst="straightConnector1">
            <a:avLst/>
          </a:prstGeom>
          <a:ln w="38100">
            <a:solidFill>
              <a:srgbClr val="ffffff"/>
            </a:solidFill>
            <a:round/>
            <a:tailEnd len="med" type="arrow" w="med"/>
          </a:ln>
        </p:spPr>
      </p:cxnSp>
      <p:cxnSp>
        <p:nvCxnSpPr>
          <p:cNvPr id="119" name="Straight Arrow Connector 77"/>
          <p:cNvCxnSpPr>
            <a:stCxn id="102" idx="3"/>
            <a:endCxn id="103" idx="0"/>
          </p:cNvCxnSpPr>
          <p:nvPr/>
        </p:nvCxnSpPr>
        <p:spPr>
          <a:xfrm flipH="1">
            <a:off x="4902120" y="4430520"/>
            <a:ext cx="361800" cy="543600"/>
          </a:xfrm>
          <a:prstGeom prst="straightConnector1">
            <a:avLst/>
          </a:prstGeom>
          <a:ln w="38100">
            <a:solidFill>
              <a:srgbClr val="ffffff"/>
            </a:solidFill>
            <a:round/>
            <a:tailEnd len="med" type="arrow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0" y="282600"/>
            <a:ext cx="12108600" cy="83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ctr">
            <a:noAutofit/>
          </a:bodyPr>
          <a:p>
            <a:pPr indent="0" algn="ctr" defTabSz="914400">
              <a:lnSpc>
                <a:spcPct val="80000"/>
              </a:lnSpc>
              <a:buNone/>
            </a:pPr>
            <a:r>
              <a:rPr b="1" lang="en-US" sz="4800" spc="97" strike="noStrike">
                <a:solidFill>
                  <a:schemeClr val="lt1"/>
                </a:solidFill>
                <a:latin typeface="Garamond"/>
                <a:ea typeface="ＭＳ Ｐゴシック"/>
              </a:rPr>
              <a:t>Behavior Tree Example – Run 1</a:t>
            </a:r>
            <a:endParaRPr b="0" lang="en-US" sz="4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1" name="Rectangle 3"/>
          <p:cNvSpPr/>
          <p:nvPr/>
        </p:nvSpPr>
        <p:spPr>
          <a:xfrm>
            <a:off x="8356320" y="4550400"/>
            <a:ext cx="2869920" cy="1676160"/>
          </a:xfrm>
          <a:prstGeom prst="rect">
            <a:avLst/>
          </a:prstGeom>
          <a:noFill/>
          <a:ln>
            <a:solidFill>
              <a:srgbClr val="ffffff"/>
            </a:solidFill>
            <a:rou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ff00"/>
              </a:solidFill>
              <a:latin typeface="Arial"/>
            </a:endParaRPr>
          </a:p>
        </p:txBody>
      </p:sp>
      <p:sp>
        <p:nvSpPr>
          <p:cNvPr id="122" name="Oval 4"/>
          <p:cNvSpPr/>
          <p:nvPr/>
        </p:nvSpPr>
        <p:spPr>
          <a:xfrm>
            <a:off x="8519760" y="4671720"/>
            <a:ext cx="744120" cy="274320"/>
          </a:xfrm>
          <a:prstGeom prst="ellipse">
            <a:avLst/>
          </a:prstGeom>
          <a:solidFill>
            <a:schemeClr val="tx1"/>
          </a:solidFill>
          <a:ln w="44450">
            <a:solidFill>
              <a:srgbClr val="0070c0"/>
            </a:solidFill>
            <a:prstDash val="sysDot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2400" spc="-1" strike="noStrike">
              <a:ln>
                <a:solidFill>
                  <a:schemeClr val="lt2"/>
                </a:solidFill>
              </a:ln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TextBox 5"/>
          <p:cNvSpPr/>
          <p:nvPr/>
        </p:nvSpPr>
        <p:spPr>
          <a:xfrm>
            <a:off x="9270720" y="4550400"/>
            <a:ext cx="1980720" cy="19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2999"/>
              </a:lnSpc>
            </a:pPr>
            <a:r>
              <a:rPr b="0" lang="en-US" sz="20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= compound task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ts val="2999"/>
              </a:lnSpc>
            </a:pPr>
            <a:r>
              <a:rPr b="0" lang="en-US" sz="20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= decorator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ts val="2999"/>
              </a:lnSpc>
            </a:pPr>
            <a:r>
              <a:rPr b="0" lang="en-US" sz="20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= action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ts val="2999"/>
              </a:lnSpc>
            </a:pPr>
            <a:r>
              <a:rPr b="0" lang="en-US" sz="20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= condition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Oval 7"/>
          <p:cNvSpPr/>
          <p:nvPr/>
        </p:nvSpPr>
        <p:spPr>
          <a:xfrm>
            <a:off x="8508600" y="5464800"/>
            <a:ext cx="744120" cy="274320"/>
          </a:xfrm>
          <a:prstGeom prst="ellipse">
            <a:avLst/>
          </a:prstGeom>
          <a:solidFill>
            <a:schemeClr val="tx1"/>
          </a:solidFill>
          <a:ln w="44450">
            <a:solidFill>
              <a:srgbClr val="ff66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2400" spc="-1" strike="noStrike">
              <a:ln>
                <a:solidFill>
                  <a:schemeClr val="lt2"/>
                </a:solidFill>
              </a:ln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Rectangle 8"/>
          <p:cNvSpPr/>
          <p:nvPr/>
        </p:nvSpPr>
        <p:spPr>
          <a:xfrm>
            <a:off x="8508600" y="5844240"/>
            <a:ext cx="744120" cy="274320"/>
          </a:xfrm>
          <a:prstGeom prst="rect">
            <a:avLst/>
          </a:prstGeom>
          <a:solidFill>
            <a:schemeClr val="tx1"/>
          </a:solidFill>
          <a:ln w="44450">
            <a:solidFill>
              <a:srgbClr val="ff66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2400" spc="-1" strike="noStrike">
              <a:ln>
                <a:solidFill>
                  <a:schemeClr val="lt2"/>
                </a:solidFill>
              </a:ln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Oval 10"/>
          <p:cNvSpPr/>
          <p:nvPr/>
        </p:nvSpPr>
        <p:spPr>
          <a:xfrm>
            <a:off x="2687040" y="2868120"/>
            <a:ext cx="1672920" cy="849960"/>
          </a:xfrm>
          <a:prstGeom prst="ellipse">
            <a:avLst/>
          </a:prstGeom>
          <a:solidFill>
            <a:schemeClr val="tx1"/>
          </a:solidFill>
          <a:ln w="44450">
            <a:solidFill>
              <a:srgbClr val="0070c0"/>
            </a:solidFill>
            <a:prstDash val="sysDot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200" spc="-1" strike="noStrike">
                <a:ln>
                  <a:solidFill>
                    <a:schemeClr val="lt2"/>
                  </a:solidFill>
                </a:ln>
                <a:solidFill>
                  <a:srgbClr val="ffffff"/>
                </a:solidFill>
                <a:latin typeface="Garamond"/>
              </a:rPr>
              <a:t>Gun Sequence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Oval 11"/>
          <p:cNvSpPr/>
          <p:nvPr/>
        </p:nvSpPr>
        <p:spPr>
          <a:xfrm>
            <a:off x="5217840" y="1568160"/>
            <a:ext cx="1672920" cy="849960"/>
          </a:xfrm>
          <a:prstGeom prst="ellipse">
            <a:avLst/>
          </a:prstGeom>
          <a:solidFill>
            <a:schemeClr val="tx1"/>
          </a:solidFill>
          <a:ln w="44450">
            <a:solidFill>
              <a:srgbClr val="0070c0"/>
            </a:solidFill>
            <a:prstDash val="sysDot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400" spc="-1" strike="noStrike">
                <a:ln>
                  <a:solidFill>
                    <a:schemeClr val="lt2"/>
                  </a:solidFill>
                </a:ln>
                <a:solidFill>
                  <a:srgbClr val="ffffff"/>
                </a:solidFill>
                <a:latin typeface="Garamond"/>
              </a:rPr>
              <a:t>Root Selector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Oval 13"/>
          <p:cNvSpPr/>
          <p:nvPr/>
        </p:nvSpPr>
        <p:spPr>
          <a:xfrm>
            <a:off x="3422520" y="4189680"/>
            <a:ext cx="1672920" cy="849960"/>
          </a:xfrm>
          <a:prstGeom prst="ellipse">
            <a:avLst/>
          </a:prstGeom>
          <a:solidFill>
            <a:schemeClr val="tx1"/>
          </a:solidFill>
          <a:ln w="44450">
            <a:solidFill>
              <a:srgbClr val="ff66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400" spc="-1" strike="noStrike">
                <a:ln>
                  <a:solidFill>
                    <a:schemeClr val="lt2"/>
                  </a:solidFill>
                </a:ln>
                <a:solidFill>
                  <a:srgbClr val="ffffff"/>
                </a:solidFill>
                <a:latin typeface="Garamond"/>
              </a:rPr>
              <a:t>Shoot Player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Rectangle 16"/>
          <p:cNvSpPr/>
          <p:nvPr/>
        </p:nvSpPr>
        <p:spPr>
          <a:xfrm>
            <a:off x="881280" y="2914920"/>
            <a:ext cx="1672920" cy="767880"/>
          </a:xfrm>
          <a:prstGeom prst="rect">
            <a:avLst/>
          </a:prstGeom>
          <a:solidFill>
            <a:schemeClr val="tx1"/>
          </a:solidFill>
          <a:ln w="44450">
            <a:solidFill>
              <a:srgbClr val="ff66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400" spc="-1" strike="noStrike">
                <a:ln>
                  <a:solidFill>
                    <a:schemeClr val="lt2"/>
                  </a:solidFill>
                </a:ln>
                <a:solidFill>
                  <a:srgbClr val="ffffff"/>
                </a:solidFill>
                <a:latin typeface="Garamond"/>
              </a:rPr>
              <a:t>Player Seen?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30" name="Straight Arrow Connector 17"/>
          <p:cNvCxnSpPr>
            <a:stCxn id="131" idx="5"/>
            <a:endCxn id="126" idx="0"/>
          </p:cNvCxnSpPr>
          <p:nvPr/>
        </p:nvCxnSpPr>
        <p:spPr>
          <a:xfrm>
            <a:off x="3321720" y="2297880"/>
            <a:ext cx="202320" cy="570600"/>
          </a:xfrm>
          <a:prstGeom prst="straightConnector1">
            <a:avLst/>
          </a:prstGeom>
          <a:ln w="38100">
            <a:solidFill>
              <a:srgbClr val="ffffff"/>
            </a:solidFill>
            <a:round/>
            <a:tailEnd len="med" type="arrow" w="med"/>
          </a:ln>
        </p:spPr>
      </p:cxnSp>
      <p:cxnSp>
        <p:nvCxnSpPr>
          <p:cNvPr id="132" name="Straight Arrow Connector 18"/>
          <p:cNvCxnSpPr>
            <a:stCxn id="131" idx="3"/>
            <a:endCxn id="129" idx="0"/>
          </p:cNvCxnSpPr>
          <p:nvPr/>
        </p:nvCxnSpPr>
        <p:spPr>
          <a:xfrm flipH="1">
            <a:off x="1717560" y="2297880"/>
            <a:ext cx="421200" cy="617400"/>
          </a:xfrm>
          <a:prstGeom prst="straightConnector1">
            <a:avLst/>
          </a:prstGeom>
          <a:ln w="38100">
            <a:solidFill>
              <a:srgbClr val="ffffff"/>
            </a:solidFill>
            <a:round/>
            <a:tailEnd len="med" type="arrow" w="med"/>
          </a:ln>
        </p:spPr>
      </p:cxnSp>
      <p:sp>
        <p:nvSpPr>
          <p:cNvPr id="133" name="Oval 25"/>
          <p:cNvSpPr/>
          <p:nvPr/>
        </p:nvSpPr>
        <p:spPr>
          <a:xfrm>
            <a:off x="1569600" y="4189680"/>
            <a:ext cx="1672920" cy="849960"/>
          </a:xfrm>
          <a:prstGeom prst="ellipse">
            <a:avLst/>
          </a:prstGeom>
          <a:solidFill>
            <a:schemeClr val="tx1"/>
          </a:solidFill>
          <a:ln w="44450">
            <a:solidFill>
              <a:srgbClr val="ff66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400" spc="-1" strike="noStrike">
                <a:ln>
                  <a:solidFill>
                    <a:schemeClr val="lt2"/>
                  </a:solidFill>
                </a:ln>
                <a:solidFill>
                  <a:srgbClr val="ffffff"/>
                </a:solidFill>
                <a:latin typeface="Garamond"/>
              </a:rPr>
              <a:t>Find Ammo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/>
          </p:nvPr>
        </p:nvSpPr>
        <p:spPr>
          <a:xfrm>
            <a:off x="6980040" y="1325160"/>
            <a:ext cx="4413600" cy="149508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In the first traversal, the player is seen, but finding ammo will take more than one tick.</a:t>
            </a:r>
            <a:endParaRPr b="0" lang="en-US" sz="2800" spc="-1" strike="noStrike">
              <a:solidFill>
                <a:schemeClr val="dk1"/>
              </a:solidFill>
              <a:latin typeface="Arial Regular"/>
            </a:endParaRPr>
          </a:p>
        </p:txBody>
      </p:sp>
      <p:cxnSp>
        <p:nvCxnSpPr>
          <p:cNvPr id="135" name="Straight Arrow Connector 35"/>
          <p:cNvCxnSpPr/>
          <p:nvPr/>
        </p:nvCxnSpPr>
        <p:spPr>
          <a:xfrm>
            <a:off x="2101680" y="3963240"/>
            <a:ext cx="2502000" cy="360"/>
          </a:xfrm>
          <a:prstGeom prst="straightConnector1">
            <a:avLst/>
          </a:prstGeom>
          <a:ln w="38100">
            <a:solidFill>
              <a:srgbClr val="ffff00"/>
            </a:solidFill>
            <a:prstDash val="sysDot"/>
            <a:round/>
            <a:tailEnd len="med" type="arrow" w="med"/>
          </a:ln>
        </p:spPr>
      </p:cxnSp>
      <p:sp>
        <p:nvSpPr>
          <p:cNvPr id="136" name="Diamond 40"/>
          <p:cNvSpPr/>
          <p:nvPr/>
        </p:nvSpPr>
        <p:spPr>
          <a:xfrm>
            <a:off x="8508600" y="5083920"/>
            <a:ext cx="740880" cy="274320"/>
          </a:xfrm>
          <a:prstGeom prst="diamond">
            <a:avLst/>
          </a:prstGeom>
          <a:solidFill>
            <a:schemeClr val="tx1"/>
          </a:solidFill>
          <a:ln w="44450">
            <a:solidFill>
              <a:srgbClr val="ff66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2400" spc="-1" strike="noStrike">
              <a:ln>
                <a:solidFill>
                  <a:schemeClr val="lt2"/>
                </a:solidFill>
              </a:ln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Oval 59"/>
          <p:cNvSpPr/>
          <p:nvPr/>
        </p:nvSpPr>
        <p:spPr>
          <a:xfrm>
            <a:off x="1893600" y="1572120"/>
            <a:ext cx="1672920" cy="849960"/>
          </a:xfrm>
          <a:prstGeom prst="ellipse">
            <a:avLst/>
          </a:prstGeom>
          <a:solidFill>
            <a:schemeClr val="tx1"/>
          </a:solidFill>
          <a:ln w="44450">
            <a:solidFill>
              <a:srgbClr val="0070c0"/>
            </a:solidFill>
            <a:prstDash val="sysDot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200" spc="-1" strike="noStrike">
                <a:ln>
                  <a:solidFill>
                    <a:schemeClr val="lt2"/>
                  </a:solidFill>
                </a:ln>
                <a:solidFill>
                  <a:srgbClr val="ffffff"/>
                </a:solidFill>
                <a:latin typeface="Garamond"/>
              </a:rPr>
              <a:t>Attack Sequence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37" name="Straight Arrow Connector 60"/>
          <p:cNvCxnSpPr>
            <a:stCxn id="127" idx="2"/>
            <a:endCxn id="131" idx="6"/>
          </p:cNvCxnSpPr>
          <p:nvPr/>
        </p:nvCxnSpPr>
        <p:spPr>
          <a:xfrm flipH="1">
            <a:off x="3566520" y="1993320"/>
            <a:ext cx="1651680" cy="4320"/>
          </a:xfrm>
          <a:prstGeom prst="straightConnector1">
            <a:avLst/>
          </a:prstGeom>
          <a:ln w="38100">
            <a:solidFill>
              <a:srgbClr val="ffffff"/>
            </a:solidFill>
            <a:round/>
            <a:tailEnd len="med" type="arrow" w="med"/>
          </a:ln>
        </p:spPr>
      </p:cxnSp>
      <p:cxnSp>
        <p:nvCxnSpPr>
          <p:cNvPr id="138" name="Straight Arrow Connector 66"/>
          <p:cNvCxnSpPr/>
          <p:nvPr/>
        </p:nvCxnSpPr>
        <p:spPr>
          <a:xfrm>
            <a:off x="4312440" y="2657880"/>
            <a:ext cx="2286360" cy="360"/>
          </a:xfrm>
          <a:prstGeom prst="straightConnector1">
            <a:avLst/>
          </a:prstGeom>
          <a:ln w="38100">
            <a:solidFill>
              <a:srgbClr val="ffff00"/>
            </a:solidFill>
            <a:prstDash val="sysDot"/>
            <a:round/>
            <a:tailEnd len="med" type="arrow" w="med"/>
          </a:ln>
        </p:spPr>
      </p:cxnSp>
      <p:cxnSp>
        <p:nvCxnSpPr>
          <p:cNvPr id="139" name="Straight Arrow Connector 67"/>
          <p:cNvCxnSpPr/>
          <p:nvPr/>
        </p:nvCxnSpPr>
        <p:spPr>
          <a:xfrm>
            <a:off x="4312440" y="1667520"/>
            <a:ext cx="360" cy="990720"/>
          </a:xfrm>
          <a:prstGeom prst="straightConnector1">
            <a:avLst/>
          </a:prstGeom>
          <a:ln w="38100">
            <a:solidFill>
              <a:srgbClr val="ffff00"/>
            </a:solidFill>
            <a:prstDash val="sysDot"/>
            <a:round/>
          </a:ln>
        </p:spPr>
      </p:cxnSp>
      <p:cxnSp>
        <p:nvCxnSpPr>
          <p:cNvPr id="140" name="Straight Arrow Connector 70"/>
          <p:cNvCxnSpPr/>
          <p:nvPr/>
        </p:nvCxnSpPr>
        <p:spPr>
          <a:xfrm>
            <a:off x="1436760" y="2639160"/>
            <a:ext cx="2495160" cy="360"/>
          </a:xfrm>
          <a:prstGeom prst="straightConnector1">
            <a:avLst/>
          </a:prstGeom>
          <a:ln w="38100">
            <a:solidFill>
              <a:srgbClr val="ffff00"/>
            </a:solidFill>
            <a:prstDash val="sysDot"/>
            <a:round/>
            <a:tailEnd len="med" type="arrow" w="med"/>
          </a:ln>
        </p:spPr>
      </p:cxnSp>
      <p:sp>
        <p:nvSpPr>
          <p:cNvPr id="141" name="Oval 95"/>
          <p:cNvSpPr/>
          <p:nvPr/>
        </p:nvSpPr>
        <p:spPr>
          <a:xfrm>
            <a:off x="5245200" y="4189680"/>
            <a:ext cx="1672920" cy="849960"/>
          </a:xfrm>
          <a:prstGeom prst="ellipse">
            <a:avLst/>
          </a:prstGeom>
          <a:solidFill>
            <a:schemeClr val="tx1"/>
          </a:solidFill>
          <a:ln w="44450">
            <a:solidFill>
              <a:srgbClr val="0070c0"/>
            </a:solidFill>
            <a:prstDash val="sysDot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400" spc="-1" strike="noStrike">
                <a:ln>
                  <a:solidFill>
                    <a:schemeClr val="lt2"/>
                  </a:solidFill>
                </a:ln>
                <a:solidFill>
                  <a:srgbClr val="ffffff"/>
                </a:solidFill>
                <a:latin typeface="Garamond"/>
              </a:rPr>
              <a:t>Patrol Parallel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Oval 101"/>
          <p:cNvSpPr/>
          <p:nvPr/>
        </p:nvSpPr>
        <p:spPr>
          <a:xfrm>
            <a:off x="6154200" y="5359320"/>
            <a:ext cx="1672920" cy="849960"/>
          </a:xfrm>
          <a:prstGeom prst="ellipse">
            <a:avLst/>
          </a:prstGeom>
          <a:solidFill>
            <a:schemeClr val="tx1"/>
          </a:solidFill>
          <a:ln w="44450">
            <a:solidFill>
              <a:srgbClr val="ff66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400" spc="-1" strike="noStrike">
                <a:ln>
                  <a:solidFill>
                    <a:schemeClr val="lt2"/>
                  </a:solidFill>
                </a:ln>
                <a:solidFill>
                  <a:srgbClr val="ffffff"/>
                </a:solidFill>
                <a:latin typeface="Garamond"/>
              </a:rPr>
              <a:t>Walk Around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Oval 102"/>
          <p:cNvSpPr/>
          <p:nvPr/>
        </p:nvSpPr>
        <p:spPr>
          <a:xfrm>
            <a:off x="4217040" y="5380560"/>
            <a:ext cx="1672920" cy="849960"/>
          </a:xfrm>
          <a:prstGeom prst="ellipse">
            <a:avLst/>
          </a:prstGeom>
          <a:solidFill>
            <a:schemeClr val="tx1"/>
          </a:solidFill>
          <a:ln w="44450">
            <a:solidFill>
              <a:srgbClr val="ff66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200" spc="-1" strike="noStrike">
                <a:ln>
                  <a:solidFill>
                    <a:schemeClr val="lt2"/>
                  </a:solidFill>
                </a:ln>
                <a:solidFill>
                  <a:srgbClr val="ffffff"/>
                </a:solidFill>
                <a:latin typeface="Garamond"/>
              </a:rPr>
              <a:t>Whistle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Rectangle 39"/>
          <p:cNvSpPr/>
          <p:nvPr/>
        </p:nvSpPr>
        <p:spPr>
          <a:xfrm>
            <a:off x="8361720" y="2704680"/>
            <a:ext cx="2869920" cy="1676160"/>
          </a:xfrm>
          <a:prstGeom prst="rect">
            <a:avLst/>
          </a:prstGeom>
          <a:noFill/>
          <a:ln>
            <a:solidFill>
              <a:srgbClr val="ffffff"/>
            </a:solidFill>
            <a:rou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ff00"/>
              </a:solidFill>
              <a:latin typeface="Arial"/>
            </a:endParaRPr>
          </a:p>
        </p:txBody>
      </p:sp>
      <p:sp>
        <p:nvSpPr>
          <p:cNvPr id="145" name="TextBox 42"/>
          <p:cNvSpPr/>
          <p:nvPr/>
        </p:nvSpPr>
        <p:spPr>
          <a:xfrm>
            <a:off x="9276120" y="2704680"/>
            <a:ext cx="1889280" cy="237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2999"/>
              </a:lnSpc>
            </a:pPr>
            <a:r>
              <a:rPr b="0" lang="en-US" sz="20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= visiting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ts val="2999"/>
              </a:lnSpc>
            </a:pPr>
            <a:r>
              <a:rPr b="0" lang="en-US" sz="20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= succeeded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ts val="2999"/>
              </a:lnSpc>
            </a:pPr>
            <a:r>
              <a:rPr b="0" lang="en-US" sz="20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= failed/aborted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ts val="2999"/>
              </a:lnSpc>
            </a:pPr>
            <a:r>
              <a:rPr b="0" lang="en-US" sz="20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= running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Oval 43"/>
          <p:cNvSpPr/>
          <p:nvPr/>
        </p:nvSpPr>
        <p:spPr>
          <a:xfrm>
            <a:off x="8514000" y="3619080"/>
            <a:ext cx="744120" cy="274320"/>
          </a:xfrm>
          <a:prstGeom prst="ellipse">
            <a:avLst/>
          </a:prstGeom>
          <a:solidFill>
            <a:schemeClr val="tx2">
              <a:lumMod val="65000"/>
              <a:lumOff val="35000"/>
            </a:schemeClr>
          </a:solidFill>
          <a:ln w="12700">
            <a:solidFill>
              <a:srgbClr val="ffff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2400" spc="-1" strike="noStrike">
              <a:ln>
                <a:solidFill>
                  <a:schemeClr val="lt2"/>
                </a:solidFill>
              </a:ln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Oval 46"/>
          <p:cNvSpPr/>
          <p:nvPr/>
        </p:nvSpPr>
        <p:spPr>
          <a:xfrm>
            <a:off x="8514000" y="3999960"/>
            <a:ext cx="744120" cy="274320"/>
          </a:xfrm>
          <a:prstGeom prst="ellipse">
            <a:avLst/>
          </a:prstGeom>
          <a:solidFill>
            <a:srgbClr val="008040"/>
          </a:solidFill>
          <a:ln w="12700">
            <a:solidFill>
              <a:srgbClr val="00ff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2400" spc="-1" strike="noStrike">
              <a:ln>
                <a:solidFill>
                  <a:schemeClr val="lt2"/>
                </a:solidFill>
              </a:ln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Oval 47"/>
          <p:cNvSpPr/>
          <p:nvPr/>
        </p:nvSpPr>
        <p:spPr>
          <a:xfrm>
            <a:off x="8514000" y="3237840"/>
            <a:ext cx="744120" cy="274320"/>
          </a:xfrm>
          <a:prstGeom prst="ellipse">
            <a:avLst/>
          </a:prstGeom>
          <a:solidFill>
            <a:srgbClr val="002060"/>
          </a:solidFill>
          <a:ln w="12700">
            <a:solidFill>
              <a:srgbClr val="0070c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2400" spc="-1" strike="noStrike">
              <a:ln>
                <a:solidFill>
                  <a:schemeClr val="lt2"/>
                </a:solidFill>
              </a:ln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Oval 49"/>
          <p:cNvSpPr/>
          <p:nvPr/>
        </p:nvSpPr>
        <p:spPr>
          <a:xfrm>
            <a:off x="8514000" y="2856960"/>
            <a:ext cx="744120" cy="274320"/>
          </a:xfrm>
          <a:prstGeom prst="ellipse">
            <a:avLst/>
          </a:prstGeom>
          <a:solidFill>
            <a:schemeClr val="tx1"/>
          </a:solidFill>
          <a:ln w="44450">
            <a:solidFill>
              <a:srgbClr val="00ff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2400" spc="-1" strike="noStrike">
              <a:ln>
                <a:solidFill>
                  <a:schemeClr val="lt2"/>
                </a:solidFill>
              </a:ln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Diamond 44"/>
          <p:cNvSpPr/>
          <p:nvPr/>
        </p:nvSpPr>
        <p:spPr>
          <a:xfrm>
            <a:off x="5243040" y="2903760"/>
            <a:ext cx="1672920" cy="849960"/>
          </a:xfrm>
          <a:prstGeom prst="diamond">
            <a:avLst/>
          </a:prstGeom>
          <a:solidFill>
            <a:schemeClr val="tx1"/>
          </a:solidFill>
          <a:ln w="44450">
            <a:solidFill>
              <a:srgbClr val="ff66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000" spc="-1" strike="noStrike">
                <a:ln>
                  <a:solidFill>
                    <a:schemeClr val="lt2"/>
                  </a:solidFill>
                </a:ln>
                <a:solidFill>
                  <a:srgbClr val="ffffff"/>
                </a:solidFill>
                <a:latin typeface="Garamond"/>
              </a:rPr>
              <a:t>Patrol Hourly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51" name="Straight Arrow Connector 45"/>
          <p:cNvCxnSpPr>
            <a:stCxn id="127" idx="4"/>
            <a:endCxn id="150" idx="0"/>
          </p:cNvCxnSpPr>
          <p:nvPr/>
        </p:nvCxnSpPr>
        <p:spPr>
          <a:xfrm>
            <a:off x="6054480" y="2418120"/>
            <a:ext cx="25560" cy="486000"/>
          </a:xfrm>
          <a:prstGeom prst="straightConnector1">
            <a:avLst/>
          </a:prstGeom>
          <a:ln w="38100">
            <a:solidFill>
              <a:srgbClr val="ffffff"/>
            </a:solidFill>
            <a:round/>
            <a:tailEnd len="med" type="arrow" w="med"/>
          </a:ln>
        </p:spPr>
      </p:cxnSp>
      <p:cxnSp>
        <p:nvCxnSpPr>
          <p:cNvPr id="152" name="Straight Arrow Connector 50"/>
          <p:cNvCxnSpPr>
            <a:stCxn id="150" idx="2"/>
            <a:endCxn id="141" idx="0"/>
          </p:cNvCxnSpPr>
          <p:nvPr/>
        </p:nvCxnSpPr>
        <p:spPr>
          <a:xfrm>
            <a:off x="6079680" y="3753720"/>
            <a:ext cx="2520" cy="436320"/>
          </a:xfrm>
          <a:prstGeom prst="straightConnector1">
            <a:avLst/>
          </a:prstGeom>
          <a:ln w="38100">
            <a:solidFill>
              <a:srgbClr val="ffffff"/>
            </a:solidFill>
            <a:round/>
            <a:tailEnd len="med" type="arrow" w="med"/>
          </a:ln>
        </p:spPr>
      </p:cxnSp>
      <p:cxnSp>
        <p:nvCxnSpPr>
          <p:cNvPr id="153" name="Straight Arrow Connector 48"/>
          <p:cNvCxnSpPr>
            <a:stCxn id="126" idx="3"/>
            <a:endCxn id="133" idx="0"/>
          </p:cNvCxnSpPr>
          <p:nvPr/>
        </p:nvCxnSpPr>
        <p:spPr>
          <a:xfrm flipH="1">
            <a:off x="2406240" y="3593880"/>
            <a:ext cx="525960" cy="596160"/>
          </a:xfrm>
          <a:prstGeom prst="straightConnector1">
            <a:avLst/>
          </a:prstGeom>
          <a:ln w="38100">
            <a:solidFill>
              <a:srgbClr val="ffffff"/>
            </a:solidFill>
            <a:round/>
            <a:tailEnd len="med" type="arrow" w="med"/>
          </a:ln>
        </p:spPr>
      </p:cxnSp>
      <p:cxnSp>
        <p:nvCxnSpPr>
          <p:cNvPr id="154" name="Straight Arrow Connector 51"/>
          <p:cNvCxnSpPr>
            <a:stCxn id="126" idx="5"/>
            <a:endCxn id="128" idx="0"/>
          </p:cNvCxnSpPr>
          <p:nvPr/>
        </p:nvCxnSpPr>
        <p:spPr>
          <a:xfrm>
            <a:off x="4115160" y="3593880"/>
            <a:ext cx="144360" cy="596160"/>
          </a:xfrm>
          <a:prstGeom prst="straightConnector1">
            <a:avLst/>
          </a:prstGeom>
          <a:ln w="38100">
            <a:solidFill>
              <a:srgbClr val="ffffff"/>
            </a:solidFill>
            <a:round/>
            <a:tailEnd len="med" type="arrow" w="med"/>
          </a:ln>
        </p:spPr>
      </p:cxnSp>
      <p:cxnSp>
        <p:nvCxnSpPr>
          <p:cNvPr id="155" name="Straight Arrow Connector 52"/>
          <p:cNvCxnSpPr>
            <a:stCxn id="141" idx="3"/>
            <a:endCxn id="143" idx="0"/>
          </p:cNvCxnSpPr>
          <p:nvPr/>
        </p:nvCxnSpPr>
        <p:spPr>
          <a:xfrm flipH="1">
            <a:off x="5053680" y="4915440"/>
            <a:ext cx="436680" cy="465480"/>
          </a:xfrm>
          <a:prstGeom prst="straightConnector1">
            <a:avLst/>
          </a:prstGeom>
          <a:ln w="38100">
            <a:solidFill>
              <a:srgbClr val="ffffff"/>
            </a:solidFill>
            <a:round/>
            <a:tailEnd len="med" type="arrow" w="med"/>
          </a:ln>
        </p:spPr>
      </p:cxnSp>
      <p:cxnSp>
        <p:nvCxnSpPr>
          <p:cNvPr id="156" name="Straight Arrow Connector 53"/>
          <p:cNvCxnSpPr>
            <a:stCxn id="141" idx="5"/>
            <a:endCxn id="142" idx="0"/>
          </p:cNvCxnSpPr>
          <p:nvPr/>
        </p:nvCxnSpPr>
        <p:spPr>
          <a:xfrm>
            <a:off x="6673320" y="4915440"/>
            <a:ext cx="317880" cy="444240"/>
          </a:xfrm>
          <a:prstGeom prst="straightConnector1">
            <a:avLst/>
          </a:prstGeom>
          <a:ln w="38100">
            <a:solidFill>
              <a:srgbClr val="ffffff"/>
            </a:solidFill>
            <a:round/>
            <a:tailEnd len="med" type="arrow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30" dur="indefinite" restart="never" nodeType="tmRoot">
          <p:childTnLst>
            <p:seq>
              <p:cTn id="231" dur="indefinite" nodeType="mainSeq">
                <p:childTnLst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nodeType="clickEffect" fill="hold" presetClass="emph" presetID="7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235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ff00"/>
                                      </p:to>
                                    </p:animClr>
                                    <p:set>
                                      <p:cBhvr>
                                        <p:cTn id="236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nodeType="clickEffect" fill="hold" presetClass="emph" presetID="7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240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241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2" nodeType="withEffect" fill="hold" presetClass="emph" presetID="7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243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ff00"/>
                                      </p:to>
                                    </p:animClr>
                                    <p:set>
                                      <p:cBhvr>
                                        <p:cTn id="244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nodeType="clickEffect" fill="hold" presetClass="emph" presetID="7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248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249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0" nodeType="withEffect" fill="hold" presetClass="emph" presetID="7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251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ff00"/>
                                      </p:to>
                                    </p:animClr>
                                    <p:set>
                                      <p:cBhvr>
                                        <p:cTn id="252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nodeType="clickEffect" fill="hold" presetClass="emph" presetID="1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256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2060"/>
                                      </p:to>
                                    </p:animClr>
                                    <p:set>
                                      <p:cBhvr>
                                        <p:cTn id="257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8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nodeType="clickEffect" fill="hold" presetClass="emph" presetID="7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262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6600"/>
                                      </p:to>
                                    </p:animClr>
                                    <p:set>
                                      <p:cBhvr>
                                        <p:cTn id="263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4" nodeType="withEffect" fill="hold" presetClass="emph" presetID="7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265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ff00"/>
                                      </p:to>
                                    </p:animClr>
                                    <p:set>
                                      <p:cBhvr>
                                        <p:cTn id="266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>
                      <p:stCondLst>
                        <p:cond delay="indefinite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nodeType="clickEffect" fill="hold" presetClass="emph" presetID="7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270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271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2" nodeType="withEffect" fill="hold" presetClass="emph" presetID="7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273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ff00"/>
                                      </p:to>
                                    </p:animClr>
                                    <p:set>
                                      <p:cBhvr>
                                        <p:cTn id="274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>
                      <p:stCondLst>
                        <p:cond delay="indefinite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nodeType="clickEffect" fill="hold" presetClass="emph" presetID="7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278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279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0" nodeType="withEffect" fill="hold" presetClass="emph" presetID="7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281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ff00"/>
                                      </p:to>
                                    </p:animClr>
                                    <p:set>
                                      <p:cBhvr>
                                        <p:cTn id="282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" fill="hold">
                      <p:stCondLst>
                        <p:cond delay="indefinite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nodeType="clickEffect" fill="hold" presetClass="emph" presetID="1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286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8040"/>
                                      </p:to>
                                    </p:animClr>
                                    <p:set>
                                      <p:cBhvr>
                                        <p:cTn id="287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8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9" fill="hold">
                      <p:stCondLst>
                        <p:cond delay="indefinite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nodeType="clickEffect" fill="hold" presetClass="emph" presetID="7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292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a661c"/>
                                      </p:to>
                                    </p:animClr>
                                    <p:set>
                                      <p:cBhvr>
                                        <p:cTn id="293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4" nodeType="withEffect" fill="hold" presetClass="emph" presetID="7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295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ff00"/>
                                      </p:to>
                                    </p:animClr>
                                    <p:set>
                                      <p:cBhvr>
                                        <p:cTn id="296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7" fill="hold">
                      <p:stCondLst>
                        <p:cond delay="indefinite"/>
                      </p:stCondLst>
                      <p:childTnLst>
                        <p:par>
                          <p:cTn id="298" fill="hold">
                            <p:stCondLst>
                              <p:cond delay="0"/>
                            </p:stCondLst>
                            <p:childTnLst>
                              <p:par>
                                <p:cTn id="299" nodeType="clickEffect" fill="hold" presetClass="emph" presetID="1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300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8040"/>
                                      </p:to>
                                    </p:animClr>
                                    <p:set>
                                      <p:cBhvr>
                                        <p:cTn id="301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2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3" fill="hold">
                      <p:stCondLst>
                        <p:cond delay="indefinite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nodeType="clickEffect" fill="hold" presetClass="emph" presetID="7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306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307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8" nodeType="withEffect" fill="hold" presetClass="emph" presetID="7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309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ff00"/>
                                      </p:to>
                                    </p:animClr>
                                    <p:set>
                                      <p:cBhvr>
                                        <p:cTn id="310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1" fill="hold">
                      <p:stCondLst>
                        <p:cond delay="indefinite"/>
                      </p:stCondLst>
                      <p:childTnLst>
                        <p:par>
                          <p:cTn id="312" fill="hold">
                            <p:stCondLst>
                              <p:cond delay="0"/>
                            </p:stCondLst>
                            <p:childTnLst>
                              <p:par>
                                <p:cTn id="313" nodeType="clickEffect" fill="hold" presetClass="emph" presetID="1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314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8040"/>
                                      </p:to>
                                    </p:animClr>
                                    <p:set>
                                      <p:cBhvr>
                                        <p:cTn id="315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6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7" fill="hold">
                      <p:stCondLst>
                        <p:cond delay="indefinite"/>
                      </p:stCondLst>
                      <p:childTnLst>
                        <p:par>
                          <p:cTn id="318" fill="hold">
                            <p:stCondLst>
                              <p:cond delay="0"/>
                            </p:stCondLst>
                            <p:childTnLst>
                              <p:par>
                                <p:cTn id="319" nodeType="clickEffect" fill="hold" presetClass="emph" presetID="7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320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321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2" nodeType="withEffect" fill="hold" presetClass="emph" presetID="7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323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ff00"/>
                                      </p:to>
                                    </p:animClr>
                                    <p:set>
                                      <p:cBhvr>
                                        <p:cTn id="324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5" fill="hold">
                      <p:stCondLst>
                        <p:cond delay="indefinite"/>
                      </p:stCondLst>
                      <p:childTnLst>
                        <p:par>
                          <p:cTn id="326" fill="hold">
                            <p:stCondLst>
                              <p:cond delay="0"/>
                            </p:stCondLst>
                            <p:childTnLst>
                              <p:par>
                                <p:cTn id="327" nodeType="clickEffect" fill="hold" presetClass="emph" presetID="1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328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8040"/>
                                      </p:to>
                                    </p:animClr>
                                    <p:set>
                                      <p:cBhvr>
                                        <p:cTn id="329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0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0" y="330120"/>
            <a:ext cx="12191760" cy="83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ctr">
            <a:noAutofit/>
          </a:bodyPr>
          <a:p>
            <a:pPr indent="0" algn="ctr" defTabSz="914400">
              <a:lnSpc>
                <a:spcPct val="80000"/>
              </a:lnSpc>
              <a:buNone/>
            </a:pPr>
            <a:r>
              <a:rPr b="1" lang="en-US" sz="4800" spc="97" strike="noStrike">
                <a:solidFill>
                  <a:schemeClr val="lt1"/>
                </a:solidFill>
                <a:latin typeface="Garamond"/>
                <a:ea typeface="ＭＳ Ｐゴシック"/>
              </a:rPr>
              <a:t>Behavior Tree Example – Run 2</a:t>
            </a:r>
            <a:endParaRPr b="0" lang="en-US" sz="4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58" name="Rectangle 3"/>
          <p:cNvSpPr/>
          <p:nvPr/>
        </p:nvSpPr>
        <p:spPr>
          <a:xfrm>
            <a:off x="7940520" y="4352400"/>
            <a:ext cx="2869920" cy="1676160"/>
          </a:xfrm>
          <a:prstGeom prst="rect">
            <a:avLst/>
          </a:prstGeom>
          <a:noFill/>
          <a:ln>
            <a:solidFill>
              <a:srgbClr val="ffffff"/>
            </a:solidFill>
            <a:rou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ff00"/>
              </a:solidFill>
              <a:latin typeface="Arial"/>
            </a:endParaRPr>
          </a:p>
        </p:txBody>
      </p:sp>
      <p:sp>
        <p:nvSpPr>
          <p:cNvPr id="159" name="Oval 4"/>
          <p:cNvSpPr/>
          <p:nvPr/>
        </p:nvSpPr>
        <p:spPr>
          <a:xfrm>
            <a:off x="8093160" y="4504680"/>
            <a:ext cx="744120" cy="274320"/>
          </a:xfrm>
          <a:prstGeom prst="ellipse">
            <a:avLst/>
          </a:prstGeom>
          <a:solidFill>
            <a:schemeClr val="tx1"/>
          </a:solidFill>
          <a:ln w="38100">
            <a:solidFill>
              <a:srgbClr val="0070c0"/>
            </a:solidFill>
            <a:prstDash val="sysDot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2400" spc="-1" strike="noStrike">
              <a:ln>
                <a:solidFill>
                  <a:schemeClr val="lt2"/>
                </a:solidFill>
              </a:ln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TextBox 5"/>
          <p:cNvSpPr/>
          <p:nvPr/>
        </p:nvSpPr>
        <p:spPr>
          <a:xfrm>
            <a:off x="8854920" y="4352400"/>
            <a:ext cx="1980720" cy="19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2999"/>
              </a:lnSpc>
            </a:pPr>
            <a:r>
              <a:rPr b="0" lang="en-US" sz="20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= compound task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ts val="2999"/>
              </a:lnSpc>
            </a:pPr>
            <a:r>
              <a:rPr b="0" lang="en-US" sz="20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= decorator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ts val="2999"/>
              </a:lnSpc>
            </a:pPr>
            <a:r>
              <a:rPr b="0" lang="en-US" sz="20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= action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ts val="2999"/>
              </a:lnSpc>
            </a:pPr>
            <a:r>
              <a:rPr b="0" lang="en-US" sz="20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= condition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Oval 7"/>
          <p:cNvSpPr/>
          <p:nvPr/>
        </p:nvSpPr>
        <p:spPr>
          <a:xfrm>
            <a:off x="8093160" y="5266800"/>
            <a:ext cx="744120" cy="274320"/>
          </a:xfrm>
          <a:prstGeom prst="ellipse">
            <a:avLst/>
          </a:prstGeom>
          <a:solidFill>
            <a:schemeClr val="tx1"/>
          </a:solidFill>
          <a:ln w="38100">
            <a:solidFill>
              <a:srgbClr val="ff66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2400" spc="-1" strike="noStrike">
              <a:ln>
                <a:solidFill>
                  <a:schemeClr val="lt2"/>
                </a:solidFill>
              </a:ln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Rectangle 8"/>
          <p:cNvSpPr/>
          <p:nvPr/>
        </p:nvSpPr>
        <p:spPr>
          <a:xfrm>
            <a:off x="8093160" y="5646240"/>
            <a:ext cx="744120" cy="274320"/>
          </a:xfrm>
          <a:prstGeom prst="rect">
            <a:avLst/>
          </a:prstGeom>
          <a:solidFill>
            <a:schemeClr val="tx1"/>
          </a:solidFill>
          <a:ln w="38100">
            <a:solidFill>
              <a:srgbClr val="ff66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2400" spc="-1" strike="noStrike">
              <a:ln>
                <a:solidFill>
                  <a:schemeClr val="lt2"/>
                </a:solidFill>
              </a:ln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Oval 10"/>
          <p:cNvSpPr/>
          <p:nvPr/>
        </p:nvSpPr>
        <p:spPr>
          <a:xfrm>
            <a:off x="2656080" y="2740680"/>
            <a:ext cx="1672920" cy="849960"/>
          </a:xfrm>
          <a:prstGeom prst="ellipse">
            <a:avLst/>
          </a:prstGeom>
          <a:solidFill>
            <a:schemeClr val="tx1"/>
          </a:solidFill>
          <a:ln w="44450">
            <a:solidFill>
              <a:srgbClr val="0070c0"/>
            </a:solidFill>
            <a:prstDash val="sysDot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200" spc="-1" strike="noStrike">
                <a:ln>
                  <a:solidFill>
                    <a:schemeClr val="lt2"/>
                  </a:solidFill>
                </a:ln>
                <a:solidFill>
                  <a:srgbClr val="ffffff"/>
                </a:solidFill>
                <a:latin typeface="Garamond"/>
              </a:rPr>
              <a:t>Gun Sequence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Oval 11"/>
          <p:cNvSpPr/>
          <p:nvPr/>
        </p:nvSpPr>
        <p:spPr>
          <a:xfrm>
            <a:off x="4746240" y="1488960"/>
            <a:ext cx="1672920" cy="849960"/>
          </a:xfrm>
          <a:prstGeom prst="ellipse">
            <a:avLst/>
          </a:prstGeom>
          <a:solidFill>
            <a:schemeClr val="tx1"/>
          </a:solidFill>
          <a:ln w="44450">
            <a:solidFill>
              <a:srgbClr val="0070c0"/>
            </a:solidFill>
            <a:prstDash val="sysDot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400" spc="-1" strike="noStrike">
                <a:ln>
                  <a:solidFill>
                    <a:schemeClr val="lt2"/>
                  </a:solidFill>
                </a:ln>
                <a:solidFill>
                  <a:srgbClr val="ffffff"/>
                </a:solidFill>
                <a:latin typeface="Garamond"/>
              </a:rPr>
              <a:t>Root Selector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Oval 13"/>
          <p:cNvSpPr/>
          <p:nvPr/>
        </p:nvSpPr>
        <p:spPr>
          <a:xfrm>
            <a:off x="2651040" y="3976920"/>
            <a:ext cx="1672920" cy="849960"/>
          </a:xfrm>
          <a:prstGeom prst="ellipse">
            <a:avLst/>
          </a:prstGeom>
          <a:solidFill>
            <a:schemeClr val="tx1"/>
          </a:solidFill>
          <a:ln w="44450">
            <a:solidFill>
              <a:srgbClr val="ff66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400" spc="-1" strike="noStrike">
                <a:ln>
                  <a:solidFill>
                    <a:schemeClr val="lt2"/>
                  </a:solidFill>
                </a:ln>
                <a:solidFill>
                  <a:srgbClr val="ffffff"/>
                </a:solidFill>
                <a:latin typeface="Garamond"/>
              </a:rPr>
              <a:t>Shoot Player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Rectangle 16"/>
          <p:cNvSpPr/>
          <p:nvPr/>
        </p:nvSpPr>
        <p:spPr>
          <a:xfrm>
            <a:off x="770040" y="2784600"/>
            <a:ext cx="1672920" cy="767880"/>
          </a:xfrm>
          <a:prstGeom prst="rect">
            <a:avLst/>
          </a:prstGeom>
          <a:solidFill>
            <a:srgbClr val="002060"/>
          </a:solidFill>
          <a:ln w="44450">
            <a:solidFill>
              <a:srgbClr val="ff66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400" spc="-1" strike="noStrike">
                <a:ln>
                  <a:solidFill>
                    <a:schemeClr val="lt2"/>
                  </a:solidFill>
                </a:ln>
                <a:solidFill>
                  <a:srgbClr val="ffffff"/>
                </a:solidFill>
                <a:latin typeface="Garamond"/>
              </a:rPr>
              <a:t>Player Seen?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67" name="Straight Arrow Connector 17"/>
          <p:cNvCxnSpPr>
            <a:stCxn id="168" idx="5"/>
            <a:endCxn id="163" idx="0"/>
          </p:cNvCxnSpPr>
          <p:nvPr/>
        </p:nvCxnSpPr>
        <p:spPr>
          <a:xfrm>
            <a:off x="3278520" y="2214720"/>
            <a:ext cx="214560" cy="526320"/>
          </a:xfrm>
          <a:prstGeom prst="straightConnector1">
            <a:avLst/>
          </a:prstGeom>
          <a:ln w="38100">
            <a:solidFill>
              <a:srgbClr val="ffffff"/>
            </a:solidFill>
            <a:round/>
            <a:tailEnd len="med" type="arrow" w="med"/>
          </a:ln>
        </p:spPr>
      </p:cxnSp>
      <p:cxnSp>
        <p:nvCxnSpPr>
          <p:cNvPr id="169" name="Straight Arrow Connector 18"/>
          <p:cNvCxnSpPr>
            <a:stCxn id="168" idx="3"/>
            <a:endCxn id="166" idx="0"/>
          </p:cNvCxnSpPr>
          <p:nvPr/>
        </p:nvCxnSpPr>
        <p:spPr>
          <a:xfrm flipH="1">
            <a:off x="1606320" y="2214720"/>
            <a:ext cx="489240" cy="570240"/>
          </a:xfrm>
          <a:prstGeom prst="straightConnector1">
            <a:avLst/>
          </a:prstGeom>
          <a:ln w="38100">
            <a:solidFill>
              <a:srgbClr val="ffffff"/>
            </a:solidFill>
            <a:round/>
            <a:tailEnd len="med" type="arrow" w="med"/>
          </a:ln>
        </p:spPr>
      </p:cxnSp>
      <p:sp>
        <p:nvSpPr>
          <p:cNvPr id="170" name="Oval 25"/>
          <p:cNvSpPr/>
          <p:nvPr/>
        </p:nvSpPr>
        <p:spPr>
          <a:xfrm>
            <a:off x="797760" y="3976920"/>
            <a:ext cx="1672920" cy="849960"/>
          </a:xfrm>
          <a:prstGeom prst="ellipse">
            <a:avLst/>
          </a:prstGeom>
          <a:solidFill>
            <a:srgbClr val="008040"/>
          </a:solidFill>
          <a:ln w="44450">
            <a:solidFill>
              <a:srgbClr val="ff66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400" spc="-1" strike="noStrike">
                <a:ln>
                  <a:solidFill>
                    <a:schemeClr val="lt2"/>
                  </a:solidFill>
                </a:ln>
                <a:solidFill>
                  <a:srgbClr val="ffffff"/>
                </a:solidFill>
                <a:latin typeface="Garamond"/>
              </a:rPr>
              <a:t>Find Ammo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/>
          </p:nvPr>
        </p:nvSpPr>
        <p:spPr>
          <a:xfrm>
            <a:off x="6693840" y="1372680"/>
            <a:ext cx="4967640" cy="122616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 fontScale="87500" lnSpcReduction="20000"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In the second traversal, we resume at the running node and later succeed in shooting the player.</a:t>
            </a:r>
            <a:endParaRPr b="0" lang="en-US" sz="2800" spc="-1" strike="noStrike">
              <a:solidFill>
                <a:schemeClr val="dk1"/>
              </a:solidFill>
              <a:latin typeface="Arial Regular"/>
            </a:endParaRPr>
          </a:p>
        </p:txBody>
      </p:sp>
      <p:cxnSp>
        <p:nvCxnSpPr>
          <p:cNvPr id="172" name="Straight Arrow Connector 35"/>
          <p:cNvCxnSpPr/>
          <p:nvPr/>
        </p:nvCxnSpPr>
        <p:spPr>
          <a:xfrm>
            <a:off x="1735560" y="3776760"/>
            <a:ext cx="2502000" cy="360"/>
          </a:xfrm>
          <a:prstGeom prst="straightConnector1">
            <a:avLst/>
          </a:prstGeom>
          <a:ln w="38100">
            <a:solidFill>
              <a:srgbClr val="ffff00"/>
            </a:solidFill>
            <a:prstDash val="sysDot"/>
            <a:round/>
            <a:tailEnd len="med" type="arrow" w="med"/>
          </a:ln>
        </p:spPr>
      </p:cxnSp>
      <p:sp>
        <p:nvSpPr>
          <p:cNvPr id="173" name="Diamond 40"/>
          <p:cNvSpPr/>
          <p:nvPr/>
        </p:nvSpPr>
        <p:spPr>
          <a:xfrm>
            <a:off x="8093160" y="4885560"/>
            <a:ext cx="740880" cy="274320"/>
          </a:xfrm>
          <a:prstGeom prst="diamond">
            <a:avLst/>
          </a:prstGeom>
          <a:solidFill>
            <a:schemeClr val="tx1"/>
          </a:solidFill>
          <a:ln w="38100">
            <a:solidFill>
              <a:srgbClr val="ff66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2400" spc="-1" strike="noStrike">
              <a:ln>
                <a:solidFill>
                  <a:schemeClr val="lt2"/>
                </a:solidFill>
              </a:ln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Oval 59"/>
          <p:cNvSpPr/>
          <p:nvPr/>
        </p:nvSpPr>
        <p:spPr>
          <a:xfrm>
            <a:off x="1850400" y="1488960"/>
            <a:ext cx="1672920" cy="849960"/>
          </a:xfrm>
          <a:prstGeom prst="ellipse">
            <a:avLst/>
          </a:prstGeom>
          <a:solidFill>
            <a:schemeClr val="tx1"/>
          </a:solidFill>
          <a:ln w="44450">
            <a:solidFill>
              <a:srgbClr val="0070c0"/>
            </a:solidFill>
            <a:prstDash val="sysDot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200" spc="-1" strike="noStrike">
                <a:ln>
                  <a:solidFill>
                    <a:schemeClr val="lt2"/>
                  </a:solidFill>
                </a:ln>
                <a:solidFill>
                  <a:srgbClr val="ffffff"/>
                </a:solidFill>
                <a:latin typeface="Garamond"/>
              </a:rPr>
              <a:t>Attack Sequence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74" name="Straight Arrow Connector 60"/>
          <p:cNvCxnSpPr>
            <a:stCxn id="164" idx="2"/>
            <a:endCxn id="168" idx="6"/>
          </p:cNvCxnSpPr>
          <p:nvPr/>
        </p:nvCxnSpPr>
        <p:spPr>
          <a:xfrm flipH="1">
            <a:off x="3523320" y="1914120"/>
            <a:ext cx="1223280" cy="360"/>
          </a:xfrm>
          <a:prstGeom prst="straightConnector1">
            <a:avLst/>
          </a:prstGeom>
          <a:ln w="38100">
            <a:solidFill>
              <a:srgbClr val="ffffff"/>
            </a:solidFill>
            <a:round/>
            <a:tailEnd len="med" type="arrow" w="med"/>
          </a:ln>
        </p:spPr>
      </p:cxnSp>
      <p:cxnSp>
        <p:nvCxnSpPr>
          <p:cNvPr id="175" name="Straight Arrow Connector 66"/>
          <p:cNvCxnSpPr/>
          <p:nvPr/>
        </p:nvCxnSpPr>
        <p:spPr>
          <a:xfrm>
            <a:off x="4288680" y="2527560"/>
            <a:ext cx="2286360" cy="360"/>
          </a:xfrm>
          <a:prstGeom prst="straightConnector1">
            <a:avLst/>
          </a:prstGeom>
          <a:ln w="38100">
            <a:solidFill>
              <a:srgbClr val="ffff00"/>
            </a:solidFill>
            <a:prstDash val="sysDot"/>
            <a:round/>
            <a:tailEnd len="med" type="arrow" w="med"/>
          </a:ln>
        </p:spPr>
      </p:cxnSp>
      <p:cxnSp>
        <p:nvCxnSpPr>
          <p:cNvPr id="176" name="Straight Arrow Connector 67"/>
          <p:cNvCxnSpPr/>
          <p:nvPr/>
        </p:nvCxnSpPr>
        <p:spPr>
          <a:xfrm>
            <a:off x="4288680" y="1536840"/>
            <a:ext cx="360" cy="991080"/>
          </a:xfrm>
          <a:prstGeom prst="straightConnector1">
            <a:avLst/>
          </a:prstGeom>
          <a:ln w="38100">
            <a:solidFill>
              <a:srgbClr val="ffff00"/>
            </a:solidFill>
            <a:prstDash val="sysDot"/>
            <a:round/>
          </a:ln>
        </p:spPr>
      </p:cxnSp>
      <p:sp>
        <p:nvSpPr>
          <p:cNvPr id="177" name="Oval 95"/>
          <p:cNvSpPr/>
          <p:nvPr/>
        </p:nvSpPr>
        <p:spPr>
          <a:xfrm>
            <a:off x="4746240" y="3944160"/>
            <a:ext cx="1672920" cy="849960"/>
          </a:xfrm>
          <a:prstGeom prst="ellipse">
            <a:avLst/>
          </a:prstGeom>
          <a:solidFill>
            <a:schemeClr val="tx1"/>
          </a:solidFill>
          <a:ln w="44450">
            <a:solidFill>
              <a:srgbClr val="0070c0"/>
            </a:solidFill>
            <a:prstDash val="sysDot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400" spc="-1" strike="noStrike">
                <a:ln>
                  <a:solidFill>
                    <a:schemeClr val="lt2"/>
                  </a:solidFill>
                </a:ln>
                <a:solidFill>
                  <a:srgbClr val="ffffff"/>
                </a:solidFill>
                <a:latin typeface="Garamond"/>
              </a:rPr>
              <a:t>Patrol Parallel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Oval 101"/>
          <p:cNvSpPr/>
          <p:nvPr/>
        </p:nvSpPr>
        <p:spPr>
          <a:xfrm>
            <a:off x="5672520" y="5144760"/>
            <a:ext cx="1672920" cy="849960"/>
          </a:xfrm>
          <a:prstGeom prst="ellipse">
            <a:avLst/>
          </a:prstGeom>
          <a:solidFill>
            <a:schemeClr val="tx1"/>
          </a:solidFill>
          <a:ln w="44450">
            <a:solidFill>
              <a:srgbClr val="ff66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400" spc="-1" strike="noStrike">
                <a:ln>
                  <a:solidFill>
                    <a:schemeClr val="lt2"/>
                  </a:solidFill>
                </a:ln>
                <a:solidFill>
                  <a:srgbClr val="ffffff"/>
                </a:solidFill>
                <a:latin typeface="Garamond"/>
              </a:rPr>
              <a:t>Walk Around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" name="Oval 102"/>
          <p:cNvSpPr/>
          <p:nvPr/>
        </p:nvSpPr>
        <p:spPr>
          <a:xfrm>
            <a:off x="3714120" y="5140800"/>
            <a:ext cx="1672920" cy="849960"/>
          </a:xfrm>
          <a:prstGeom prst="ellipse">
            <a:avLst/>
          </a:prstGeom>
          <a:solidFill>
            <a:schemeClr val="tx1"/>
          </a:solidFill>
          <a:ln w="44450">
            <a:solidFill>
              <a:srgbClr val="ff66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200" spc="-1" strike="noStrike">
                <a:ln>
                  <a:solidFill>
                    <a:schemeClr val="lt2"/>
                  </a:solidFill>
                </a:ln>
                <a:solidFill>
                  <a:srgbClr val="ffffff"/>
                </a:solidFill>
                <a:latin typeface="Garamond"/>
              </a:rPr>
              <a:t>Whistle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" name="Rectangle 39"/>
          <p:cNvSpPr/>
          <p:nvPr/>
        </p:nvSpPr>
        <p:spPr>
          <a:xfrm>
            <a:off x="7940520" y="2599560"/>
            <a:ext cx="2869920" cy="1676160"/>
          </a:xfrm>
          <a:prstGeom prst="rect">
            <a:avLst/>
          </a:prstGeom>
          <a:noFill/>
          <a:ln>
            <a:solidFill>
              <a:srgbClr val="ffffff"/>
            </a:solidFill>
            <a:rou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ff00"/>
              </a:solidFill>
              <a:latin typeface="Arial"/>
            </a:endParaRPr>
          </a:p>
        </p:txBody>
      </p:sp>
      <p:sp>
        <p:nvSpPr>
          <p:cNvPr id="181" name="TextBox 42"/>
          <p:cNvSpPr/>
          <p:nvPr/>
        </p:nvSpPr>
        <p:spPr>
          <a:xfrm>
            <a:off x="8854920" y="2599560"/>
            <a:ext cx="1980720" cy="19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2999"/>
              </a:lnSpc>
            </a:pPr>
            <a:r>
              <a:rPr b="0" lang="en-US" sz="20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= visiting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ts val="2999"/>
              </a:lnSpc>
            </a:pPr>
            <a:r>
              <a:rPr b="0" lang="en-US" sz="20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= succeeded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ts val="2999"/>
              </a:lnSpc>
            </a:pPr>
            <a:r>
              <a:rPr b="0" lang="en-US" sz="20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= failed/aborted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ts val="2999"/>
              </a:lnSpc>
            </a:pPr>
            <a:r>
              <a:rPr b="0" lang="en-US" sz="20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= running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Oval 43"/>
          <p:cNvSpPr/>
          <p:nvPr/>
        </p:nvSpPr>
        <p:spPr>
          <a:xfrm>
            <a:off x="8093160" y="3513960"/>
            <a:ext cx="744120" cy="274320"/>
          </a:xfrm>
          <a:prstGeom prst="ellipse">
            <a:avLst/>
          </a:prstGeom>
          <a:solidFill>
            <a:schemeClr val="tx2">
              <a:lumMod val="65000"/>
              <a:lumOff val="35000"/>
            </a:schemeClr>
          </a:solidFill>
          <a:ln w="12700">
            <a:solidFill>
              <a:srgbClr val="ffff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2400" spc="-1" strike="noStrike">
              <a:ln>
                <a:solidFill>
                  <a:schemeClr val="lt2"/>
                </a:solidFill>
              </a:ln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Oval 46"/>
          <p:cNvSpPr/>
          <p:nvPr/>
        </p:nvSpPr>
        <p:spPr>
          <a:xfrm>
            <a:off x="8093160" y="3895200"/>
            <a:ext cx="744120" cy="274320"/>
          </a:xfrm>
          <a:prstGeom prst="ellipse">
            <a:avLst/>
          </a:prstGeom>
          <a:solidFill>
            <a:srgbClr val="008040"/>
          </a:solidFill>
          <a:ln w="12700">
            <a:solidFill>
              <a:srgbClr val="00ff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2400" spc="-1" strike="noStrike">
              <a:ln>
                <a:solidFill>
                  <a:schemeClr val="lt2"/>
                </a:solidFill>
              </a:ln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" name="Oval 47"/>
          <p:cNvSpPr/>
          <p:nvPr/>
        </p:nvSpPr>
        <p:spPr>
          <a:xfrm>
            <a:off x="8093160" y="3133080"/>
            <a:ext cx="744120" cy="274320"/>
          </a:xfrm>
          <a:prstGeom prst="ellipse">
            <a:avLst/>
          </a:prstGeom>
          <a:solidFill>
            <a:srgbClr val="002060"/>
          </a:solidFill>
          <a:ln w="12700">
            <a:solidFill>
              <a:srgbClr val="0070c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2400" spc="-1" strike="noStrike">
              <a:ln>
                <a:solidFill>
                  <a:schemeClr val="lt2"/>
                </a:solidFill>
              </a:ln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Oval 49"/>
          <p:cNvSpPr/>
          <p:nvPr/>
        </p:nvSpPr>
        <p:spPr>
          <a:xfrm>
            <a:off x="8093160" y="2752200"/>
            <a:ext cx="744120" cy="274320"/>
          </a:xfrm>
          <a:prstGeom prst="ellipse">
            <a:avLst/>
          </a:prstGeom>
          <a:solidFill>
            <a:schemeClr val="tx1"/>
          </a:solidFill>
          <a:ln w="38100">
            <a:solidFill>
              <a:srgbClr val="00ff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2400" spc="-1" strike="noStrike">
              <a:ln>
                <a:solidFill>
                  <a:schemeClr val="lt2"/>
                </a:solidFill>
              </a:ln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" name="Diamond 50"/>
          <p:cNvSpPr/>
          <p:nvPr/>
        </p:nvSpPr>
        <p:spPr>
          <a:xfrm>
            <a:off x="4746240" y="2787120"/>
            <a:ext cx="1672920" cy="849960"/>
          </a:xfrm>
          <a:prstGeom prst="diamond">
            <a:avLst/>
          </a:prstGeom>
          <a:solidFill>
            <a:schemeClr val="tx1"/>
          </a:solidFill>
          <a:ln w="44450">
            <a:solidFill>
              <a:srgbClr val="ff66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000" spc="-1" strike="noStrike">
                <a:ln>
                  <a:solidFill>
                    <a:schemeClr val="lt2"/>
                  </a:solidFill>
                </a:ln>
                <a:solidFill>
                  <a:srgbClr val="ffffff"/>
                </a:solidFill>
                <a:latin typeface="Garamond"/>
              </a:rPr>
              <a:t>Patrol Hourly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87" name="Straight Arrow Connector 51"/>
          <p:cNvCxnSpPr>
            <a:stCxn id="164" idx="4"/>
            <a:endCxn id="186" idx="0"/>
          </p:cNvCxnSpPr>
          <p:nvPr/>
        </p:nvCxnSpPr>
        <p:spPr>
          <a:xfrm>
            <a:off x="5582880" y="2338920"/>
            <a:ext cx="360" cy="448560"/>
          </a:xfrm>
          <a:prstGeom prst="straightConnector1">
            <a:avLst/>
          </a:prstGeom>
          <a:ln w="38100">
            <a:solidFill>
              <a:srgbClr val="ffffff"/>
            </a:solidFill>
            <a:round/>
            <a:tailEnd len="med" type="arrow" w="med"/>
          </a:ln>
        </p:spPr>
      </p:cxnSp>
      <p:cxnSp>
        <p:nvCxnSpPr>
          <p:cNvPr id="188" name="Straight Arrow Connector 52"/>
          <p:cNvCxnSpPr>
            <a:stCxn id="186" idx="2"/>
            <a:endCxn id="177" idx="0"/>
          </p:cNvCxnSpPr>
          <p:nvPr/>
        </p:nvCxnSpPr>
        <p:spPr>
          <a:xfrm>
            <a:off x="5582880" y="3637080"/>
            <a:ext cx="360" cy="307440"/>
          </a:xfrm>
          <a:prstGeom prst="straightConnector1">
            <a:avLst/>
          </a:prstGeom>
          <a:ln w="38100">
            <a:solidFill>
              <a:srgbClr val="ffffff"/>
            </a:solidFill>
            <a:round/>
            <a:tailEnd len="med" type="arrow" w="med"/>
          </a:ln>
        </p:spPr>
      </p:cxnSp>
      <p:cxnSp>
        <p:nvCxnSpPr>
          <p:cNvPr id="189" name="Straight Arrow Connector 41"/>
          <p:cNvCxnSpPr/>
          <p:nvPr/>
        </p:nvCxnSpPr>
        <p:spPr>
          <a:xfrm>
            <a:off x="1380600" y="2514960"/>
            <a:ext cx="2502360" cy="360"/>
          </a:xfrm>
          <a:prstGeom prst="straightConnector1">
            <a:avLst/>
          </a:prstGeom>
          <a:ln w="38100">
            <a:solidFill>
              <a:srgbClr val="ffff00"/>
            </a:solidFill>
            <a:prstDash val="sysDot"/>
            <a:round/>
            <a:tailEnd len="med" type="arrow" w="med"/>
          </a:ln>
        </p:spPr>
      </p:cxnSp>
      <p:cxnSp>
        <p:nvCxnSpPr>
          <p:cNvPr id="190" name="Straight Arrow Connector 44"/>
          <p:cNvCxnSpPr>
            <a:stCxn id="163" idx="3"/>
            <a:endCxn id="170" idx="0"/>
          </p:cNvCxnSpPr>
          <p:nvPr/>
        </p:nvCxnSpPr>
        <p:spPr>
          <a:xfrm flipH="1">
            <a:off x="1634400" y="3466440"/>
            <a:ext cx="1266840" cy="510840"/>
          </a:xfrm>
          <a:prstGeom prst="straightConnector1">
            <a:avLst/>
          </a:prstGeom>
          <a:ln w="38100">
            <a:solidFill>
              <a:srgbClr val="ffffff"/>
            </a:solidFill>
            <a:round/>
            <a:tailEnd len="med" type="arrow" w="med"/>
          </a:ln>
        </p:spPr>
      </p:cxnSp>
      <p:cxnSp>
        <p:nvCxnSpPr>
          <p:cNvPr id="191" name="Straight Arrow Connector 45"/>
          <p:cNvCxnSpPr>
            <a:stCxn id="163" idx="4"/>
            <a:endCxn id="165" idx="0"/>
          </p:cNvCxnSpPr>
          <p:nvPr/>
        </p:nvCxnSpPr>
        <p:spPr>
          <a:xfrm flipH="1">
            <a:off x="3487680" y="3590640"/>
            <a:ext cx="5400" cy="386640"/>
          </a:xfrm>
          <a:prstGeom prst="straightConnector1">
            <a:avLst/>
          </a:prstGeom>
          <a:ln w="38100">
            <a:solidFill>
              <a:srgbClr val="ffffff"/>
            </a:solidFill>
            <a:round/>
            <a:tailEnd len="med" type="arrow" w="med"/>
          </a:ln>
        </p:spPr>
      </p:cxnSp>
      <p:cxnSp>
        <p:nvCxnSpPr>
          <p:cNvPr id="192" name="Straight Arrow Connector 54"/>
          <p:cNvCxnSpPr>
            <a:stCxn id="177" idx="3"/>
            <a:endCxn id="179" idx="0"/>
          </p:cNvCxnSpPr>
          <p:nvPr/>
        </p:nvCxnSpPr>
        <p:spPr>
          <a:xfrm flipH="1">
            <a:off x="4550760" y="4669920"/>
            <a:ext cx="440640" cy="471240"/>
          </a:xfrm>
          <a:prstGeom prst="straightConnector1">
            <a:avLst/>
          </a:prstGeom>
          <a:ln w="38100">
            <a:solidFill>
              <a:srgbClr val="ffffff"/>
            </a:solidFill>
            <a:round/>
            <a:tailEnd len="med" type="arrow" w="med"/>
          </a:ln>
        </p:spPr>
      </p:cxnSp>
      <p:cxnSp>
        <p:nvCxnSpPr>
          <p:cNvPr id="193" name="Straight Arrow Connector 57"/>
          <p:cNvCxnSpPr>
            <a:stCxn id="177" idx="5"/>
            <a:endCxn id="178" idx="0"/>
          </p:cNvCxnSpPr>
          <p:nvPr/>
        </p:nvCxnSpPr>
        <p:spPr>
          <a:xfrm>
            <a:off x="6174360" y="4669920"/>
            <a:ext cx="335160" cy="475200"/>
          </a:xfrm>
          <a:prstGeom prst="straightConnector1">
            <a:avLst/>
          </a:prstGeom>
          <a:ln w="38100">
            <a:solidFill>
              <a:srgbClr val="ffffff"/>
            </a:solidFill>
            <a:round/>
            <a:tailEnd len="med" type="arrow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31" dur="indefinite" restart="never" nodeType="tmRoot">
          <p:childTnLst>
            <p:seq>
              <p:cTn id="332" dur="indefinite" nodeType="mainSeq">
                <p:childTnLst>
                  <p:par>
                    <p:cTn id="333" fill="hold">
                      <p:stCondLst>
                        <p:cond delay="indefinite"/>
                      </p:stCondLst>
                      <p:childTnLst>
                        <p:par>
                          <p:cTn id="334" fill="hold">
                            <p:stCondLst>
                              <p:cond delay="0"/>
                            </p:stCondLst>
                            <p:childTnLst>
                              <p:par>
                                <p:cTn id="335" nodeType="clickEffect" fill="hold" presetClass="emph" presetID="7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336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ff00"/>
                                      </p:to>
                                    </p:animClr>
                                    <p:set>
                                      <p:cBhvr>
                                        <p:cTn id="337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8" fill="hold">
                      <p:stCondLst>
                        <p:cond delay="indefinite"/>
                      </p:stCondLst>
                      <p:childTnLst>
                        <p:par>
                          <p:cTn id="339" fill="hold">
                            <p:stCondLst>
                              <p:cond delay="0"/>
                            </p:stCondLst>
                            <p:childTnLst>
                              <p:par>
                                <p:cTn id="340" nodeType="clickEffect" fill="hold" presetClass="emph" presetID="7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341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342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3" nodeType="withEffect" fill="hold" presetClass="emph" presetID="7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344" dur="5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ff00"/>
                                      </p:to>
                                    </p:animClr>
                                    <p:set>
                                      <p:cBhvr>
                                        <p:cTn id="345" dur="5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6" fill="hold">
                      <p:stCondLst>
                        <p:cond delay="indefinite"/>
                      </p:stCondLst>
                      <p:childTnLst>
                        <p:par>
                          <p:cTn id="347" fill="hold">
                            <p:stCondLst>
                              <p:cond delay="0"/>
                            </p:stCondLst>
                            <p:childTnLst>
                              <p:par>
                                <p:cTn id="348" nodeType="clickEffect" fill="hold" presetClass="emph" presetID="7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349" dur="5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350" dur="5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1" nodeType="withEffect" fill="hold" presetClass="emph" presetID="7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352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ff00"/>
                                      </p:to>
                                    </p:animClr>
                                    <p:set>
                                      <p:cBhvr>
                                        <p:cTn id="353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4" fill="hold">
                      <p:stCondLst>
                        <p:cond delay="indefinite"/>
                      </p:stCondLst>
                      <p:childTnLst>
                        <p:par>
                          <p:cTn id="355" fill="hold">
                            <p:stCondLst>
                              <p:cond delay="0"/>
                            </p:stCondLst>
                            <p:childTnLst>
                              <p:par>
                                <p:cTn id="356" nodeType="clickEffect" fill="hold" presetClass="emph" presetID="7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357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358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9" nodeType="withEffect" fill="hold" presetClass="emph" presetID="7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360" dur="5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ff00"/>
                                      </p:to>
                                    </p:animClr>
                                    <p:set>
                                      <p:cBhvr>
                                        <p:cTn id="361" dur="5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2" fill="hold">
                      <p:stCondLst>
                        <p:cond delay="indefinite"/>
                      </p:stCondLst>
                      <p:childTnLst>
                        <p:par>
                          <p:cTn id="363" fill="hold">
                            <p:stCondLst>
                              <p:cond delay="0"/>
                            </p:stCondLst>
                            <p:childTnLst>
                              <p:par>
                                <p:cTn id="364" nodeType="clickEffect" fill="hold" presetClass="emph" presetID="1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365" dur="5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2060"/>
                                      </p:to>
                                    </p:animClr>
                                    <p:set>
                                      <p:cBhvr>
                                        <p:cTn id="366" dur="5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7" dur="5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8" fill="hold">
                      <p:stCondLst>
                        <p:cond delay="indefinite"/>
                      </p:stCondLst>
                      <p:childTnLst>
                        <p:par>
                          <p:cTn id="369" fill="hold">
                            <p:stCondLst>
                              <p:cond delay="0"/>
                            </p:stCondLst>
                            <p:childTnLst>
                              <p:par>
                                <p:cTn id="370" nodeType="clickEffect" fill="hold" presetClass="emph" presetID="7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371" dur="5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a661c"/>
                                      </p:to>
                                    </p:animClr>
                                    <p:set>
                                      <p:cBhvr>
                                        <p:cTn id="372" dur="5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3" nodeType="withEffect" fill="hold" presetClass="emph" presetID="7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374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ff00"/>
                                      </p:to>
                                    </p:animClr>
                                    <p:set>
                                      <p:cBhvr>
                                        <p:cTn id="375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6" fill="hold">
                      <p:stCondLst>
                        <p:cond delay="indefinite"/>
                      </p:stCondLst>
                      <p:childTnLst>
                        <p:par>
                          <p:cTn id="377" fill="hold">
                            <p:stCondLst>
                              <p:cond delay="0"/>
                            </p:stCondLst>
                            <p:childTnLst>
                              <p:par>
                                <p:cTn id="378" nodeType="clickEffect" fill="hold" presetClass="emph" presetID="7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379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380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1" nodeType="withEffect" fill="hold" presetClass="emph" presetID="7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382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ff00"/>
                                      </p:to>
                                    </p:animClr>
                                    <p:set>
                                      <p:cBhvr>
                                        <p:cTn id="383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4" fill="hold">
                      <p:stCondLst>
                        <p:cond delay="indefinite"/>
                      </p:stCondLst>
                      <p:childTnLst>
                        <p:par>
                          <p:cTn id="385" fill="hold">
                            <p:stCondLst>
                              <p:cond delay="0"/>
                            </p:stCondLst>
                            <p:childTnLst>
                              <p:par>
                                <p:cTn id="386" nodeType="clickEffect" fill="hold" presetClass="emph" presetID="1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387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2060"/>
                                      </p:to>
                                    </p:animClr>
                                    <p:set>
                                      <p:cBhvr>
                                        <p:cTn id="388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9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0" fill="hold">
                      <p:stCondLst>
                        <p:cond delay="indefinite"/>
                      </p:stCondLst>
                      <p:childTnLst>
                        <p:par>
                          <p:cTn id="391" fill="hold">
                            <p:stCondLst>
                              <p:cond delay="0"/>
                            </p:stCondLst>
                            <p:childTnLst>
                              <p:par>
                                <p:cTn id="392" nodeType="clickEffect" fill="hold" presetClass="emph" presetID="7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393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a661c"/>
                                      </p:to>
                                    </p:animClr>
                                    <p:set>
                                      <p:cBhvr>
                                        <p:cTn id="394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5" nodeType="withEffect" fill="hold" presetClass="emph" presetID="7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396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ff00"/>
                                      </p:to>
                                    </p:animClr>
                                    <p:set>
                                      <p:cBhvr>
                                        <p:cTn id="397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8" fill="hold">
                      <p:stCondLst>
                        <p:cond delay="indefinite"/>
                      </p:stCondLst>
                      <p:childTnLst>
                        <p:par>
                          <p:cTn id="399" fill="hold">
                            <p:stCondLst>
                              <p:cond delay="0"/>
                            </p:stCondLst>
                            <p:childTnLst>
                              <p:par>
                                <p:cTn id="400" nodeType="clickEffect" fill="hold" presetClass="emph" presetID="1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401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2060"/>
                                      </p:to>
                                    </p:animClr>
                                    <p:set>
                                      <p:cBhvr>
                                        <p:cTn id="402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3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4" fill="hold">
                      <p:stCondLst>
                        <p:cond delay="indefinite"/>
                      </p:stCondLst>
                      <p:childTnLst>
                        <p:par>
                          <p:cTn id="405" fill="hold">
                            <p:stCondLst>
                              <p:cond delay="0"/>
                            </p:stCondLst>
                            <p:childTnLst>
                              <p:par>
                                <p:cTn id="406" nodeType="clickEffect" fill="hold" presetClass="emph" presetID="7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407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408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9" nodeType="withEffect" fill="hold" presetClass="emph" presetID="7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410" dur="5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ff00"/>
                                      </p:to>
                                    </p:animClr>
                                    <p:set>
                                      <p:cBhvr>
                                        <p:cTn id="411" dur="5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2" fill="hold">
                      <p:stCondLst>
                        <p:cond delay="indefinite"/>
                      </p:stCondLst>
                      <p:childTnLst>
                        <p:par>
                          <p:cTn id="413" fill="hold">
                            <p:stCondLst>
                              <p:cond delay="0"/>
                            </p:stCondLst>
                            <p:childTnLst>
                              <p:par>
                                <p:cTn id="414" nodeType="clickEffect" fill="hold" presetClass="emph" presetID="1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415" dur="5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2060"/>
                                      </p:to>
                                    </p:animClr>
                                    <p:set>
                                      <p:cBhvr>
                                        <p:cTn id="416" dur="5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7" dur="5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8" fill="hold">
                      <p:stCondLst>
                        <p:cond delay="indefinite"/>
                      </p:stCondLst>
                      <p:childTnLst>
                        <p:par>
                          <p:cTn id="419" fill="hold">
                            <p:stCondLst>
                              <p:cond delay="0"/>
                            </p:stCondLst>
                            <p:childTnLst>
                              <p:par>
                                <p:cTn id="420" nodeType="clickEffect" fill="hold" presetClass="emph" presetID="7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421" dur="5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422" dur="5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3" nodeType="withEffect" fill="hold" presetClass="emph" presetID="7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424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ff00"/>
                                      </p:to>
                                    </p:animClr>
                                    <p:set>
                                      <p:cBhvr>
                                        <p:cTn id="425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6" fill="hold">
                      <p:stCondLst>
                        <p:cond delay="indefinite"/>
                      </p:stCondLst>
                      <p:childTnLst>
                        <p:par>
                          <p:cTn id="427" fill="hold">
                            <p:stCondLst>
                              <p:cond delay="0"/>
                            </p:stCondLst>
                            <p:childTnLst>
                              <p:par>
                                <p:cTn id="428" nodeType="clickEffect" fill="hold" presetClass="emph" presetID="1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429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2060"/>
                                      </p:to>
                                    </p:animClr>
                                    <p:set>
                                      <p:cBhvr>
                                        <p:cTn id="430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31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0" y="306360"/>
            <a:ext cx="12191760" cy="83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ctr">
            <a:noAutofit/>
          </a:bodyPr>
          <a:p>
            <a:pPr indent="0" algn="ctr" defTabSz="914400">
              <a:lnSpc>
                <a:spcPct val="80000"/>
              </a:lnSpc>
              <a:buNone/>
            </a:pPr>
            <a:r>
              <a:rPr b="1" lang="en-US" sz="4800" spc="97" strike="noStrike">
                <a:solidFill>
                  <a:schemeClr val="lt1"/>
                </a:solidFill>
                <a:latin typeface="Garamond"/>
                <a:ea typeface="ＭＳ Ｐゴシック"/>
              </a:rPr>
              <a:t>Behavior Tree Example – Run 3</a:t>
            </a:r>
            <a:endParaRPr b="0" lang="en-US" sz="4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95" name="Rectangle 3"/>
          <p:cNvSpPr/>
          <p:nvPr/>
        </p:nvSpPr>
        <p:spPr>
          <a:xfrm>
            <a:off x="8426160" y="4321440"/>
            <a:ext cx="2869920" cy="1676160"/>
          </a:xfrm>
          <a:prstGeom prst="rect">
            <a:avLst/>
          </a:prstGeom>
          <a:noFill/>
          <a:ln>
            <a:solidFill>
              <a:srgbClr val="ffffff"/>
            </a:solidFill>
            <a:rou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ff00"/>
              </a:solidFill>
              <a:latin typeface="Arial"/>
            </a:endParaRPr>
          </a:p>
        </p:txBody>
      </p:sp>
      <p:sp>
        <p:nvSpPr>
          <p:cNvPr id="196" name="Oval 4"/>
          <p:cNvSpPr/>
          <p:nvPr/>
        </p:nvSpPr>
        <p:spPr>
          <a:xfrm>
            <a:off x="8578800" y="4473720"/>
            <a:ext cx="744120" cy="274320"/>
          </a:xfrm>
          <a:prstGeom prst="ellipse">
            <a:avLst/>
          </a:prstGeom>
          <a:solidFill>
            <a:schemeClr val="tx1"/>
          </a:solidFill>
          <a:ln w="38100">
            <a:solidFill>
              <a:srgbClr val="0070c0"/>
            </a:solidFill>
            <a:prstDash val="sysDot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2400" spc="-1" strike="noStrike">
              <a:ln>
                <a:solidFill>
                  <a:schemeClr val="lt2"/>
                </a:solidFill>
              </a:ln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TextBox 5"/>
          <p:cNvSpPr/>
          <p:nvPr/>
        </p:nvSpPr>
        <p:spPr>
          <a:xfrm>
            <a:off x="9340560" y="4321440"/>
            <a:ext cx="1980720" cy="19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2999"/>
              </a:lnSpc>
            </a:pPr>
            <a:r>
              <a:rPr b="0" lang="en-US" sz="20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= compound task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ts val="2999"/>
              </a:lnSpc>
            </a:pPr>
            <a:r>
              <a:rPr b="0" lang="en-US" sz="20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= decorator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ts val="2999"/>
              </a:lnSpc>
            </a:pPr>
            <a:r>
              <a:rPr b="0" lang="en-US" sz="20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= action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ts val="2999"/>
              </a:lnSpc>
            </a:pPr>
            <a:r>
              <a:rPr b="0" lang="en-US" sz="20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= condition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" name="Oval 7"/>
          <p:cNvSpPr/>
          <p:nvPr/>
        </p:nvSpPr>
        <p:spPr>
          <a:xfrm>
            <a:off x="8578800" y="5235840"/>
            <a:ext cx="744120" cy="274320"/>
          </a:xfrm>
          <a:prstGeom prst="ellipse">
            <a:avLst/>
          </a:prstGeom>
          <a:solidFill>
            <a:schemeClr val="tx1"/>
          </a:solidFill>
          <a:ln w="38100">
            <a:solidFill>
              <a:srgbClr val="ff66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2400" spc="-1" strike="noStrike">
              <a:ln>
                <a:solidFill>
                  <a:schemeClr val="lt2"/>
                </a:solidFill>
              </a:ln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" name="Rectangle 8"/>
          <p:cNvSpPr/>
          <p:nvPr/>
        </p:nvSpPr>
        <p:spPr>
          <a:xfrm>
            <a:off x="8578800" y="5615280"/>
            <a:ext cx="744120" cy="274320"/>
          </a:xfrm>
          <a:prstGeom prst="rect">
            <a:avLst/>
          </a:prstGeom>
          <a:solidFill>
            <a:schemeClr val="tx1"/>
          </a:solidFill>
          <a:ln w="38100">
            <a:solidFill>
              <a:srgbClr val="ff66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2400" spc="-1" strike="noStrike">
              <a:ln>
                <a:solidFill>
                  <a:schemeClr val="lt2"/>
                </a:solidFill>
              </a:ln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Oval 10"/>
          <p:cNvSpPr/>
          <p:nvPr/>
        </p:nvSpPr>
        <p:spPr>
          <a:xfrm>
            <a:off x="2827800" y="2573280"/>
            <a:ext cx="1672920" cy="849960"/>
          </a:xfrm>
          <a:prstGeom prst="ellipse">
            <a:avLst/>
          </a:prstGeom>
          <a:solidFill>
            <a:schemeClr val="tx1"/>
          </a:solidFill>
          <a:ln w="44450">
            <a:solidFill>
              <a:srgbClr val="0070c0"/>
            </a:solidFill>
            <a:prstDash val="sysDot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200" spc="-1" strike="noStrike">
                <a:ln>
                  <a:solidFill>
                    <a:schemeClr val="lt2"/>
                  </a:solidFill>
                </a:ln>
                <a:solidFill>
                  <a:srgbClr val="ffffff"/>
                </a:solidFill>
                <a:latin typeface="Garamond"/>
              </a:rPr>
              <a:t>Gun Sequence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" name="Oval 11"/>
          <p:cNvSpPr/>
          <p:nvPr/>
        </p:nvSpPr>
        <p:spPr>
          <a:xfrm>
            <a:off x="4775040" y="1327320"/>
            <a:ext cx="1672920" cy="849960"/>
          </a:xfrm>
          <a:prstGeom prst="ellipse">
            <a:avLst/>
          </a:prstGeom>
          <a:solidFill>
            <a:schemeClr val="tx1"/>
          </a:solidFill>
          <a:ln w="44450">
            <a:solidFill>
              <a:srgbClr val="0070c0"/>
            </a:solidFill>
            <a:prstDash val="sysDot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400" spc="-1" strike="noStrike">
                <a:ln>
                  <a:solidFill>
                    <a:schemeClr val="lt2"/>
                  </a:solidFill>
                </a:ln>
                <a:solidFill>
                  <a:srgbClr val="ffffff"/>
                </a:solidFill>
                <a:latin typeface="Garamond"/>
              </a:rPr>
              <a:t>Root Selector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" name="Diamond 12"/>
          <p:cNvSpPr/>
          <p:nvPr/>
        </p:nvSpPr>
        <p:spPr>
          <a:xfrm>
            <a:off x="4763160" y="2620440"/>
            <a:ext cx="1672920" cy="849960"/>
          </a:xfrm>
          <a:prstGeom prst="diamond">
            <a:avLst/>
          </a:prstGeom>
          <a:solidFill>
            <a:schemeClr val="tx1"/>
          </a:solidFill>
          <a:ln w="44450">
            <a:solidFill>
              <a:srgbClr val="ff66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000" spc="-1" strike="noStrike">
                <a:ln>
                  <a:solidFill>
                    <a:schemeClr val="lt2"/>
                  </a:solidFill>
                </a:ln>
                <a:solidFill>
                  <a:srgbClr val="ffffff"/>
                </a:solidFill>
                <a:latin typeface="Garamond"/>
              </a:rPr>
              <a:t>Patrol Hourly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" name="Oval 13"/>
          <p:cNvSpPr/>
          <p:nvPr/>
        </p:nvSpPr>
        <p:spPr>
          <a:xfrm>
            <a:off x="2827800" y="3904200"/>
            <a:ext cx="1672920" cy="849960"/>
          </a:xfrm>
          <a:prstGeom prst="ellipse">
            <a:avLst/>
          </a:prstGeom>
          <a:solidFill>
            <a:schemeClr val="tx1"/>
          </a:solidFill>
          <a:ln w="44450">
            <a:solidFill>
              <a:srgbClr val="ff66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400" spc="-1" strike="noStrike">
                <a:ln>
                  <a:solidFill>
                    <a:schemeClr val="lt2"/>
                  </a:solidFill>
                </a:ln>
                <a:solidFill>
                  <a:srgbClr val="ffffff"/>
                </a:solidFill>
                <a:latin typeface="Garamond"/>
              </a:rPr>
              <a:t>Shoot Player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" name="Rectangle 16"/>
          <p:cNvSpPr/>
          <p:nvPr/>
        </p:nvSpPr>
        <p:spPr>
          <a:xfrm>
            <a:off x="908640" y="2618640"/>
            <a:ext cx="1672920" cy="758520"/>
          </a:xfrm>
          <a:prstGeom prst="rect">
            <a:avLst/>
          </a:prstGeom>
          <a:solidFill>
            <a:schemeClr val="tx1"/>
          </a:solidFill>
          <a:ln w="44450">
            <a:solidFill>
              <a:srgbClr val="ff66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400" spc="-1" strike="noStrike">
                <a:ln>
                  <a:solidFill>
                    <a:schemeClr val="lt2"/>
                  </a:solidFill>
                </a:ln>
                <a:solidFill>
                  <a:srgbClr val="ffffff"/>
                </a:solidFill>
                <a:latin typeface="Garamond"/>
              </a:rPr>
              <a:t>Player Seen?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05" name="Straight Arrow Connector 17"/>
          <p:cNvCxnSpPr>
            <a:stCxn id="206" idx="5"/>
          </p:cNvCxnSpPr>
          <p:nvPr/>
        </p:nvCxnSpPr>
        <p:spPr>
          <a:xfrm>
            <a:off x="3397320" y="2048400"/>
            <a:ext cx="365040" cy="658800"/>
          </a:xfrm>
          <a:prstGeom prst="straightConnector1">
            <a:avLst/>
          </a:prstGeom>
          <a:ln w="38100">
            <a:solidFill>
              <a:srgbClr val="ffffff"/>
            </a:solidFill>
            <a:round/>
            <a:tailEnd len="med" type="arrow" w="med"/>
          </a:ln>
        </p:spPr>
      </p:cxnSp>
      <p:cxnSp>
        <p:nvCxnSpPr>
          <p:cNvPr id="207" name="Straight Arrow Connector 18"/>
          <p:cNvCxnSpPr>
            <a:stCxn id="206" idx="3"/>
            <a:endCxn id="204" idx="0"/>
          </p:cNvCxnSpPr>
          <p:nvPr/>
        </p:nvCxnSpPr>
        <p:spPr>
          <a:xfrm flipH="1">
            <a:off x="1744920" y="2048400"/>
            <a:ext cx="469440" cy="570600"/>
          </a:xfrm>
          <a:prstGeom prst="straightConnector1">
            <a:avLst/>
          </a:prstGeom>
          <a:ln w="38100">
            <a:solidFill>
              <a:srgbClr val="ffffff"/>
            </a:solidFill>
            <a:round/>
            <a:tailEnd len="med" type="arrow" w="med"/>
          </a:ln>
        </p:spPr>
      </p:cxnSp>
      <p:sp>
        <p:nvSpPr>
          <p:cNvPr id="208" name="Oval 25"/>
          <p:cNvSpPr/>
          <p:nvPr/>
        </p:nvSpPr>
        <p:spPr>
          <a:xfrm>
            <a:off x="974520" y="3904200"/>
            <a:ext cx="1672920" cy="849960"/>
          </a:xfrm>
          <a:prstGeom prst="ellipse">
            <a:avLst/>
          </a:prstGeom>
          <a:solidFill>
            <a:schemeClr val="tx1"/>
          </a:solidFill>
          <a:ln w="44450">
            <a:solidFill>
              <a:srgbClr val="ff66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400" spc="-1" strike="noStrike">
                <a:ln>
                  <a:solidFill>
                    <a:schemeClr val="lt2"/>
                  </a:solidFill>
                </a:ln>
                <a:solidFill>
                  <a:srgbClr val="ffffff"/>
                </a:solidFill>
                <a:latin typeface="Garamond"/>
              </a:rPr>
              <a:t>Find Ammo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" name="PlaceHolder 2"/>
          <p:cNvSpPr>
            <a:spLocks noGrp="1"/>
          </p:cNvSpPr>
          <p:nvPr>
            <p:ph/>
          </p:nvPr>
        </p:nvSpPr>
        <p:spPr>
          <a:xfrm>
            <a:off x="6694920" y="1265760"/>
            <a:ext cx="4770000" cy="126648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In the third traversal, the player is not seen. We try to patrol but fail at walking, so the patrol fails.</a:t>
            </a:r>
            <a:endParaRPr b="0" lang="en-US" sz="2800" spc="-1" strike="noStrike">
              <a:solidFill>
                <a:schemeClr val="dk1"/>
              </a:solidFill>
              <a:latin typeface="Arial Regular"/>
            </a:endParaRPr>
          </a:p>
        </p:txBody>
      </p:sp>
      <p:cxnSp>
        <p:nvCxnSpPr>
          <p:cNvPr id="210" name="Straight Arrow Connector 35"/>
          <p:cNvCxnSpPr/>
          <p:nvPr/>
        </p:nvCxnSpPr>
        <p:spPr>
          <a:xfrm>
            <a:off x="1662840" y="3669840"/>
            <a:ext cx="2502360" cy="360"/>
          </a:xfrm>
          <a:prstGeom prst="straightConnector1">
            <a:avLst/>
          </a:prstGeom>
          <a:ln w="38100">
            <a:solidFill>
              <a:srgbClr val="ffff00"/>
            </a:solidFill>
            <a:prstDash val="sysDot"/>
            <a:round/>
            <a:tailEnd len="med" type="arrow" w="med"/>
          </a:ln>
        </p:spPr>
      </p:cxnSp>
      <p:sp>
        <p:nvSpPr>
          <p:cNvPr id="211" name="Diamond 40"/>
          <p:cNvSpPr/>
          <p:nvPr/>
        </p:nvSpPr>
        <p:spPr>
          <a:xfrm>
            <a:off x="8578800" y="4854960"/>
            <a:ext cx="740880" cy="274320"/>
          </a:xfrm>
          <a:prstGeom prst="diamond">
            <a:avLst/>
          </a:prstGeom>
          <a:solidFill>
            <a:schemeClr val="tx1"/>
          </a:solidFill>
          <a:ln w="38100">
            <a:solidFill>
              <a:srgbClr val="ff66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2400" spc="-1" strike="noStrike">
              <a:ln>
                <a:solidFill>
                  <a:schemeClr val="lt2"/>
                </a:solidFill>
              </a:ln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12" name="Straight Arrow Connector 48"/>
          <p:cNvCxnSpPr>
            <a:stCxn id="201" idx="4"/>
            <a:endCxn id="202" idx="0"/>
          </p:cNvCxnSpPr>
          <p:nvPr/>
        </p:nvCxnSpPr>
        <p:spPr>
          <a:xfrm flipH="1">
            <a:off x="5599800" y="2177280"/>
            <a:ext cx="12240" cy="443520"/>
          </a:xfrm>
          <a:prstGeom prst="straightConnector1">
            <a:avLst/>
          </a:prstGeom>
          <a:ln w="38100">
            <a:solidFill>
              <a:srgbClr val="ffffff"/>
            </a:solidFill>
            <a:round/>
            <a:tailEnd len="med" type="arrow" w="med"/>
          </a:ln>
        </p:spPr>
      </p:cxnSp>
      <p:sp>
        <p:nvSpPr>
          <p:cNvPr id="206" name="Oval 59"/>
          <p:cNvSpPr/>
          <p:nvPr/>
        </p:nvSpPr>
        <p:spPr>
          <a:xfrm>
            <a:off x="1969200" y="1322640"/>
            <a:ext cx="1672920" cy="849960"/>
          </a:xfrm>
          <a:prstGeom prst="ellipse">
            <a:avLst/>
          </a:prstGeom>
          <a:solidFill>
            <a:schemeClr val="tx1"/>
          </a:solidFill>
          <a:ln w="44450">
            <a:solidFill>
              <a:srgbClr val="0070c0"/>
            </a:solidFill>
            <a:prstDash val="sysDot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200" spc="-1" strike="noStrike">
                <a:ln>
                  <a:solidFill>
                    <a:schemeClr val="lt2"/>
                  </a:solidFill>
                </a:ln>
                <a:solidFill>
                  <a:srgbClr val="ffffff"/>
                </a:solidFill>
                <a:latin typeface="Garamond"/>
              </a:rPr>
              <a:t>Attack Sequence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13" name="Straight Arrow Connector 60"/>
          <p:cNvCxnSpPr>
            <a:stCxn id="201" idx="2"/>
            <a:endCxn id="206" idx="6"/>
          </p:cNvCxnSpPr>
          <p:nvPr/>
        </p:nvCxnSpPr>
        <p:spPr>
          <a:xfrm flipH="1" flipV="1">
            <a:off x="3642120" y="1747800"/>
            <a:ext cx="1133280" cy="5040"/>
          </a:xfrm>
          <a:prstGeom prst="straightConnector1">
            <a:avLst/>
          </a:prstGeom>
          <a:ln w="38100">
            <a:solidFill>
              <a:srgbClr val="ffffff"/>
            </a:solidFill>
            <a:round/>
            <a:tailEnd len="med" type="arrow" w="med"/>
          </a:ln>
        </p:spPr>
      </p:cxnSp>
      <p:cxnSp>
        <p:nvCxnSpPr>
          <p:cNvPr id="214" name="Straight Arrow Connector 66"/>
          <p:cNvCxnSpPr/>
          <p:nvPr/>
        </p:nvCxnSpPr>
        <p:spPr>
          <a:xfrm>
            <a:off x="4407480" y="2349360"/>
            <a:ext cx="2286360" cy="360"/>
          </a:xfrm>
          <a:prstGeom prst="straightConnector1">
            <a:avLst/>
          </a:prstGeom>
          <a:ln w="38100">
            <a:solidFill>
              <a:srgbClr val="ffff00"/>
            </a:solidFill>
            <a:prstDash val="sysDot"/>
            <a:round/>
            <a:tailEnd len="med" type="arrow" w="med"/>
          </a:ln>
        </p:spPr>
      </p:cxnSp>
      <p:cxnSp>
        <p:nvCxnSpPr>
          <p:cNvPr id="215" name="Straight Arrow Connector 67"/>
          <p:cNvCxnSpPr/>
          <p:nvPr/>
        </p:nvCxnSpPr>
        <p:spPr>
          <a:xfrm>
            <a:off x="4419360" y="1418040"/>
            <a:ext cx="360" cy="991080"/>
          </a:xfrm>
          <a:prstGeom prst="straightConnector1">
            <a:avLst/>
          </a:prstGeom>
          <a:ln w="38100">
            <a:solidFill>
              <a:srgbClr val="ffff00"/>
            </a:solidFill>
            <a:prstDash val="sysDot"/>
            <a:round/>
          </a:ln>
        </p:spPr>
      </p:cxnSp>
      <p:cxnSp>
        <p:nvCxnSpPr>
          <p:cNvPr id="216" name="Straight Arrow Connector 70"/>
          <p:cNvCxnSpPr/>
          <p:nvPr/>
        </p:nvCxnSpPr>
        <p:spPr>
          <a:xfrm>
            <a:off x="1664280" y="2389680"/>
            <a:ext cx="2362680" cy="360"/>
          </a:xfrm>
          <a:prstGeom prst="straightConnector1">
            <a:avLst/>
          </a:prstGeom>
          <a:ln w="38100">
            <a:solidFill>
              <a:srgbClr val="ffff00"/>
            </a:solidFill>
            <a:prstDash val="sysDot"/>
            <a:round/>
            <a:tailEnd len="med" type="arrow" w="med"/>
          </a:ln>
        </p:spPr>
      </p:cxnSp>
      <p:sp>
        <p:nvSpPr>
          <p:cNvPr id="217" name="Oval 95"/>
          <p:cNvSpPr/>
          <p:nvPr/>
        </p:nvSpPr>
        <p:spPr>
          <a:xfrm>
            <a:off x="4763520" y="3897720"/>
            <a:ext cx="1672920" cy="849960"/>
          </a:xfrm>
          <a:prstGeom prst="ellipse">
            <a:avLst/>
          </a:prstGeom>
          <a:solidFill>
            <a:schemeClr val="tx1"/>
          </a:solidFill>
          <a:ln w="44450">
            <a:solidFill>
              <a:srgbClr val="0070c0"/>
            </a:solidFill>
            <a:prstDash val="sysDot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400" spc="-1" strike="noStrike">
                <a:ln>
                  <a:solidFill>
                    <a:schemeClr val="lt2"/>
                  </a:solidFill>
                </a:ln>
                <a:solidFill>
                  <a:srgbClr val="ffffff"/>
                </a:solidFill>
                <a:latin typeface="Garamond"/>
              </a:rPr>
              <a:t>Patrol Parallel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" name="Oval 101"/>
          <p:cNvSpPr/>
          <p:nvPr/>
        </p:nvSpPr>
        <p:spPr>
          <a:xfrm>
            <a:off x="5685120" y="5061960"/>
            <a:ext cx="1672920" cy="849960"/>
          </a:xfrm>
          <a:prstGeom prst="ellipse">
            <a:avLst/>
          </a:prstGeom>
          <a:solidFill>
            <a:schemeClr val="tx1"/>
          </a:solidFill>
          <a:ln w="44450">
            <a:solidFill>
              <a:srgbClr val="ff66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400" spc="-1" strike="noStrike">
                <a:ln>
                  <a:solidFill>
                    <a:schemeClr val="lt2"/>
                  </a:solidFill>
                </a:ln>
                <a:solidFill>
                  <a:srgbClr val="ffffff"/>
                </a:solidFill>
                <a:latin typeface="Garamond"/>
              </a:rPr>
              <a:t>Walk Around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" name="Oval 102"/>
          <p:cNvSpPr/>
          <p:nvPr/>
        </p:nvSpPr>
        <p:spPr>
          <a:xfrm>
            <a:off x="3762360" y="5067360"/>
            <a:ext cx="1672920" cy="849960"/>
          </a:xfrm>
          <a:prstGeom prst="ellipse">
            <a:avLst/>
          </a:prstGeom>
          <a:solidFill>
            <a:schemeClr val="tx1"/>
          </a:solidFill>
          <a:ln w="44450">
            <a:solidFill>
              <a:srgbClr val="ff66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200" spc="-1" strike="noStrike">
                <a:ln>
                  <a:solidFill>
                    <a:schemeClr val="lt2"/>
                  </a:solidFill>
                </a:ln>
                <a:solidFill>
                  <a:srgbClr val="ffffff"/>
                </a:solidFill>
                <a:latin typeface="Garamond"/>
              </a:rPr>
              <a:t>Whistle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20" name="Straight Arrow Connector 110"/>
          <p:cNvCxnSpPr>
            <a:stCxn id="202" idx="2"/>
            <a:endCxn id="217" idx="0"/>
          </p:cNvCxnSpPr>
          <p:nvPr/>
        </p:nvCxnSpPr>
        <p:spPr>
          <a:xfrm>
            <a:off x="5599800" y="3470400"/>
            <a:ext cx="720" cy="427680"/>
          </a:xfrm>
          <a:prstGeom prst="straightConnector1">
            <a:avLst/>
          </a:prstGeom>
          <a:ln w="38100">
            <a:solidFill>
              <a:srgbClr val="ffffff"/>
            </a:solidFill>
            <a:round/>
            <a:tailEnd len="med" type="arrow" w="med"/>
          </a:ln>
        </p:spPr>
      </p:cxnSp>
      <p:sp>
        <p:nvSpPr>
          <p:cNvPr id="221" name="Rectangle 39"/>
          <p:cNvSpPr/>
          <p:nvPr/>
        </p:nvSpPr>
        <p:spPr>
          <a:xfrm>
            <a:off x="8426160" y="2568960"/>
            <a:ext cx="2869920" cy="1676160"/>
          </a:xfrm>
          <a:prstGeom prst="rect">
            <a:avLst/>
          </a:prstGeom>
          <a:noFill/>
          <a:ln>
            <a:solidFill>
              <a:srgbClr val="ffffff"/>
            </a:solidFill>
            <a:rou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ff00"/>
              </a:solidFill>
              <a:latin typeface="Arial"/>
            </a:endParaRPr>
          </a:p>
        </p:txBody>
      </p:sp>
      <p:sp>
        <p:nvSpPr>
          <p:cNvPr id="222" name="TextBox 42"/>
          <p:cNvSpPr/>
          <p:nvPr/>
        </p:nvSpPr>
        <p:spPr>
          <a:xfrm>
            <a:off x="9340560" y="2568960"/>
            <a:ext cx="1980720" cy="19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2999"/>
              </a:lnSpc>
            </a:pPr>
            <a:r>
              <a:rPr b="0" lang="en-US" sz="20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= visiting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ts val="2999"/>
              </a:lnSpc>
            </a:pPr>
            <a:r>
              <a:rPr b="0" lang="en-US" sz="20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= succeeded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ts val="2999"/>
              </a:lnSpc>
            </a:pPr>
            <a:r>
              <a:rPr b="0" lang="en-US" sz="20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= failed/aborted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ts val="2999"/>
              </a:lnSpc>
            </a:pPr>
            <a:r>
              <a:rPr b="0" lang="en-US" sz="20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= running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" name="Oval 43"/>
          <p:cNvSpPr/>
          <p:nvPr/>
        </p:nvSpPr>
        <p:spPr>
          <a:xfrm>
            <a:off x="8578800" y="3483360"/>
            <a:ext cx="744120" cy="274320"/>
          </a:xfrm>
          <a:prstGeom prst="ellipse">
            <a:avLst/>
          </a:prstGeom>
          <a:solidFill>
            <a:schemeClr val="tx2">
              <a:lumMod val="65000"/>
              <a:lumOff val="35000"/>
            </a:schemeClr>
          </a:solidFill>
          <a:ln w="12700">
            <a:solidFill>
              <a:srgbClr val="ffff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2400" spc="-1" strike="noStrike">
              <a:ln>
                <a:solidFill>
                  <a:schemeClr val="lt2"/>
                </a:solidFill>
              </a:ln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" name="Oval 46"/>
          <p:cNvSpPr/>
          <p:nvPr/>
        </p:nvSpPr>
        <p:spPr>
          <a:xfrm>
            <a:off x="8578800" y="3864240"/>
            <a:ext cx="744120" cy="274320"/>
          </a:xfrm>
          <a:prstGeom prst="ellipse">
            <a:avLst/>
          </a:prstGeom>
          <a:solidFill>
            <a:srgbClr val="008040"/>
          </a:solidFill>
          <a:ln w="12700">
            <a:solidFill>
              <a:srgbClr val="00ff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2400" spc="-1" strike="noStrike">
              <a:ln>
                <a:solidFill>
                  <a:schemeClr val="lt2"/>
                </a:solidFill>
              </a:ln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" name="Oval 47"/>
          <p:cNvSpPr/>
          <p:nvPr/>
        </p:nvSpPr>
        <p:spPr>
          <a:xfrm>
            <a:off x="8578800" y="3102120"/>
            <a:ext cx="744120" cy="274320"/>
          </a:xfrm>
          <a:prstGeom prst="ellipse">
            <a:avLst/>
          </a:prstGeom>
          <a:solidFill>
            <a:srgbClr val="002060"/>
          </a:solidFill>
          <a:ln w="12700">
            <a:solidFill>
              <a:srgbClr val="0070c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2400" spc="-1" strike="noStrike">
              <a:ln>
                <a:solidFill>
                  <a:schemeClr val="lt2"/>
                </a:solidFill>
              </a:ln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" name="Oval 49"/>
          <p:cNvSpPr/>
          <p:nvPr/>
        </p:nvSpPr>
        <p:spPr>
          <a:xfrm>
            <a:off x="8578800" y="2721240"/>
            <a:ext cx="744120" cy="274320"/>
          </a:xfrm>
          <a:prstGeom prst="ellipse">
            <a:avLst/>
          </a:prstGeom>
          <a:solidFill>
            <a:schemeClr val="tx1"/>
          </a:solidFill>
          <a:ln w="38100">
            <a:solidFill>
              <a:srgbClr val="00ff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2400" spc="-1" strike="noStrike">
              <a:ln>
                <a:solidFill>
                  <a:schemeClr val="lt2"/>
                </a:solidFill>
              </a:ln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27" name="Straight Arrow Connector 44"/>
          <p:cNvCxnSpPr>
            <a:stCxn id="200" idx="3"/>
            <a:endCxn id="208" idx="0"/>
          </p:cNvCxnSpPr>
          <p:nvPr/>
        </p:nvCxnSpPr>
        <p:spPr>
          <a:xfrm flipH="1">
            <a:off x="1811160" y="3299040"/>
            <a:ext cx="1261800" cy="605520"/>
          </a:xfrm>
          <a:prstGeom prst="straightConnector1">
            <a:avLst/>
          </a:prstGeom>
          <a:ln w="38100">
            <a:solidFill>
              <a:srgbClr val="ffffff"/>
            </a:solidFill>
            <a:round/>
            <a:tailEnd len="med" type="arrow" w="med"/>
          </a:ln>
        </p:spPr>
      </p:cxnSp>
      <p:cxnSp>
        <p:nvCxnSpPr>
          <p:cNvPr id="228" name="Straight Arrow Connector 45"/>
          <p:cNvCxnSpPr>
            <a:stCxn id="200" idx="4"/>
            <a:endCxn id="203" idx="0"/>
          </p:cNvCxnSpPr>
          <p:nvPr/>
        </p:nvCxnSpPr>
        <p:spPr>
          <a:xfrm>
            <a:off x="3664440" y="3423240"/>
            <a:ext cx="360" cy="481320"/>
          </a:xfrm>
          <a:prstGeom prst="straightConnector1">
            <a:avLst/>
          </a:prstGeom>
          <a:ln w="38100">
            <a:solidFill>
              <a:srgbClr val="ffffff"/>
            </a:solidFill>
            <a:round/>
            <a:tailEnd len="med" type="arrow" w="med"/>
          </a:ln>
        </p:spPr>
      </p:cxnSp>
      <p:cxnSp>
        <p:nvCxnSpPr>
          <p:cNvPr id="229" name="Straight Arrow Connector 52"/>
          <p:cNvCxnSpPr>
            <a:stCxn id="217" idx="3"/>
            <a:endCxn id="219" idx="0"/>
          </p:cNvCxnSpPr>
          <p:nvPr/>
        </p:nvCxnSpPr>
        <p:spPr>
          <a:xfrm flipH="1">
            <a:off x="4599000" y="4623480"/>
            <a:ext cx="409680" cy="444240"/>
          </a:xfrm>
          <a:prstGeom prst="straightConnector1">
            <a:avLst/>
          </a:prstGeom>
          <a:ln w="38100">
            <a:solidFill>
              <a:srgbClr val="ffffff"/>
            </a:solidFill>
            <a:round/>
            <a:tailEnd len="med" type="arrow" w="med"/>
          </a:ln>
        </p:spPr>
      </p:cxnSp>
      <p:cxnSp>
        <p:nvCxnSpPr>
          <p:cNvPr id="230" name="Straight Arrow Connector 57"/>
          <p:cNvCxnSpPr>
            <a:stCxn id="217" idx="5"/>
            <a:endCxn id="218" idx="0"/>
          </p:cNvCxnSpPr>
          <p:nvPr/>
        </p:nvCxnSpPr>
        <p:spPr>
          <a:xfrm>
            <a:off x="6191640" y="4623480"/>
            <a:ext cx="330480" cy="438840"/>
          </a:xfrm>
          <a:prstGeom prst="straightConnector1">
            <a:avLst/>
          </a:prstGeom>
          <a:ln w="38100">
            <a:solidFill>
              <a:srgbClr val="ffffff"/>
            </a:solidFill>
            <a:round/>
            <a:tailEnd len="med" type="arrow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32" dur="indefinite" restart="never" nodeType="tmRoot">
          <p:childTnLst>
            <p:seq>
              <p:cTn id="433" dur="indefinite" nodeType="mainSeq">
                <p:childTnLst>
                  <p:par>
                    <p:cTn id="434" fill="hold">
                      <p:stCondLst>
                        <p:cond delay="indefinite"/>
                      </p:stCondLst>
                      <p:childTnLst>
                        <p:par>
                          <p:cTn id="435" fill="hold">
                            <p:stCondLst>
                              <p:cond delay="0"/>
                            </p:stCondLst>
                            <p:childTnLst>
                              <p:par>
                                <p:cTn id="436" nodeType="clickEffect" fill="hold" presetClass="emph" presetID="7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437" dur="50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ff00"/>
                                      </p:to>
                                    </p:animClr>
                                    <p:set>
                                      <p:cBhvr>
                                        <p:cTn id="438" dur="50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9" fill="hold">
                      <p:stCondLst>
                        <p:cond delay="indefinite"/>
                      </p:stCondLst>
                      <p:childTnLst>
                        <p:par>
                          <p:cTn id="440" fill="hold">
                            <p:stCondLst>
                              <p:cond delay="0"/>
                            </p:stCondLst>
                            <p:childTnLst>
                              <p:par>
                                <p:cTn id="441" nodeType="clickEffect" fill="hold" presetClass="emph" presetID="7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442" dur="50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443" dur="50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4" nodeType="withEffect" fill="hold" presetClass="emph" presetID="7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445" dur="50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ff00"/>
                                      </p:to>
                                    </p:animClr>
                                    <p:set>
                                      <p:cBhvr>
                                        <p:cTn id="446" dur="50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7" fill="hold">
                      <p:stCondLst>
                        <p:cond delay="indefinite"/>
                      </p:stCondLst>
                      <p:childTnLst>
                        <p:par>
                          <p:cTn id="448" fill="hold">
                            <p:stCondLst>
                              <p:cond delay="0"/>
                            </p:stCondLst>
                            <p:childTnLst>
                              <p:par>
                                <p:cTn id="449" nodeType="clickEffect" fill="hold" presetClass="emph" presetID="7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450" dur="50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451" dur="50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2" nodeType="withEffect" fill="hold" presetClass="emph" presetID="7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453" dur="50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ff00"/>
                                      </p:to>
                                    </p:animClr>
                                    <p:set>
                                      <p:cBhvr>
                                        <p:cTn id="454" dur="50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5" fill="hold">
                      <p:stCondLst>
                        <p:cond delay="indefinite"/>
                      </p:stCondLst>
                      <p:childTnLst>
                        <p:par>
                          <p:cTn id="456" fill="hold">
                            <p:stCondLst>
                              <p:cond delay="0"/>
                            </p:stCondLst>
                            <p:childTnLst>
                              <p:par>
                                <p:cTn id="457" nodeType="clickEffect" fill="hold" presetClass="emph" presetID="1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458" dur="50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95959"/>
                                      </p:to>
                                    </p:animClr>
                                    <p:set>
                                      <p:cBhvr>
                                        <p:cTn id="459" dur="50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60" dur="50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1" fill="hold">
                      <p:stCondLst>
                        <p:cond delay="indefinite"/>
                      </p:stCondLst>
                      <p:childTnLst>
                        <p:par>
                          <p:cTn id="462" fill="hold">
                            <p:stCondLst>
                              <p:cond delay="0"/>
                            </p:stCondLst>
                            <p:childTnLst>
                              <p:par>
                                <p:cTn id="463" nodeType="clickEffect" fill="hold" presetClass="emph" presetID="7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464" dur="50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6600"/>
                                      </p:to>
                                    </p:animClr>
                                    <p:set>
                                      <p:cBhvr>
                                        <p:cTn id="465" dur="50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6" nodeType="withEffect" fill="hold" presetClass="emph" presetID="7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467" dur="50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ff00"/>
                                      </p:to>
                                    </p:animClr>
                                    <p:set>
                                      <p:cBhvr>
                                        <p:cTn id="468" dur="50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9" fill="hold">
                      <p:stCondLst>
                        <p:cond delay="indefinite"/>
                      </p:stCondLst>
                      <p:childTnLst>
                        <p:par>
                          <p:cTn id="470" fill="hold">
                            <p:stCondLst>
                              <p:cond delay="0"/>
                            </p:stCondLst>
                            <p:childTnLst>
                              <p:par>
                                <p:cTn id="471" nodeType="clickEffect" fill="hold" presetClass="emph" presetID="1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472" dur="50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95959"/>
                                      </p:to>
                                    </p:animClr>
                                    <p:set>
                                      <p:cBhvr>
                                        <p:cTn id="473" dur="50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74" dur="50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5" fill="hold">
                      <p:stCondLst>
                        <p:cond delay="indefinite"/>
                      </p:stCondLst>
                      <p:childTnLst>
                        <p:par>
                          <p:cTn id="476" fill="hold">
                            <p:stCondLst>
                              <p:cond delay="0"/>
                            </p:stCondLst>
                            <p:childTnLst>
                              <p:par>
                                <p:cTn id="477" nodeType="clickEffect" fill="hold" presetClass="emph" presetID="7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478" dur="50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479" dur="50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0" nodeType="withEffect" fill="hold" presetClass="emph" presetID="7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481" dur="50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ff00"/>
                                      </p:to>
                                    </p:animClr>
                                    <p:set>
                                      <p:cBhvr>
                                        <p:cTn id="482" dur="50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3" fill="hold">
                      <p:stCondLst>
                        <p:cond delay="indefinite"/>
                      </p:stCondLst>
                      <p:childTnLst>
                        <p:par>
                          <p:cTn id="484" fill="hold">
                            <p:stCondLst>
                              <p:cond delay="0"/>
                            </p:stCondLst>
                            <p:childTnLst>
                              <p:par>
                                <p:cTn id="485" nodeType="clickEffect" fill="hold" presetClass="emph" presetID="7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486" dur="50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487" dur="50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8" nodeType="withEffect" fill="hold" presetClass="emph" presetID="7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489" dur="50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ff00"/>
                                      </p:to>
                                    </p:animClr>
                                    <p:set>
                                      <p:cBhvr>
                                        <p:cTn id="490" dur="50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1" fill="hold">
                      <p:stCondLst>
                        <p:cond delay="indefinite"/>
                      </p:stCondLst>
                      <p:childTnLst>
                        <p:par>
                          <p:cTn id="492" fill="hold">
                            <p:stCondLst>
                              <p:cond delay="0"/>
                            </p:stCondLst>
                            <p:childTnLst>
                              <p:par>
                                <p:cTn id="493" nodeType="clickEffect" fill="hold" presetClass="emph" presetID="7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494" dur="50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6600"/>
                                      </p:to>
                                    </p:animClr>
                                    <p:set>
                                      <p:cBhvr>
                                        <p:cTn id="495" dur="50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6" nodeType="withEffect" fill="hold" presetClass="emph" presetID="7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497" dur="50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ff00"/>
                                      </p:to>
                                    </p:animClr>
                                    <p:set>
                                      <p:cBhvr>
                                        <p:cTn id="498" dur="50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9" fill="hold">
                      <p:stCondLst>
                        <p:cond delay="indefinite"/>
                      </p:stCondLst>
                      <p:childTnLst>
                        <p:par>
                          <p:cTn id="500" fill="hold">
                            <p:stCondLst>
                              <p:cond delay="0"/>
                            </p:stCondLst>
                            <p:childTnLst>
                              <p:par>
                                <p:cTn id="501" nodeType="clickEffect" fill="hold" presetClass="emph" presetID="7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502" dur="50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503" dur="50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4" nodeType="withEffect" fill="hold" presetClass="emph" presetID="7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505" dur="50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ff00"/>
                                      </p:to>
                                    </p:animClr>
                                    <p:set>
                                      <p:cBhvr>
                                        <p:cTn id="506" dur="50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7" nodeType="withEffect" fill="hold" presetClass="emph" presetID="7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508" dur="5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ff00"/>
                                      </p:to>
                                    </p:animClr>
                                    <p:set>
                                      <p:cBhvr>
                                        <p:cTn id="509" dur="5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0" fill="hold">
                      <p:stCondLst>
                        <p:cond delay="indefinite"/>
                      </p:stCondLst>
                      <p:childTnLst>
                        <p:par>
                          <p:cTn id="511" fill="hold">
                            <p:stCondLst>
                              <p:cond delay="0"/>
                            </p:stCondLst>
                            <p:childTnLst>
                              <p:par>
                                <p:cTn id="512" nodeType="clickEffect" fill="hold" presetClass="emph" presetID="1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513" dur="50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8040"/>
                                      </p:to>
                                    </p:animClr>
                                    <p:set>
                                      <p:cBhvr>
                                        <p:cTn id="514" dur="50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5" dur="50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6" nodeType="withEffect" fill="hold" presetClass="emph" presetID="1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517" dur="5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95959"/>
                                      </p:to>
                                    </p:animClr>
                                    <p:set>
                                      <p:cBhvr>
                                        <p:cTn id="518" dur="5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9" dur="5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0" fill="hold">
                      <p:stCondLst>
                        <p:cond delay="indefinite"/>
                      </p:stCondLst>
                      <p:childTnLst>
                        <p:par>
                          <p:cTn id="521" fill="hold">
                            <p:stCondLst>
                              <p:cond delay="0"/>
                            </p:stCondLst>
                            <p:childTnLst>
                              <p:par>
                                <p:cTn id="522" nodeType="clickEffect" fill="hold" presetClass="emph" presetID="7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523" dur="50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a661c"/>
                                      </p:to>
                                    </p:animClr>
                                    <p:set>
                                      <p:cBhvr>
                                        <p:cTn id="524" dur="50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5" nodeType="withEffect" fill="hold" presetClass="emph" presetID="7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526" dur="5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a661c"/>
                                      </p:to>
                                    </p:animClr>
                                    <p:set>
                                      <p:cBhvr>
                                        <p:cTn id="527" dur="5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8" nodeType="withEffect" fill="hold" presetClass="emph" presetID="7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529" dur="50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ff00"/>
                                      </p:to>
                                    </p:animClr>
                                    <p:set>
                                      <p:cBhvr>
                                        <p:cTn id="530" dur="50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1" fill="hold">
                      <p:stCondLst>
                        <p:cond delay="indefinite"/>
                      </p:stCondLst>
                      <p:childTnLst>
                        <p:par>
                          <p:cTn id="532" fill="hold">
                            <p:stCondLst>
                              <p:cond delay="0"/>
                            </p:stCondLst>
                            <p:childTnLst>
                              <p:par>
                                <p:cTn id="533" nodeType="clickEffect" fill="hold" presetClass="emph" presetID="1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534" dur="50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95959"/>
                                      </p:to>
                                    </p:animClr>
                                    <p:set>
                                      <p:cBhvr>
                                        <p:cTn id="535" dur="50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36" dur="50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7" fill="hold">
                      <p:stCondLst>
                        <p:cond delay="indefinite"/>
                      </p:stCondLst>
                      <p:childTnLst>
                        <p:par>
                          <p:cTn id="538" fill="hold">
                            <p:stCondLst>
                              <p:cond delay="0"/>
                            </p:stCondLst>
                            <p:childTnLst>
                              <p:par>
                                <p:cTn id="539" nodeType="clickEffect" fill="hold" presetClass="emph" presetID="7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540" dur="50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541" dur="50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2" nodeType="withEffect" fill="hold" presetClass="emph" presetID="7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543" dur="50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ff00"/>
                                      </p:to>
                                    </p:animClr>
                                    <p:set>
                                      <p:cBhvr>
                                        <p:cTn id="544" dur="50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5" fill="hold">
                      <p:stCondLst>
                        <p:cond delay="indefinite"/>
                      </p:stCondLst>
                      <p:childTnLst>
                        <p:par>
                          <p:cTn id="546" fill="hold">
                            <p:stCondLst>
                              <p:cond delay="0"/>
                            </p:stCondLst>
                            <p:childTnLst>
                              <p:par>
                                <p:cTn id="547" nodeType="clickEffect" fill="hold" presetClass="emph" presetID="1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548" dur="50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95959"/>
                                      </p:to>
                                    </p:animClr>
                                    <p:set>
                                      <p:cBhvr>
                                        <p:cTn id="549" dur="50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50" dur="50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1" fill="hold">
                      <p:stCondLst>
                        <p:cond delay="indefinite"/>
                      </p:stCondLst>
                      <p:childTnLst>
                        <p:par>
                          <p:cTn id="552" fill="hold">
                            <p:stCondLst>
                              <p:cond delay="0"/>
                            </p:stCondLst>
                            <p:childTnLst>
                              <p:par>
                                <p:cTn id="553" nodeType="clickEffect" fill="hold" presetClass="emph" presetID="7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554" dur="50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a661c"/>
                                      </p:to>
                                    </p:animClr>
                                    <p:set>
                                      <p:cBhvr>
                                        <p:cTn id="555" dur="50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6" nodeType="withEffect" fill="hold" presetClass="emph" presetID="7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557" dur="50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ff00"/>
                                      </p:to>
                                    </p:animClr>
                                    <p:set>
                                      <p:cBhvr>
                                        <p:cTn id="558" dur="50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9" fill="hold">
                      <p:stCondLst>
                        <p:cond delay="indefinite"/>
                      </p:stCondLst>
                      <p:childTnLst>
                        <p:par>
                          <p:cTn id="560" fill="hold">
                            <p:stCondLst>
                              <p:cond delay="0"/>
                            </p:stCondLst>
                            <p:childTnLst>
                              <p:par>
                                <p:cTn id="561" nodeType="clickEffect" fill="hold" presetClass="emph" presetID="7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562" dur="50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563" dur="50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4" nodeType="withEffect" fill="hold" presetClass="emph" presetID="7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565" dur="50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ff00"/>
                                      </p:to>
                                    </p:animClr>
                                    <p:set>
                                      <p:cBhvr>
                                        <p:cTn id="566" dur="50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7" fill="hold">
                      <p:stCondLst>
                        <p:cond delay="indefinite"/>
                      </p:stCondLst>
                      <p:childTnLst>
                        <p:par>
                          <p:cTn id="568" fill="hold">
                            <p:stCondLst>
                              <p:cond delay="0"/>
                            </p:stCondLst>
                            <p:childTnLst>
                              <p:par>
                                <p:cTn id="569" nodeType="clickEffect" fill="hold" presetClass="emph" presetID="1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570" dur="50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95959"/>
                                      </p:to>
                                    </p:animClr>
                                    <p:set>
                                      <p:cBhvr>
                                        <p:cTn id="571" dur="50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72" dur="50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3" fill="hold">
                      <p:stCondLst>
                        <p:cond delay="indefinite"/>
                      </p:stCondLst>
                      <p:childTnLst>
                        <p:par>
                          <p:cTn id="574" fill="hold">
                            <p:stCondLst>
                              <p:cond delay="0"/>
                            </p:stCondLst>
                            <p:childTnLst>
                              <p:par>
                                <p:cTn id="575" nodeType="clickEffect" fill="hold" presetClass="emph" presetID="7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576" dur="50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6600"/>
                                      </p:to>
                                    </p:animClr>
                                    <p:set>
                                      <p:cBhvr>
                                        <p:cTn id="577" dur="50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8" nodeType="withEffect" fill="hold" presetClass="emph" presetID="7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579" dur="50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ff00"/>
                                      </p:to>
                                    </p:animClr>
                                    <p:set>
                                      <p:cBhvr>
                                        <p:cTn id="580" dur="50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1" fill="hold">
                      <p:stCondLst>
                        <p:cond delay="indefinite"/>
                      </p:stCondLst>
                      <p:childTnLst>
                        <p:par>
                          <p:cTn id="582" fill="hold">
                            <p:stCondLst>
                              <p:cond delay="0"/>
                            </p:stCondLst>
                            <p:childTnLst>
                              <p:par>
                                <p:cTn id="583" nodeType="clickEffect" fill="hold" presetClass="emph" presetID="1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584" dur="50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95959"/>
                                      </p:to>
                                    </p:animClr>
                                    <p:set>
                                      <p:cBhvr>
                                        <p:cTn id="585" dur="50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6" dur="50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/>
          </p:nvPr>
        </p:nvSpPr>
        <p:spPr>
          <a:xfrm>
            <a:off x="2478240" y="1874880"/>
            <a:ext cx="7234920" cy="426924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 fontScale="81111"/>
          </a:bodyPr>
          <a:p>
            <a:pPr marL="91440" indent="-91440" defTabSz="914400">
              <a:lnSpc>
                <a:spcPct val="100000"/>
              </a:lnSpc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800" spc="-1" strike="noStrike" u="sng">
                <a:solidFill>
                  <a:schemeClr val="lt1"/>
                </a:solidFill>
                <a:uFillTx/>
                <a:latin typeface="Garamond"/>
                <a:ea typeface="ＭＳ Ｐゴシック"/>
              </a:rPr>
              <a:t>Benefits</a:t>
            </a:r>
            <a:endParaRPr b="0" lang="en-US" sz="2800" spc="-1" strike="noStrike">
              <a:solidFill>
                <a:schemeClr val="dk1"/>
              </a:solidFill>
              <a:latin typeface="Arial Regular"/>
            </a:endParaRPr>
          </a:p>
          <a:p>
            <a:pPr marL="91440" indent="-91440" defTabSz="914400">
              <a:lnSpc>
                <a:spcPct val="100000"/>
              </a:lnSpc>
              <a:spcAft>
                <a:spcPts val="201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 </a:t>
            </a:r>
            <a:r>
              <a:rPr b="0" lang="en-US" sz="28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Easy to understand and control</a:t>
            </a:r>
            <a:endParaRPr b="0" lang="en-US" sz="2800" spc="-1" strike="noStrike">
              <a:solidFill>
                <a:schemeClr val="dk1"/>
              </a:solidFill>
              <a:latin typeface="Arial Regular"/>
            </a:endParaRPr>
          </a:p>
          <a:p>
            <a:pPr marL="91440" indent="-91440" defTabSz="914400">
              <a:lnSpc>
                <a:spcPct val="100000"/>
              </a:lnSpc>
              <a:spcAft>
                <a:spcPts val="201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 </a:t>
            </a:r>
            <a:r>
              <a:rPr b="0" lang="en-US" sz="28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Fast run-time execution</a:t>
            </a:r>
            <a:endParaRPr b="0" lang="en-US" sz="2800" spc="-1" strike="noStrike">
              <a:solidFill>
                <a:schemeClr val="dk1"/>
              </a:solidFill>
              <a:latin typeface="Arial Regular"/>
            </a:endParaRPr>
          </a:p>
          <a:p>
            <a:pPr marL="91440" indent="-91440" defTabSz="914400">
              <a:lnSpc>
                <a:spcPct val="100000"/>
              </a:lnSpc>
              <a:spcAft>
                <a:spcPts val="201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 </a:t>
            </a:r>
            <a:r>
              <a:rPr b="0" lang="en-US" sz="28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Flexible / scalable in complexity</a:t>
            </a:r>
            <a:endParaRPr b="0" lang="en-US" sz="2800" spc="-1" strike="noStrike">
              <a:solidFill>
                <a:schemeClr val="dk1"/>
              </a:solidFill>
              <a:latin typeface="Arial Regular"/>
            </a:endParaRPr>
          </a:p>
          <a:p>
            <a:pPr marL="91440" indent="-91440" defTabSz="914400">
              <a:lnSpc>
                <a:spcPct val="100000"/>
              </a:lnSpc>
              <a:spcAft>
                <a:spcPts val="201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 </a:t>
            </a:r>
            <a:r>
              <a:rPr b="0" lang="en-US" sz="28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Can be built and tweaked rapidly (graphical tools)</a:t>
            </a:r>
            <a:endParaRPr b="0" lang="en-US" sz="2800" spc="-1" strike="noStrike">
              <a:solidFill>
                <a:schemeClr val="dk1"/>
              </a:solidFill>
              <a:latin typeface="Arial Regular"/>
            </a:endParaRPr>
          </a:p>
          <a:p>
            <a:pPr marL="91440" indent="-91440" defTabSz="914400">
              <a:lnSpc>
                <a:spcPct val="100000"/>
              </a:lnSpc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2800" spc="-1" strike="noStrike">
              <a:solidFill>
                <a:schemeClr val="dk1"/>
              </a:solidFill>
              <a:latin typeface="Arial Regular"/>
            </a:endParaRPr>
          </a:p>
          <a:p>
            <a:pPr marL="91440" indent="-91440" defTabSz="914400">
              <a:lnSpc>
                <a:spcPct val="100000"/>
              </a:lnSpc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800" spc="-1" strike="noStrike" u="sng">
                <a:solidFill>
                  <a:schemeClr val="lt1"/>
                </a:solidFill>
                <a:uFillTx/>
                <a:latin typeface="Garamond"/>
                <a:ea typeface="ＭＳ Ｐゴシック"/>
              </a:rPr>
              <a:t>Drawbacks</a:t>
            </a:r>
            <a:endParaRPr b="0" lang="en-US" sz="2800" spc="-1" strike="noStrike">
              <a:solidFill>
                <a:schemeClr val="dk1"/>
              </a:solidFill>
              <a:latin typeface="Arial Regular"/>
            </a:endParaRPr>
          </a:p>
          <a:p>
            <a:pPr marL="91440" indent="-91440" defTabSz="914400">
              <a:lnSpc>
                <a:spcPct val="100000"/>
              </a:lnSpc>
              <a:spcAft>
                <a:spcPts val="201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 </a:t>
            </a:r>
            <a:r>
              <a:rPr b="0" lang="en-US" sz="28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Emergent behavior techniques not well developed</a:t>
            </a:r>
            <a:endParaRPr b="0" lang="en-US" sz="2800" spc="-1" strike="noStrike">
              <a:solidFill>
                <a:schemeClr val="dk1"/>
              </a:solidFill>
              <a:latin typeface="Arial Regular"/>
            </a:endParaRPr>
          </a:p>
          <a:p>
            <a:pPr marL="91440" indent="-91440" defTabSz="914400">
              <a:lnSpc>
                <a:spcPct val="100000"/>
              </a:lnSpc>
              <a:spcAft>
                <a:spcPts val="201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 </a:t>
            </a:r>
            <a:r>
              <a:rPr b="0" lang="en-US" sz="28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Slow to respond to urgent events</a:t>
            </a:r>
            <a:endParaRPr b="0" lang="en-US" sz="2800" spc="-1" strike="noStrike">
              <a:solidFill>
                <a:schemeClr val="dk1"/>
              </a:solidFill>
              <a:latin typeface="Arial Regular"/>
            </a:endParaRPr>
          </a:p>
        </p:txBody>
      </p:sp>
      <p:sp>
        <p:nvSpPr>
          <p:cNvPr id="232" name="PlaceHolder 2"/>
          <p:cNvSpPr>
            <a:spLocks noGrp="1"/>
          </p:cNvSpPr>
          <p:nvPr>
            <p:ph type="title"/>
          </p:nvPr>
        </p:nvSpPr>
        <p:spPr>
          <a:xfrm>
            <a:off x="1981080" y="461520"/>
            <a:ext cx="8229240" cy="93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ctr">
            <a:noAutofit/>
          </a:bodyPr>
          <a:p>
            <a:pPr indent="0" algn="ctr" defTabSz="914400">
              <a:lnSpc>
                <a:spcPct val="80000"/>
              </a:lnSpc>
              <a:buNone/>
            </a:pPr>
            <a:r>
              <a:rPr b="1" lang="en-US" sz="4800" spc="97" strike="noStrike">
                <a:solidFill>
                  <a:schemeClr val="lt1"/>
                </a:solidFill>
                <a:latin typeface="Garamond"/>
              </a:rPr>
              <a:t>Behavior Trees</a:t>
            </a:r>
            <a:endParaRPr b="0" lang="en-US" sz="4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33" name="Rectangle 2"/>
          <p:cNvSpPr/>
          <p:nvPr/>
        </p:nvSpPr>
        <p:spPr>
          <a:xfrm>
            <a:off x="1981080" y="1206000"/>
            <a:ext cx="82292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bIns="0" anchor="ctr">
            <a:noAutofit/>
          </a:bodyPr>
          <a:p>
            <a:pPr algn="ctr" defTabSz="914400">
              <a:lnSpc>
                <a:spcPct val="80000"/>
              </a:lnSpc>
            </a:pPr>
            <a:r>
              <a:rPr b="0" lang="en-US" sz="3200" spc="97" strike="noStrike">
                <a:solidFill>
                  <a:schemeClr val="lt1"/>
                </a:solidFill>
                <a:latin typeface="Garamond"/>
              </a:rPr>
              <a:t>Benefits &amp; Drawbacks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87" dur="indefinite" restart="never" nodeType="tmRoot">
          <p:childTnLst>
            <p:seq>
              <p:cTn id="588" dur="indefinite" nodeType="mainSeq">
                <p:childTnLst>
                  <p:par>
                    <p:cTn id="589" nodeType="clickEffect" fill="hold">
                      <p:stCondLst>
                        <p:cond delay="indefinite"/>
                      </p:stCondLst>
                      <p:childTnLst>
                        <p:par>
                          <p:cTn id="59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91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93" dur="500"/>
                                        <p:tgtEl>
                                          <p:spTgt spid="2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4" nodeType="clickEffect" fill="hold">
                      <p:stCondLst>
                        <p:cond delay="indefinite"/>
                      </p:stCondLst>
                      <p:childTnLst>
                        <p:par>
                          <p:cTn id="59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96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98" dur="500"/>
                                        <p:tgtEl>
                                          <p:spTgt spid="2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9" nodeType="clickEffect" fill="hold">
                      <p:stCondLst>
                        <p:cond delay="indefinite"/>
                      </p:stCondLst>
                      <p:childTnLst>
                        <p:par>
                          <p:cTn id="60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01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03" dur="500"/>
                                        <p:tgtEl>
                                          <p:spTgt spid="2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4" nodeType="clickEffect" fill="hold">
                      <p:stCondLst>
                        <p:cond delay="indefinite"/>
                      </p:stCondLst>
                      <p:childTnLst>
                        <p:par>
                          <p:cTn id="60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06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08" dur="500"/>
                                        <p:tgtEl>
                                          <p:spTgt spid="2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9" fill="hold">
                      <p:stCondLst>
                        <p:cond delay="indefinite"/>
                      </p:stCondLst>
                      <p:childTnLst>
                        <p:par>
                          <p:cTn id="610" fill="hold">
                            <p:stCondLst>
                              <p:cond delay="0"/>
                            </p:stCondLst>
                            <p:childTnLst>
                              <p:par>
                                <p:cTn id="611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13" dur="500"/>
                                        <p:tgtEl>
                                          <p:spTgt spid="2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4" nodeType="clickEffect" fill="hold">
                      <p:stCondLst>
                        <p:cond delay="indefinite"/>
                      </p:stCondLst>
                      <p:childTnLst>
                        <p:par>
                          <p:cTn id="61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16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18" dur="500"/>
                                        <p:tgtEl>
                                          <p:spTgt spid="2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9" fill="hold">
                      <p:stCondLst>
                        <p:cond delay="indefinite"/>
                      </p:stCondLst>
                      <p:childTnLst>
                        <p:par>
                          <p:cTn id="620" fill="hold">
                            <p:stCondLst>
                              <p:cond delay="0"/>
                            </p:stCondLst>
                            <p:childTnLst>
                              <p:par>
                                <p:cTn id="621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23" dur="500"/>
                                        <p:tgtEl>
                                          <p:spTgt spid="2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4" nodeType="clickEffect" fill="hold">
                      <p:stCondLst>
                        <p:cond delay="indefinite"/>
                      </p:stCondLst>
                      <p:childTnLst>
                        <p:par>
                          <p:cTn id="62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26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28" dur="500"/>
                                        <p:tgtEl>
                                          <p:spTgt spid="2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title"/>
          </p:nvPr>
        </p:nvSpPr>
        <p:spPr>
          <a:xfrm>
            <a:off x="128160" y="2943000"/>
            <a:ext cx="11935440" cy="80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1" lang="en-US" sz="4000" spc="199" strike="noStrike">
                <a:solidFill>
                  <a:schemeClr val="lt1"/>
                </a:solidFill>
                <a:latin typeface="Arial"/>
              </a:rPr>
              <a:t>Fin</a:t>
            </a:r>
            <a:endParaRPr b="0" lang="en-US" sz="40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Integral">
  <a:themeElements>
    <a:clrScheme name="cap4053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ff00ff"/>
      </a:accent1>
      <a:accent2>
        <a:srgbClr val="70fbdf"/>
      </a:accent2>
      <a:accent3>
        <a:srgbClr val="90d850"/>
      </a:accent3>
      <a:accent4>
        <a:srgbClr val="ec3323"/>
      </a:accent4>
      <a:accent5>
        <a:srgbClr val="fafd59"/>
      </a:accent5>
      <a:accent6>
        <a:srgbClr val="f97c15"/>
      </a:accent6>
      <a:hlink>
        <a:srgbClr val="113ea7"/>
      </a:hlink>
      <a:folHlink>
        <a:srgbClr val="b2b8b3"/>
      </a:folHlink>
    </a:clrScheme>
    <a:fontScheme name="Arial">
      <a:majorFont>
        <a:latin typeface="Arial" panose="020B0604020202020204" pitchFamily="0" charset="1"/>
        <a:ea typeface=""/>
        <a:cs typeface=""/>
      </a:majorFont>
      <a:minorFont>
        <a:latin typeface="Arial" panose="020B06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83000"/>
                <a:lumMod val="100000"/>
              </a:schemeClr>
            </a:gs>
            <a:gs pos="100000">
              <a:schemeClr val="phClr">
                <a:tint val="61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tint val="100000"/>
                <a:shade val="85000"/>
                <a:lumMod val="100000"/>
              </a:schemeClr>
            </a:gs>
            <a:gs pos="100000">
              <a:schemeClr val="phClr">
                <a:tint val="90000"/>
                <a:shade val="100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190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</a:schemeClr>
        </a:solidFill>
        <a:blipFill rotWithShape="1">
          <a:srcRect l="0" t="0" r="0" b="0"/>
          <a:tile tx="0" ty="0" sx="40000" sy="40000" flip="none" algn="tl"/>
        </a:blip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ntegral">
  <a:themeElements>
    <a:clrScheme name="cap4053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ff00ff"/>
      </a:accent1>
      <a:accent2>
        <a:srgbClr val="70fbdf"/>
      </a:accent2>
      <a:accent3>
        <a:srgbClr val="90d850"/>
      </a:accent3>
      <a:accent4>
        <a:srgbClr val="ec3323"/>
      </a:accent4>
      <a:accent5>
        <a:srgbClr val="fafd59"/>
      </a:accent5>
      <a:accent6>
        <a:srgbClr val="f97c15"/>
      </a:accent6>
      <a:hlink>
        <a:srgbClr val="113ea7"/>
      </a:hlink>
      <a:folHlink>
        <a:srgbClr val="b2b8b3"/>
      </a:folHlink>
    </a:clrScheme>
    <a:fontScheme name="Arial">
      <a:majorFont>
        <a:latin typeface="Arial" panose="020B0604020202020204" pitchFamily="0" charset="1"/>
        <a:ea typeface=""/>
        <a:cs typeface=""/>
      </a:majorFont>
      <a:minorFont>
        <a:latin typeface="Arial" panose="020B06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83000"/>
                <a:lumMod val="100000"/>
              </a:schemeClr>
            </a:gs>
            <a:gs pos="100000">
              <a:schemeClr val="phClr">
                <a:tint val="61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tint val="100000"/>
                <a:shade val="85000"/>
                <a:lumMod val="100000"/>
              </a:schemeClr>
            </a:gs>
            <a:gs pos="100000">
              <a:schemeClr val="phClr">
                <a:tint val="90000"/>
                <a:shade val="100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190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</a:schemeClr>
        </a:solidFill>
        <a:blipFill rotWithShape="1">
          <a:srcRect l="0" t="0" r="0" b="0"/>
          <a:tile tx="0" ty="0" sx="40000" sy="40000" flip="none" algn="tl"/>
        </a:blip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Integral">
  <a:themeElements>
    <a:clrScheme name="cap4053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ff00ff"/>
      </a:accent1>
      <a:accent2>
        <a:srgbClr val="70fbdf"/>
      </a:accent2>
      <a:accent3>
        <a:srgbClr val="90d850"/>
      </a:accent3>
      <a:accent4>
        <a:srgbClr val="ec3323"/>
      </a:accent4>
      <a:accent5>
        <a:srgbClr val="fafd59"/>
      </a:accent5>
      <a:accent6>
        <a:srgbClr val="f97c15"/>
      </a:accent6>
      <a:hlink>
        <a:srgbClr val="113ea7"/>
      </a:hlink>
      <a:folHlink>
        <a:srgbClr val="b2b8b3"/>
      </a:folHlink>
    </a:clrScheme>
    <a:fontScheme name="Arial">
      <a:majorFont>
        <a:latin typeface="Arial" panose="020B0604020202020204" pitchFamily="0" charset="1"/>
        <a:ea typeface=""/>
        <a:cs typeface=""/>
      </a:majorFont>
      <a:minorFont>
        <a:latin typeface="Arial" panose="020B06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83000"/>
                <a:lumMod val="100000"/>
              </a:schemeClr>
            </a:gs>
            <a:gs pos="100000">
              <a:schemeClr val="phClr">
                <a:tint val="61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tint val="100000"/>
                <a:shade val="85000"/>
                <a:lumMod val="100000"/>
              </a:schemeClr>
            </a:gs>
            <a:gs pos="100000">
              <a:schemeClr val="phClr">
                <a:tint val="90000"/>
                <a:shade val="100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190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</a:schemeClr>
        </a:solidFill>
        <a:blipFill rotWithShape="1">
          <a:srcRect l="0" t="0" r="0" b="0"/>
          <a:tile tx="0" ty="0" sx="40000" sy="40000" flip="none" algn="tl"/>
        </a:blip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cap4053_ppt_template</Template>
  <TotalTime>758</TotalTime>
  <Application>LibreOffice/24.2.7.2$Linux_X86_64 LibreOffice_project/420$Build-2</Application>
  <AppVersion>15.0000</AppVersion>
  <Words>598</Words>
  <Paragraphs>173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2018-09-23T01:33:33Z</dcterms:created>
  <dc:creator>Jeremiah Blanchard</dc:creator>
  <dc:description/>
  <dc:language>ja-JP</dc:language>
  <cp:lastModifiedBy>Jeremiah Blanchard</cp:lastModifiedBy>
  <dcterms:modified xsi:type="dcterms:W3CDTF">2025-11-04T09:36:04Z</dcterms:modified>
  <cp:revision>124</cp:revision>
  <dc:subject/>
  <dc:title>Fundamentals of AI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8A5176DE-1C3A-4C5F-BD19-F0ED2390E70E</vt:lpwstr>
  </property>
  <property fmtid="{D5CDD505-2E9C-101B-9397-08002B2CF9AE}" pid="3" name="ArticulatePath">
    <vt:lpwstr>Presentation2</vt:lpwstr>
  </property>
  <property fmtid="{D5CDD505-2E9C-101B-9397-08002B2CF9AE}" pid="4" name="ArticulateProjectFull">
    <vt:lpwstr>H:\PowerPoint training for IDs\COIP-PPT-example-template.ppta</vt:lpwstr>
  </property>
  <property fmtid="{D5CDD505-2E9C-101B-9397-08002B2CF9AE}" pid="5" name="ArticulateProjectVersion">
    <vt:lpwstr>8</vt:lpwstr>
  </property>
  <property fmtid="{D5CDD505-2E9C-101B-9397-08002B2CF9AE}" pid="6" name="ArticulateUseProject">
    <vt:lpwstr>1</vt:lpwstr>
  </property>
  <property fmtid="{D5CDD505-2E9C-101B-9397-08002B2CF9AE}" pid="7" name="Notes">
    <vt:i4>10</vt:i4>
  </property>
  <property fmtid="{D5CDD505-2E9C-101B-9397-08002B2CF9AE}" pid="8" name="PresentationFormat">
    <vt:lpwstr>Widescreen</vt:lpwstr>
  </property>
  <property fmtid="{D5CDD505-2E9C-101B-9397-08002B2CF9AE}" pid="9" name="Slides">
    <vt:i4>12</vt:i4>
  </property>
</Properties>
</file>