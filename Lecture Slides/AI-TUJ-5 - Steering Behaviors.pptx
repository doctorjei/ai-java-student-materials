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svg" ContentType="image/svg"/>
  <Override PartName="/ppt/media/image7.png" ContentType="image/png"/>
  <Override PartName="/ppt/media/image11.png" ContentType="image/png"/>
  <Override PartName="/ppt/media/image5.png" ContentType="image/png"/>
  <Override PartName="/ppt/media/image6.svg" ContentType="image/svg"/>
  <Override PartName="/ppt/media/image9.png" ContentType="image/png"/>
  <Override PartName="/ppt/media/image10.svg" ContentType="image/svg"/>
  <Override PartName="/ppt/media/image8.svg" ContentType="image/svg"/>
  <Override PartName="/ppt/media/image12.svg" ContentType="image/sv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JP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JP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JP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 algn="r">
              <a:buNone/>
            </a:pPr>
            <a:fld id="{173D18AB-799C-4CBF-85A0-98279D09F400}" type="slidenum">
              <a:rPr b="0" lang="en-US" sz="1400" spc="-1" strike="noStrike">
                <a:solidFill>
                  <a:srgbClr val="000000"/>
                </a:solidFill>
                <a:latin typeface="Noto Serif CJK JP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C73E8E6-37ED-40C1-A235-E8CEB48972B4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1FB443D-5B06-4881-9648-68DCAD489CCF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298CB1B-9B10-4DF5-B515-CB92AE7DDED8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87B0BD6-D27E-46DC-96C3-804D9D6B37F9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8F2EE41-6C6B-4939-A644-4BF1138027C1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1FFEEE6-45AA-4993-8EAB-4533C93B7629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svg"/><Relationship Id="rId3" Type="http://schemas.openxmlformats.org/officeDocument/2006/relationships/image" Target="../media/image11.png"/><Relationship Id="rId4" Type="http://schemas.openxmlformats.org/officeDocument/2006/relationships/image" Target="../media/image12.sv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/>
          </p:nvPr>
        </p:nvSpPr>
        <p:spPr>
          <a:xfrm>
            <a:off x="879120" y="4998960"/>
            <a:ext cx="10433160" cy="46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Flocking and other Techniques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title"/>
          </p:nvPr>
        </p:nvSpPr>
        <p:spPr>
          <a:xfrm>
            <a:off x="736200" y="1526760"/>
            <a:ext cx="10719000" cy="79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6666"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6000" spc="94" strike="noStrike">
                <a:solidFill>
                  <a:schemeClr val="lt1"/>
                </a:solidFill>
                <a:latin typeface="Garamond"/>
              </a:rPr>
              <a:t>Steering Behaviors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" name="Graphic 4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4748040" y="2231640"/>
            <a:ext cx="2694960" cy="259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68720" y="253800"/>
            <a:ext cx="11253960" cy="69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94" strike="noStrike">
                <a:solidFill>
                  <a:schemeClr val="lt1"/>
                </a:solidFill>
                <a:latin typeface="Garamond"/>
              </a:rPr>
              <a:t>Steering Behaviors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2135880" y="1082520"/>
            <a:ext cx="8316360" cy="56286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8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Steering behaviors dictate how an agent moves.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8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marL="91440" indent="0" defTabSz="914400">
              <a:lnSpc>
                <a:spcPct val="8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800" spc="-1" strike="noStrike" u="sng">
                <a:solidFill>
                  <a:srgbClr val="ffffff"/>
                </a:solidFill>
                <a:uFillTx/>
                <a:latin typeface="Arial Regular"/>
              </a:rPr>
              <a:t>Steering behaviors…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1" marL="9144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Use a steering vector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1" marL="9144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Use (conflicting) behaviors as influences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1" marL="9144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Usually involve incremental changes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1" marL="9144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Usually produce lifelike behavior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marL="91440" indent="0" defTabSz="914400">
              <a:lnSpc>
                <a:spcPct val="8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br>
              <a:rPr sz="2800"/>
            </a:br>
            <a:r>
              <a:rPr b="0" lang="en-US" sz="2800" spc="-1" strike="noStrike" u="sng">
                <a:solidFill>
                  <a:srgbClr val="ffffff"/>
                </a:solidFill>
                <a:uFillTx/>
                <a:latin typeface="Arial Regular"/>
              </a:rPr>
              <a:t>Some common steering behaviors: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1" marL="9144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Individual Path Following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1" marL="9144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Crowd Path Following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1" marL="9144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Flocking &amp; Swarming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" name="Graphic 2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989480" y="4104360"/>
            <a:ext cx="2498760" cy="249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nodeType="clickEffect" fill="hold">
                      <p:stCondLst>
                        <p:cond delay="indefinite"/>
                      </p:stCondLst>
                      <p:childTnLst>
                        <p:par>
                          <p:cTn id="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nodeType="clickEffect" fill="hold">
                      <p:stCondLst>
                        <p:cond delay="indefinite"/>
                      </p:stCondLst>
                      <p:childTnLst>
                        <p:par>
                          <p:cTn id="3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7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2" dur="5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7" dur="500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2" dur="500"/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981080" y="13032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94" strike="noStrike">
                <a:solidFill>
                  <a:schemeClr val="lt1"/>
                </a:solidFill>
                <a:latin typeface="Garamond"/>
              </a:rPr>
              <a:t>Path Following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604880" y="1355760"/>
            <a:ext cx="9309240" cy="52254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 u="sng">
                <a:solidFill>
                  <a:srgbClr val="ffffff"/>
                </a:solidFill>
                <a:uFillTx/>
                <a:latin typeface="Arial Regular"/>
              </a:rPr>
              <a:t>Path Following</a:t>
            </a: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 is steering behavior used to follow a target path.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 u="sng">
                <a:solidFill>
                  <a:srgbClr val="ffffff"/>
                </a:solidFill>
                <a:uFillTx/>
                <a:latin typeface="Arial Regular"/>
              </a:rPr>
              <a:t>Path Following: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9144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Operates on a predefined path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9144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Follows general direction of path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9144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Applies a force in the direction of the path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 u="sng">
                <a:solidFill>
                  <a:srgbClr val="ffffff"/>
                </a:solidFill>
                <a:uFillTx/>
                <a:latin typeface="Arial Regular"/>
              </a:rPr>
              <a:t>Path Following Isn’t: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9144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A rigid process to match a path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9144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A way to find a valid path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Crowd Path Following introduces separation.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" name="Graphic 4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629480" y="3710880"/>
            <a:ext cx="2847600" cy="2278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3" dur="indefinite" restart="never" nodeType="tmRoot">
          <p:childTnLst>
            <p:seq>
              <p:cTn id="54" dur="indefinite" nodeType="mainSeq">
                <p:childTnLst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9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4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9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4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9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4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68720" y="325080"/>
            <a:ext cx="11253960" cy="69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94" strike="noStrike">
                <a:solidFill>
                  <a:schemeClr val="lt1"/>
                </a:solidFill>
                <a:latin typeface="Garamond"/>
              </a:rPr>
              <a:t>Flocking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64400" y="1152000"/>
            <a:ext cx="10508760" cy="52495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indent="0" defTabSz="914400">
              <a:lnSpc>
                <a:spcPct val="8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Flocking is a steering technique that incorporates several factors</a:t>
            </a:r>
            <a:br>
              <a:rPr sz="2400"/>
            </a:b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to create lifelike flock &amp; swarm behaviors.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80000"/>
              </a:lnSpc>
              <a:spcBef>
                <a:spcPts val="601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80000"/>
              </a:lnSpc>
              <a:spcBef>
                <a:spcPts val="601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 u="sng">
                <a:solidFill>
                  <a:srgbClr val="ffffff"/>
                </a:solidFill>
                <a:uFillTx/>
                <a:latin typeface="Arial Regular"/>
              </a:rPr>
              <a:t>In Flocking…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Individual agents have own steering vectors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Influence of behaviors determined by a strength weight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Behaviors influence individuals incrementally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Direction changes determined by group average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80000"/>
              </a:lnSpc>
              <a:spcBef>
                <a:spcPts val="601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80000"/>
              </a:lnSpc>
              <a:spcBef>
                <a:spcPts val="601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 u="sng">
                <a:solidFill>
                  <a:srgbClr val="ffffff"/>
                </a:solidFill>
                <a:uFillTx/>
                <a:latin typeface="Arial Regular"/>
              </a:rPr>
              <a:t>Three main forces in flocking generate group behaviors: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Alignment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Cohesion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Separation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" name="Graphic 12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8888040" y="3654000"/>
            <a:ext cx="2722320" cy="2954520"/>
          </a:xfrm>
          <a:prstGeom prst="rect">
            <a:avLst/>
          </a:prstGeom>
          <a:ln w="0">
            <a:noFill/>
          </a:ln>
        </p:spPr>
      </p:pic>
      <p:pic>
        <p:nvPicPr>
          <p:cNvPr id="24" name="Graphic 14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  <a:lum bright="70000" contrast="-70000"/>
          </a:blip>
          <a:stretch/>
        </p:blipFill>
        <p:spPr>
          <a:xfrm>
            <a:off x="8711640" y="1543680"/>
            <a:ext cx="2967840" cy="199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5" dur="indefinite" restart="never" nodeType="tmRoot">
          <p:childTnLst>
            <p:seq>
              <p:cTn id="86" dur="indefinite" nodeType="mainSeq">
                <p:childTnLst>
                  <p:par>
                    <p:cTn id="87" nodeType="clickEffect" fill="hold">
                      <p:stCondLst>
                        <p:cond delay="indefinite"/>
                      </p:stCondLst>
                      <p:childTnLst>
                        <p:par>
                          <p:cTn id="8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1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nodeType="clickEffect" fill="hold">
                      <p:stCondLst>
                        <p:cond delay="indefinite"/>
                      </p:stCondLst>
                      <p:childTnLst>
                        <p:par>
                          <p:cTn id="9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6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01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06" dur="5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11" dur="500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16" dur="500"/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nodeType="clickEffect" fill="hold">
                      <p:stCondLst>
                        <p:cond delay="indefinite"/>
                      </p:stCondLst>
                      <p:childTnLst>
                        <p:par>
                          <p:cTn id="11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1" dur="500"/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6" dur="500"/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31" dur="500"/>
                                        <p:tgtEl>
                                          <p:spTgt spid="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36" dur="500"/>
                                        <p:tgtEl>
                                          <p:spTgt spid="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533240" y="263160"/>
            <a:ext cx="9408600" cy="76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94" strike="noStrike">
                <a:solidFill>
                  <a:schemeClr val="lt1"/>
                </a:solidFill>
                <a:latin typeface="Garamond"/>
              </a:rPr>
              <a:t>Flocking Implementation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Content Placeholder 2"/>
          <p:cNvSpPr/>
          <p:nvPr/>
        </p:nvSpPr>
        <p:spPr>
          <a:xfrm>
            <a:off x="557640" y="1234080"/>
            <a:ext cx="4009680" cy="5350680"/>
          </a:xfrm>
          <a:prstGeom prst="rect">
            <a:avLst/>
          </a:prstGeom>
          <a:solidFill>
            <a:srgbClr val="002060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class Flock: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boids = []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avg_forward = vector()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avg_position = vector()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alignment_strength = 1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cohesion_strength = 1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separation_strength = 1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flock_radius = 10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# Method List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#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# update(delta_time)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# calc_alignment_accel(boid)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# calc_cohesion_accel(boid)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# calc_separation_accel(boid)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...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Content Placeholder 2"/>
          <p:cNvSpPr/>
          <p:nvPr/>
        </p:nvSpPr>
        <p:spPr>
          <a:xfrm>
            <a:off x="4848120" y="1234080"/>
            <a:ext cx="6953400" cy="5350680"/>
          </a:xfrm>
          <a:prstGeom prst="rect">
            <a:avLst/>
          </a:prstGeom>
          <a:solidFill>
            <a:srgbClr val="002060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def update(self, delta_time):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self.avg_forward = get_avg_forward(self.boids)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self.avg_position = get_avg_position(self.boids)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for boid in boids: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  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accel = self.calc_alignment_accel(boid)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  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accel = accel + self.calc_cohesion_accel(boid)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  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accel = accel + self.calc_separation_accel(boid)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  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accel = accel * boid.max_speed * delta_time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  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boid.velocity = boid.velocity + accel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  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# Cap magnitude based on the boid's max speed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  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if boid.velocity.get_magnitude() &gt; boid.max_speed: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    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boid.velocity.normalize()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    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boid.velocity = boid.velocity * boid.max_speed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  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boid.update()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...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7" dur="indefinite" restart="never" nodeType="tmRoot">
          <p:childTnLst>
            <p:seq>
              <p:cTn id="138" dur="indefinite" nodeType="mainSeq">
                <p:childTnLst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8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3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8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3" dur="500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8" dur="500"/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3" dur="500"/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8" dur="500"/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3" dur="500"/>
                                        <p:tgtEl>
                                          <p:spTgt spid="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8" dur="500"/>
                                        <p:tgtEl>
                                          <p:spTgt spid="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3" dur="500"/>
                                        <p:tgtEl>
                                          <p:spTgt spid="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8" dur="500"/>
                                        <p:tgtEl>
                                          <p:spTgt spid="2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3" dur="500"/>
                                        <p:tgtEl>
                                          <p:spTgt spid="2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8" dur="500"/>
                                        <p:tgtEl>
                                          <p:spTgt spid="2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3" dur="500"/>
                                        <p:tgtEl>
                                          <p:spTgt spid="2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8" dur="500"/>
                                        <p:tgtEl>
                                          <p:spTgt spid="2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8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3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8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3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8" dur="500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3" dur="500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8" dur="500"/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3" dur="500"/>
                                        <p:tgtEl>
                                          <p:spTgt spid="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8" dur="500"/>
                                        <p:tgtEl>
                                          <p:spTgt spid="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3" dur="500"/>
                                        <p:tgtEl>
                                          <p:spTgt spid="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8" dur="500"/>
                                        <p:tgtEl>
                                          <p:spTgt spid="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3" dur="500"/>
                                        <p:tgtEl>
                                          <p:spTgt spid="2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8" dur="500"/>
                                        <p:tgtEl>
                                          <p:spTgt spid="2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3" dur="500"/>
                                        <p:tgtEl>
                                          <p:spTgt spid="2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8" dur="500"/>
                                        <p:tgtEl>
                                          <p:spTgt spid="2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477080" y="577440"/>
            <a:ext cx="9100080" cy="76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94" strike="noStrike">
                <a:solidFill>
                  <a:schemeClr val="lt1"/>
                </a:solidFill>
                <a:latin typeface="Garamond"/>
              </a:rPr>
              <a:t>Flocking Implementation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Content Placeholder 2"/>
          <p:cNvSpPr/>
          <p:nvPr/>
        </p:nvSpPr>
        <p:spPr>
          <a:xfrm>
            <a:off x="575280" y="1565640"/>
            <a:ext cx="5433480" cy="2392920"/>
          </a:xfrm>
          <a:prstGeom prst="rect">
            <a:avLst/>
          </a:prstGeom>
          <a:solidFill>
            <a:srgbClr val="002060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def calc_alignment_accel(self, boid):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accel = self.avg_forward / boid.max_speed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if accel.get_magnitude() &gt; 1: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accel.normalize()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return accel * self.alignment_strength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...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Content Placeholder 2"/>
          <p:cNvSpPr/>
          <p:nvPr/>
        </p:nvSpPr>
        <p:spPr>
          <a:xfrm>
            <a:off x="6225120" y="2913120"/>
            <a:ext cx="5354640" cy="3298680"/>
          </a:xfrm>
          <a:prstGeom prst="rect">
            <a:avLst/>
          </a:prstGeom>
          <a:solidFill>
            <a:srgbClr val="002060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def calc_cohesion_accel(self, boid):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accel = self.avg_position – boid.position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distance = accel.get_magnitude()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accel.normalize()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# Set speed based on distance from flock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if distance &lt; self.flock_radius: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accel = accel * distance / flock_radius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return accel * self.cohesion_strength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...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99" dur="indefinite" restart="never" nodeType="tmRoot">
          <p:childTnLst>
            <p:seq>
              <p:cTn id="300" dur="indefinite" nodeType="mainSeq">
                <p:childTnLst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0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5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>
                      <p:stCondLst>
                        <p:cond delay="indefinite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0" dur="500"/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5" dur="500"/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indefinite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0" dur="500"/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5" dur="500"/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5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>
                      <p:stCondLst>
                        <p:cond delay="indefinite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0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5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6" fill="hold">
                      <p:stCondLst>
                        <p:cond delay="indefinite"/>
                      </p:stCondLst>
                      <p:childTnLst>
                        <p:par>
                          <p:cTn id="357" fill="hold">
                            <p:stCondLst>
                              <p:cond delay="0"/>
                            </p:stCondLst>
                            <p:childTnLst>
                              <p:par>
                                <p:cTn id="35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0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5" dur="500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6" fill="hold">
                      <p:stCondLst>
                        <p:cond delay="indefinite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id="36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0" dur="500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>
                      <p:stCondLst>
                        <p:cond delay="indefinite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5" dur="500"/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6" fill="hold">
                      <p:stCondLst>
                        <p:cond delay="indefinite"/>
                      </p:stCondLst>
                      <p:childTnLst>
                        <p:par>
                          <p:cTn id="377" fill="hold">
                            <p:stCondLst>
                              <p:cond delay="0"/>
                            </p:stCondLst>
                            <p:childTnLst>
                              <p:par>
                                <p:cTn id="37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0" dur="500"/>
                                        <p:tgtEl>
                                          <p:spTgt spid="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5" dur="500"/>
                                        <p:tgtEl>
                                          <p:spTgt spid="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757160" y="231840"/>
            <a:ext cx="8992080" cy="76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94" strike="noStrike">
                <a:solidFill>
                  <a:schemeClr val="lt1"/>
                </a:solidFill>
                <a:latin typeface="Garamond"/>
              </a:rPr>
              <a:t>Flocking Implementation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Content Placeholder 2"/>
          <p:cNvSpPr/>
          <p:nvPr/>
        </p:nvSpPr>
        <p:spPr>
          <a:xfrm>
            <a:off x="2933280" y="1126440"/>
            <a:ext cx="6398640" cy="5336640"/>
          </a:xfrm>
          <a:prstGeom prst="rect">
            <a:avLst/>
          </a:prstGeom>
          <a:solidFill>
            <a:srgbClr val="002060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def calc_separation_accel(self, boid):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sum = vector()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for sibling in self.boids: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if boid == sibling: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      </a:t>
            </a: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continue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accel = boid.position – sibling.position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distance = accel.get_magnitude()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safeDistance = boid.safeRadius + sibling.safeRadius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# If a collision is likely…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if distance &lt; safeDistance: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      </a:t>
            </a: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# Scale vector according to how close boids are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      </a:t>
            </a: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accel.normalize()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      </a:t>
            </a: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accel = accel * (safeDistance – distance) / safeDistance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      </a:t>
            </a: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sum = sum + accel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if sum.get_magnitude() &gt; 1.0: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sum.normalize()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return sum * self.separation_strength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86" dur="indefinite" restart="never" nodeType="tmRoot">
          <p:childTnLst>
            <p:seq>
              <p:cTn id="387" dur="indefinite" nodeType="mainSeq">
                <p:childTnLst>
                  <p:par>
                    <p:cTn id="388" fill="hold">
                      <p:stCondLst>
                        <p:cond delay="indefinite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indefinite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7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8" fill="hold">
                      <p:stCondLst>
                        <p:cond delay="indefinite"/>
                      </p:stCondLst>
                      <p:childTnLst>
                        <p:par>
                          <p:cTn id="399" fill="hold">
                            <p:stCondLst>
                              <p:cond delay="0"/>
                            </p:stCondLst>
                            <p:childTnLst>
                              <p:par>
                                <p:cTn id="40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2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indefinite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7" dur="500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8" fill="hold">
                      <p:stCondLst>
                        <p:cond delay="indefinite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id="41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2" dur="500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3" fill="hold">
                      <p:stCondLst>
                        <p:cond delay="indefinite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id="41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7" dur="500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8" fill="hold">
                      <p:stCondLst>
                        <p:cond delay="indefinite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2" dur="500"/>
                                        <p:tgtEl>
                                          <p:spTgt spid="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>
                      <p:stCondLst>
                        <p:cond delay="indefinite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7" dur="500"/>
                                        <p:tgtEl>
                                          <p:spTgt spid="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8" fill="hold">
                      <p:stCondLst>
                        <p:cond delay="indefinite"/>
                      </p:stCondLst>
                      <p:childTnLst>
                        <p:par>
                          <p:cTn id="429" fill="hold">
                            <p:stCondLst>
                              <p:cond delay="0"/>
                            </p:stCondLst>
                            <p:childTnLst>
                              <p:par>
                                <p:cTn id="43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2" dur="500"/>
                                        <p:tgtEl>
                                          <p:spTgt spid="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3" fill="hold">
                      <p:stCondLst>
                        <p:cond delay="indefinite"/>
                      </p:stCondLst>
                      <p:childTnLst>
                        <p:par>
                          <p:cTn id="434" fill="hold">
                            <p:stCondLst>
                              <p:cond delay="0"/>
                            </p:stCondLst>
                            <p:childTnLst>
                              <p:par>
                                <p:cTn id="43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7" dur="500"/>
                                        <p:tgtEl>
                                          <p:spTgt spid="3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8" fill="hold">
                      <p:stCondLst>
                        <p:cond delay="indefinite"/>
                      </p:stCondLst>
                      <p:childTnLst>
                        <p:par>
                          <p:cTn id="439" fill="hold">
                            <p:stCondLst>
                              <p:cond delay="0"/>
                            </p:stCondLst>
                            <p:childTnLst>
                              <p:par>
                                <p:cTn id="44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2" dur="500"/>
                                        <p:tgtEl>
                                          <p:spTgt spid="3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3" fill="hold">
                      <p:stCondLst>
                        <p:cond delay="indefinite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7" dur="500"/>
                                        <p:tgtEl>
                                          <p:spTgt spid="3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8" fill="hold">
                      <p:stCondLst>
                        <p:cond delay="indefinite"/>
                      </p:stCondLst>
                      <p:childTnLst>
                        <p:par>
                          <p:cTn id="449" fill="hold">
                            <p:stCondLst>
                              <p:cond delay="0"/>
                            </p:stCondLst>
                            <p:childTnLst>
                              <p:par>
                                <p:cTn id="45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2" dur="500"/>
                                        <p:tgtEl>
                                          <p:spTgt spid="3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3" fill="hold">
                      <p:stCondLst>
                        <p:cond delay="indefinite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7" dur="500"/>
                                        <p:tgtEl>
                                          <p:spTgt spid="3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8" fill="hold">
                      <p:stCondLst>
                        <p:cond delay="indefinite"/>
                      </p:stCondLst>
                      <p:childTnLst>
                        <p:par>
                          <p:cTn id="459" fill="hold">
                            <p:stCondLst>
                              <p:cond delay="0"/>
                            </p:stCondLst>
                            <p:childTnLst>
                              <p:par>
                                <p:cTn id="46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2" dur="500"/>
                                        <p:tgtEl>
                                          <p:spTgt spid="3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3" fill="hold">
                      <p:stCondLst>
                        <p:cond delay="indefinite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7" dur="500"/>
                                        <p:tgtEl>
                                          <p:spTgt spid="3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8" fill="hold">
                      <p:stCondLst>
                        <p:cond delay="indefinite"/>
                      </p:stCondLst>
                      <p:childTnLst>
                        <p:par>
                          <p:cTn id="469" fill="hold">
                            <p:stCondLst>
                              <p:cond delay="0"/>
                            </p:stCondLst>
                            <p:childTnLst>
                              <p:par>
                                <p:cTn id="47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2" dur="500"/>
                                        <p:tgtEl>
                                          <p:spTgt spid="3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3" fill="hold">
                      <p:stCondLst>
                        <p:cond delay="indefinite"/>
                      </p:stCondLst>
                      <p:childTnLst>
                        <p:par>
                          <p:cTn id="474" fill="hold">
                            <p:stCondLst>
                              <p:cond delay="0"/>
                            </p:stCondLst>
                            <p:childTnLst>
                              <p:par>
                                <p:cTn id="47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7" dur="500"/>
                                        <p:tgtEl>
                                          <p:spTgt spid="3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981080" y="38736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94" strike="noStrike">
                <a:solidFill>
                  <a:schemeClr val="lt1"/>
                </a:solidFill>
                <a:latin typeface="Garamond"/>
              </a:rPr>
              <a:t>Steering Behaviors</a:t>
            </a:r>
            <a:br>
              <a:rPr sz="4800"/>
            </a:br>
            <a:r>
              <a:rPr b="0" lang="en-US" sz="3200" spc="94" strike="noStrike">
                <a:solidFill>
                  <a:schemeClr val="lt1"/>
                </a:solidFill>
                <a:latin typeface="Garamond"/>
              </a:rPr>
              <a:t>Benefits &amp; Drawbacks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1919160" y="1956240"/>
            <a:ext cx="8256240" cy="43243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93333" lnSpcReduction="10000"/>
          </a:bodyPr>
          <a:p>
            <a:pPr marL="91440" indent="-91440" defTabSz="914400">
              <a:lnSpc>
                <a:spcPct val="8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 u="sng">
                <a:solidFill>
                  <a:schemeClr val="lt1"/>
                </a:solidFill>
                <a:uFillTx/>
                <a:latin typeface="Garamond"/>
                <a:ea typeface="ＭＳ Ｐゴシック"/>
              </a:rPr>
              <a:t>Benefits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1" marL="9144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 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Agents retain individual, lifelike behaviors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1" marL="9144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 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Group vectors allow for simple, cheap calculations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1" marL="9144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 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Behavior influence on flock can be increased or reduced easily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1" marL="9144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 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Weight adjustments are immediately realized in agent behavior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1" marL="9144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 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Agents react quickly to changes or obstacles in the world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80000"/>
              </a:lnSpc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8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 u="sng">
                <a:solidFill>
                  <a:schemeClr val="lt1"/>
                </a:solidFill>
                <a:uFillTx/>
                <a:latin typeface="Garamond"/>
                <a:ea typeface="ＭＳ Ｐゴシック"/>
              </a:rPr>
              <a:t>Drawbacks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1" marL="9144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 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Don’t work well in indoor environments or with lots of obstacles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1" marL="9144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 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No built-in constraints, like keeping out of certain areas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1" marL="9144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 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Do not engage in path planning – only motion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1" marL="9144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 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Can be prone to oscillation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78" dur="indefinite" restart="never" nodeType="tmRoot">
          <p:childTnLst>
            <p:seq>
              <p:cTn id="479" dur="indefinite" nodeType="mainSeq">
                <p:childTnLst>
                  <p:par>
                    <p:cTn id="480" nodeType="clickEffect" fill="hold">
                      <p:stCondLst>
                        <p:cond delay="indefinite"/>
                      </p:stCondLst>
                      <p:childTnLst>
                        <p:par>
                          <p:cTn id="48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8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84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5" fill="hold">
                      <p:stCondLst>
                        <p:cond delay="indefinite"/>
                      </p:stCondLst>
                      <p:childTnLst>
                        <p:par>
                          <p:cTn id="486" fill="hold">
                            <p:stCondLst>
                              <p:cond delay="0"/>
                            </p:stCondLst>
                            <p:childTnLst>
                              <p:par>
                                <p:cTn id="48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89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0" fill="hold">
                      <p:stCondLst>
                        <p:cond delay="indefinite"/>
                      </p:stCondLst>
                      <p:childTnLst>
                        <p:par>
                          <p:cTn id="491" fill="hold">
                            <p:stCondLst>
                              <p:cond delay="0"/>
                            </p:stCondLst>
                            <p:childTnLst>
                              <p:par>
                                <p:cTn id="49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94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5" fill="hold">
                      <p:stCondLst>
                        <p:cond delay="indefinite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99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0" fill="hold">
                      <p:stCondLst>
                        <p:cond delay="indefinite"/>
                      </p:stCondLst>
                      <p:childTnLst>
                        <p:par>
                          <p:cTn id="501" fill="hold">
                            <p:stCondLst>
                              <p:cond delay="0"/>
                            </p:stCondLst>
                            <p:childTnLst>
                              <p:par>
                                <p:cTn id="50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04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5" fill="hold">
                      <p:stCondLst>
                        <p:cond delay="indefinite"/>
                      </p:stCondLst>
                      <p:childTnLst>
                        <p:par>
                          <p:cTn id="506" fill="hold">
                            <p:stCondLst>
                              <p:cond delay="0"/>
                            </p:stCondLst>
                            <p:childTnLst>
                              <p:par>
                                <p:cTn id="50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09" dur="5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0" nodeType="clickEffect" fill="hold">
                      <p:stCondLst>
                        <p:cond delay="indefinite"/>
                      </p:stCondLst>
                      <p:childTnLst>
                        <p:par>
                          <p:cTn id="51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1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14" dur="500"/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5" fill="hold">
                      <p:stCondLst>
                        <p:cond delay="indefinite"/>
                      </p:stCondLst>
                      <p:childTnLst>
                        <p:par>
                          <p:cTn id="516" fill="hold">
                            <p:stCondLst>
                              <p:cond delay="0"/>
                            </p:stCondLst>
                            <p:childTnLst>
                              <p:par>
                                <p:cTn id="51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19" dur="500"/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0" fill="hold">
                      <p:stCondLst>
                        <p:cond delay="indefinite"/>
                      </p:stCondLst>
                      <p:childTnLst>
                        <p:par>
                          <p:cTn id="521" fill="hold">
                            <p:stCondLst>
                              <p:cond delay="0"/>
                            </p:stCondLst>
                            <p:childTnLst>
                              <p:par>
                                <p:cTn id="52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24" dur="500"/>
                                        <p:tgtEl>
                                          <p:spTgt spid="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5" fill="hold">
                      <p:stCondLst>
                        <p:cond delay="indefinite"/>
                      </p:stCondLst>
                      <p:childTnLst>
                        <p:par>
                          <p:cTn id="526" fill="hold">
                            <p:stCondLst>
                              <p:cond delay="0"/>
                            </p:stCondLst>
                            <p:childTnLst>
                              <p:par>
                                <p:cTn id="52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29" dur="500"/>
                                        <p:tgtEl>
                                          <p:spTgt spid="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0" fill="hold">
                      <p:stCondLst>
                        <p:cond delay="indefinite"/>
                      </p:stCondLst>
                      <p:childTnLst>
                        <p:par>
                          <p:cTn id="531" fill="hold">
                            <p:stCondLst>
                              <p:cond delay="0"/>
                            </p:stCondLst>
                            <p:childTnLst>
                              <p:par>
                                <p:cTn id="53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34" dur="500"/>
                                        <p:tgtEl>
                                          <p:spTgt spid="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ontent Placeholder 1"/>
          <p:cNvSpPr/>
          <p:nvPr/>
        </p:nvSpPr>
        <p:spPr>
          <a:xfrm>
            <a:off x="1154880" y="3769920"/>
            <a:ext cx="9881640" cy="11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00ff"/>
              </a:buClr>
              <a:buFont typeface="Tw Cen MT"/>
              <a:buChar char=" "/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C. Reynolds. 1999. </a:t>
            </a:r>
            <a:r>
              <a:rPr b="0" i="1" lang="en-US" sz="3200" spc="-1" strike="noStrike">
                <a:solidFill>
                  <a:schemeClr val="lt1"/>
                </a:solidFill>
                <a:latin typeface="Garamond"/>
              </a:rPr>
              <a:t>Steering Behaviors For Autonomous Characters.</a:t>
            </a: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 GDConf 1999.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68720" y="2243160"/>
            <a:ext cx="11253960" cy="71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197" strike="noStrike">
                <a:solidFill>
                  <a:schemeClr val="lt1"/>
                </a:solidFill>
                <a:latin typeface="Garamond"/>
              </a:rPr>
              <a:t>References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cap4053_ppt_template</Template>
  <TotalTime>586</TotalTime>
  <Application>LibreOffice/24.2.7.2$Linux_X86_64 LibreOffice_project/420$Build-2</Application>
  <AppVersion>15.0000</AppVersion>
  <Words>835</Words>
  <Paragraphs>141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2018-09-23T01:33:33Z</dcterms:created>
  <dc:creator>Jeremiah Blanchard</dc:creator>
  <dc:description/>
  <dc:language>ja-JP</dc:language>
  <cp:lastModifiedBy>Jeremiah Blanchard</cp:lastModifiedBy>
  <dcterms:modified xsi:type="dcterms:W3CDTF">2025-10-05T21:05:45Z</dcterms:modified>
  <cp:revision>109</cp:revision>
  <dc:subject/>
  <dc:title>Fundamentals of AI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8A5176DE-1C3A-4C5F-BD19-F0ED2390E70E</vt:lpwstr>
  </property>
  <property fmtid="{D5CDD505-2E9C-101B-9397-08002B2CF9AE}" pid="3" name="ArticulatePath">
    <vt:lpwstr>Presentation2</vt:lpwstr>
  </property>
  <property fmtid="{D5CDD505-2E9C-101B-9397-08002B2CF9AE}" pid="4" name="ArticulateProjectFull">
    <vt:lpwstr>H:\PowerPoint training for IDs\COIP-PPT-example-template.ppta</vt:lpwstr>
  </property>
  <property fmtid="{D5CDD505-2E9C-101B-9397-08002B2CF9AE}" pid="5" name="ArticulateProjectVersion">
    <vt:lpwstr>8</vt:lpwstr>
  </property>
  <property fmtid="{D5CDD505-2E9C-101B-9397-08002B2CF9AE}" pid="6" name="ArticulateUseProject">
    <vt:lpwstr>1</vt:lpwstr>
  </property>
  <property fmtid="{D5CDD505-2E9C-101B-9397-08002B2CF9AE}" pid="7" name="Notes">
    <vt:i4>6</vt:i4>
  </property>
  <property fmtid="{D5CDD505-2E9C-101B-9397-08002B2CF9AE}" pid="8" name="PresentationFormat">
    <vt:lpwstr>Widescreen</vt:lpwstr>
  </property>
  <property fmtid="{D5CDD505-2E9C-101B-9397-08002B2CF9AE}" pid="9" name="Slides">
    <vt:i4>9</vt:i4>
  </property>
</Properties>
</file>