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svg" ContentType="image/svg"/>
  <Override PartName="/ppt/media/media7.WAV" ContentType="audio/x-wav"/>
  <Override PartName="/ppt/media/image5.png" ContentType="image/png"/>
  <Override PartName="/ppt/media/image6.svg" ContentType="image/svg"/>
  <Override PartName="/ppt/media/image8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CB1BABA-1597-4BEC-A36D-2F41253F0D7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812440B-1BA1-4DE9-A705-936592C0AC4A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92CD582-870E-45D9-9466-E943A232A339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68D2DBD-AAFB-4B42-96B2-16FC3F4B414E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D558780-6724-43FC-9AE2-AD81EEB0B228}" type="slidenum">
              <a:rPr b="0" lang="en-US" sz="12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body"/>
          </p:nvPr>
        </p:nvSpPr>
        <p:spPr>
          <a:xfrm>
            <a:off x="879120" y="3003480"/>
            <a:ext cx="10433520" cy="406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Third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Fourth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Fifth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Sixth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Arial Regular"/>
              </a:rPr>
              <a:t>Seventh Outline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736200" y="1939320"/>
            <a:ext cx="10719360" cy="79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7987"/>
          </a:bodyPr>
          <a:p>
            <a:pPr indent="0"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rial"/>
              </a:rPr>
              <a:t>Click to edit the title text format</a:t>
            </a:r>
            <a:endParaRPr b="0" lang="en-US" sz="6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573280" y="2431080"/>
            <a:ext cx="7045200" cy="167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000" spc="199" strike="noStrike">
                <a:solidFill>
                  <a:schemeClr val="lt1"/>
                </a:solidFill>
                <a:latin typeface="Arial"/>
              </a:rPr>
              <a:t>You have reached the end of this presentation.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chemeClr val="dk1"/>
                </a:solidFill>
                <a:latin typeface="Arial Regular"/>
              </a:rPr>
              <a:t>Click to edit the outline text format</a:t>
            </a:r>
            <a:endParaRPr b="0" lang="en-US" sz="2200" spc="-1" strike="noStrike">
              <a:solidFill>
                <a:schemeClr val="dk1"/>
              </a:solidFill>
              <a:latin typeface="Arial Regular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/>
                </a:solidFill>
                <a:latin typeface="Arial Regular"/>
              </a:rPr>
              <a:t>Second Outline Level</a:t>
            </a:r>
            <a:endParaRPr b="0" lang="en-US" sz="1400" spc="-1" strike="noStrike">
              <a:solidFill>
                <a:schemeClr val="dk1"/>
              </a:solidFill>
              <a:latin typeface="Arial Regular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Arial Regular"/>
              </a:rPr>
              <a:t>Third Outline Level</a:t>
            </a:r>
            <a:endParaRPr b="0" lang="en-US" sz="1400" spc="-1" strike="noStrike">
              <a:solidFill>
                <a:schemeClr val="dk1"/>
              </a:solidFill>
              <a:latin typeface="Arial Regular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/>
                </a:solidFill>
                <a:latin typeface="Arial Regular"/>
              </a:rPr>
              <a:t>Fourth Outline Level</a:t>
            </a:r>
            <a:endParaRPr b="0" lang="en-US" sz="1400" spc="-1" strike="noStrike">
              <a:solidFill>
                <a:schemeClr val="dk1"/>
              </a:solidFill>
              <a:latin typeface="Arial Regular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 Regular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 Regular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 Regular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 Regular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 Regular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 Regula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body"/>
          </p:nvPr>
        </p:nvSpPr>
        <p:spPr>
          <a:xfrm>
            <a:off x="740160" y="1682280"/>
            <a:ext cx="10711080" cy="46198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</a:pPr>
            <a:r>
              <a:rPr b="0" lang="en-US" sz="3600" spc="-1" strike="noStrike">
                <a:solidFill>
                  <a:schemeClr val="lt1"/>
                </a:solidFill>
                <a:latin typeface="Garamond"/>
              </a:rPr>
              <a:t>Edit Master text styles</a:t>
            </a:r>
            <a:endParaRPr b="0" lang="en-US" sz="3600" spc="-1" strike="noStrike">
              <a:solidFill>
                <a:schemeClr val="dk1"/>
              </a:solidFill>
              <a:latin typeface="Arial Regular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Wingdings" charset="2"/>
              <a:buChar char=""/>
            </a:pPr>
            <a:r>
              <a:rPr b="0" lang="en-US" sz="3200" spc="-1" strike="noStrike">
                <a:solidFill>
                  <a:schemeClr val="lt1"/>
                </a:solidFill>
                <a:latin typeface="Garamond"/>
              </a:rPr>
              <a:t>Second level</a:t>
            </a:r>
            <a:endParaRPr b="0" lang="en-US" sz="3200" spc="-1" strike="noStrike">
              <a:solidFill>
                <a:schemeClr val="dk1"/>
              </a:solidFill>
              <a:latin typeface="Arial Regular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Arial"/>
              <a:buChar char="◦"/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Wingdings 3" charset="2"/>
              <a:buChar char=""/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Fourth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ffff"/>
              </a:buClr>
              <a:buFont typeface="Calibri"/>
              <a:buChar char="−"/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Fifth level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468720" y="555480"/>
            <a:ext cx="11254320" cy="69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audio" Target="../media/media7.WAV"/><Relationship Id="rId4" Type="http://schemas.microsoft.com/office/2007/relationships/media" Target="../media/media7.WAV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36200" y="1526760"/>
            <a:ext cx="10719360" cy="79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6818"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6000" spc="97" strike="noStrike">
                <a:solidFill>
                  <a:schemeClr val="lt1"/>
                </a:solidFill>
                <a:latin typeface="Garamond"/>
              </a:rPr>
              <a:t>Optimal Searches</a:t>
            </a:r>
            <a:endParaRPr b="0" lang="en-US" sz="60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3" name="Graphic 9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371600" y="2440080"/>
            <a:ext cx="8942400" cy="2235240"/>
          </a:xfrm>
          <a:prstGeom prst="rect">
            <a:avLst/>
          </a:prstGeom>
          <a:ln w="0">
            <a:noFill/>
          </a:ln>
        </p:spPr>
      </p:pic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879120" y="4807440"/>
            <a:ext cx="10433520" cy="46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Criteria-Based Ideal Solutions</a:t>
            </a:r>
            <a:endParaRPr b="0" lang="en-US" sz="2400" spc="-1" strike="noStrike">
              <a:solidFill>
                <a:schemeClr val="dk1"/>
              </a:solidFill>
              <a:latin typeface="Arial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981080" y="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Uniform Cost Search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1676520" y="825120"/>
            <a:ext cx="8838720" cy="7635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i="1" lang="en-US" sz="2400" spc="-1" strike="noStrike">
                <a:solidFill>
                  <a:srgbClr val="00ff00"/>
                </a:solidFill>
                <a:latin typeface="Arial Regular"/>
              </a:rPr>
              <a:t>Uniform Cost Search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 sorts its priority queue according to cost up to this point (along the current path) – the </a:t>
            </a:r>
            <a:r>
              <a:rPr b="1" i="1" lang="en-US" sz="2400" spc="-1" strike="noStrike">
                <a:solidFill>
                  <a:srgbClr val="00ff00"/>
                </a:solidFill>
                <a:latin typeface="Arial Regular"/>
              </a:rPr>
              <a:t>given cost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.</a:t>
            </a:r>
            <a:endParaRPr b="0" lang="en-US" sz="2400" spc="-1" strike="noStrike">
              <a:solidFill>
                <a:srgbClr val="ffffff"/>
              </a:solidFill>
              <a:latin typeface="Arial Regular"/>
            </a:endParaRPr>
          </a:p>
        </p:txBody>
      </p:sp>
      <p:sp>
        <p:nvSpPr>
          <p:cNvPr id="17" name="Line 5"/>
          <p:cNvSpPr/>
          <p:nvPr/>
        </p:nvSpPr>
        <p:spPr>
          <a:xfrm flipH="1">
            <a:off x="6857640" y="3404520"/>
            <a:ext cx="4137120" cy="360"/>
          </a:xfrm>
          <a:prstGeom prst="line">
            <a:avLst/>
          </a:prstGeom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18" name="Line 5"/>
          <p:cNvSpPr/>
          <p:nvPr/>
        </p:nvSpPr>
        <p:spPr>
          <a:xfrm flipH="1" flipV="1">
            <a:off x="6062040" y="4199040"/>
            <a:ext cx="2864160" cy="1436040"/>
          </a:xfrm>
          <a:prstGeom prst="line">
            <a:avLst/>
          </a:prstGeom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19" name="Line 5"/>
          <p:cNvSpPr/>
          <p:nvPr/>
        </p:nvSpPr>
        <p:spPr>
          <a:xfrm flipV="1">
            <a:off x="6062040" y="3405960"/>
            <a:ext cx="795600" cy="791640"/>
          </a:xfrm>
          <a:prstGeom prst="line">
            <a:avLst/>
          </a:prstGeom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20" name="Line 5"/>
          <p:cNvSpPr/>
          <p:nvPr/>
        </p:nvSpPr>
        <p:spPr>
          <a:xfrm flipH="1" flipV="1">
            <a:off x="10994760" y="3403800"/>
            <a:ext cx="795600" cy="795600"/>
          </a:xfrm>
          <a:prstGeom prst="line">
            <a:avLst/>
          </a:prstGeom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21" name="Line 5"/>
          <p:cNvSpPr/>
          <p:nvPr/>
        </p:nvSpPr>
        <p:spPr>
          <a:xfrm flipV="1">
            <a:off x="8926200" y="4194000"/>
            <a:ext cx="2864160" cy="1436040"/>
          </a:xfrm>
          <a:prstGeom prst="line">
            <a:avLst/>
          </a:prstGeom>
          <a:ln w="381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22" name="Oval 60"/>
          <p:cNvSpPr/>
          <p:nvPr/>
        </p:nvSpPr>
        <p:spPr>
          <a:xfrm>
            <a:off x="8665560" y="5375880"/>
            <a:ext cx="521280" cy="521280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lt1"/>
                </a:solidFill>
                <a:latin typeface="Georgia"/>
                <a:ea typeface="MS PGothic"/>
              </a:rPr>
              <a:t>C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Oval 61"/>
          <p:cNvSpPr/>
          <p:nvPr/>
        </p:nvSpPr>
        <p:spPr>
          <a:xfrm>
            <a:off x="11529720" y="3933360"/>
            <a:ext cx="521280" cy="521280"/>
          </a:xfrm>
          <a:prstGeom prst="ellipse">
            <a:avLst/>
          </a:prstGeom>
          <a:solidFill>
            <a:srgbClr val="7030a0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lt1"/>
                </a:solidFill>
                <a:latin typeface="Georgia"/>
                <a:ea typeface="MS PGothic"/>
              </a:rPr>
              <a:t>D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Oval 62"/>
          <p:cNvSpPr/>
          <p:nvPr/>
        </p:nvSpPr>
        <p:spPr>
          <a:xfrm>
            <a:off x="10734120" y="3145320"/>
            <a:ext cx="521280" cy="521280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lt1"/>
                </a:solidFill>
                <a:latin typeface="Georgia"/>
                <a:ea typeface="MS PGothic"/>
              </a:rPr>
              <a:t>B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Oval 63"/>
          <p:cNvSpPr/>
          <p:nvPr/>
        </p:nvSpPr>
        <p:spPr>
          <a:xfrm>
            <a:off x="6597000" y="3145320"/>
            <a:ext cx="521280" cy="521280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lt1"/>
                </a:solidFill>
                <a:latin typeface="Georgia"/>
                <a:ea typeface="MS PGothic"/>
              </a:rPr>
              <a:t>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Box 65"/>
          <p:cNvSpPr/>
          <p:nvPr/>
        </p:nvSpPr>
        <p:spPr>
          <a:xfrm>
            <a:off x="6123600" y="3479040"/>
            <a:ext cx="561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00"/>
                </a:solidFill>
                <a:latin typeface="Arial"/>
              </a:rPr>
              <a:t>1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Box 66"/>
          <p:cNvSpPr/>
          <p:nvPr/>
        </p:nvSpPr>
        <p:spPr>
          <a:xfrm>
            <a:off x="7063560" y="4803840"/>
            <a:ext cx="561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00"/>
                </a:solidFill>
                <a:latin typeface="Arial"/>
              </a:rPr>
              <a:t>5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Box 67"/>
          <p:cNvSpPr/>
          <p:nvPr/>
        </p:nvSpPr>
        <p:spPr>
          <a:xfrm>
            <a:off x="10473480" y="4803840"/>
            <a:ext cx="561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00"/>
                </a:solidFill>
                <a:latin typeface="Arial"/>
              </a:rPr>
              <a:t>5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Box 68"/>
          <p:cNvSpPr/>
          <p:nvPr/>
        </p:nvSpPr>
        <p:spPr>
          <a:xfrm>
            <a:off x="11349360" y="3419280"/>
            <a:ext cx="561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00"/>
                </a:solidFill>
                <a:latin typeface="Arial"/>
              </a:rPr>
              <a:t>1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Box 69"/>
          <p:cNvSpPr/>
          <p:nvPr/>
        </p:nvSpPr>
        <p:spPr>
          <a:xfrm>
            <a:off x="8758440" y="2965320"/>
            <a:ext cx="561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00"/>
                </a:solidFill>
                <a:latin typeface="Arial"/>
              </a:rPr>
              <a:t>6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Oval 64"/>
          <p:cNvSpPr/>
          <p:nvPr/>
        </p:nvSpPr>
        <p:spPr>
          <a:xfrm>
            <a:off x="5802120" y="3933360"/>
            <a:ext cx="521280" cy="521280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chemeClr val="lt1"/>
                </a:solidFill>
                <a:latin typeface="Georgia"/>
                <a:ea typeface="MS PGothic"/>
              </a:rPr>
              <a:t>I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Box 83"/>
          <p:cNvSpPr/>
          <p:nvPr/>
        </p:nvSpPr>
        <p:spPr>
          <a:xfrm>
            <a:off x="7083720" y="6053400"/>
            <a:ext cx="1884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</a:rPr>
              <a:t>SOLUTION: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Rectangle 77"/>
          <p:cNvSpPr/>
          <p:nvPr/>
        </p:nvSpPr>
        <p:spPr>
          <a:xfrm>
            <a:off x="10184040" y="6093720"/>
            <a:ext cx="380520" cy="38052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D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Rectangle 77"/>
          <p:cNvSpPr/>
          <p:nvPr/>
        </p:nvSpPr>
        <p:spPr>
          <a:xfrm>
            <a:off x="9803160" y="6093720"/>
            <a:ext cx="380520" cy="38052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B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Rectangle 77"/>
          <p:cNvSpPr/>
          <p:nvPr/>
        </p:nvSpPr>
        <p:spPr>
          <a:xfrm>
            <a:off x="9419760" y="6093720"/>
            <a:ext cx="380520" cy="38052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A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Rectangle 77"/>
          <p:cNvSpPr/>
          <p:nvPr/>
        </p:nvSpPr>
        <p:spPr>
          <a:xfrm>
            <a:off x="9038880" y="6093720"/>
            <a:ext cx="380520" cy="38052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I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Rectangle 77"/>
          <p:cNvSpPr/>
          <p:nvPr/>
        </p:nvSpPr>
        <p:spPr>
          <a:xfrm>
            <a:off x="8447760" y="2327760"/>
            <a:ext cx="380520" cy="38052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A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Rectangle 77"/>
          <p:cNvSpPr/>
          <p:nvPr/>
        </p:nvSpPr>
        <p:spPr>
          <a:xfrm>
            <a:off x="9209520" y="2327760"/>
            <a:ext cx="380520" cy="38052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B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Rectangle 77"/>
          <p:cNvSpPr/>
          <p:nvPr/>
        </p:nvSpPr>
        <p:spPr>
          <a:xfrm>
            <a:off x="9590760" y="2327760"/>
            <a:ext cx="380520" cy="38052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D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Rectangle 77"/>
          <p:cNvSpPr/>
          <p:nvPr/>
        </p:nvSpPr>
        <p:spPr>
          <a:xfrm>
            <a:off x="8069040" y="2327760"/>
            <a:ext cx="380520" cy="38052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I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Rectangle 77"/>
          <p:cNvSpPr/>
          <p:nvPr/>
        </p:nvSpPr>
        <p:spPr>
          <a:xfrm>
            <a:off x="8828640" y="2327760"/>
            <a:ext cx="380520" cy="380520"/>
          </a:xfrm>
          <a:prstGeom prst="rect">
            <a:avLst/>
          </a:prstGeom>
          <a:solidFill>
            <a:srgbClr val="0070c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  <a:ea typeface="ＭＳ Ｐゴシック"/>
              </a:rPr>
              <a:t>C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Line 5"/>
          <p:cNvSpPr/>
          <p:nvPr/>
        </p:nvSpPr>
        <p:spPr>
          <a:xfrm flipH="1" flipV="1">
            <a:off x="8025840" y="2291040"/>
            <a:ext cx="457200" cy="457200"/>
          </a:xfrm>
          <a:prstGeom prst="line">
            <a:avLst/>
          </a:prstGeom>
          <a:ln w="381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43" name="Line 5"/>
          <p:cNvSpPr/>
          <p:nvPr/>
        </p:nvSpPr>
        <p:spPr>
          <a:xfrm flipH="1" flipV="1">
            <a:off x="8403480" y="2291040"/>
            <a:ext cx="457200" cy="457200"/>
          </a:xfrm>
          <a:prstGeom prst="line">
            <a:avLst/>
          </a:prstGeom>
          <a:ln w="381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44" name="Line 5"/>
          <p:cNvSpPr/>
          <p:nvPr/>
        </p:nvSpPr>
        <p:spPr>
          <a:xfrm flipH="1" flipV="1">
            <a:off x="8790480" y="2289600"/>
            <a:ext cx="457200" cy="457200"/>
          </a:xfrm>
          <a:prstGeom prst="line">
            <a:avLst/>
          </a:prstGeom>
          <a:ln w="381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45" name="Line 5"/>
          <p:cNvSpPr/>
          <p:nvPr/>
        </p:nvSpPr>
        <p:spPr>
          <a:xfrm flipH="1" flipV="1">
            <a:off x="9171360" y="2291040"/>
            <a:ext cx="457200" cy="457200"/>
          </a:xfrm>
          <a:prstGeom prst="line">
            <a:avLst/>
          </a:prstGeom>
          <a:ln w="381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46" name="Line 5"/>
          <p:cNvSpPr/>
          <p:nvPr/>
        </p:nvSpPr>
        <p:spPr>
          <a:xfrm flipH="1" flipV="1">
            <a:off x="9547920" y="2289600"/>
            <a:ext cx="457200" cy="457200"/>
          </a:xfrm>
          <a:prstGeom prst="line">
            <a:avLst/>
          </a:prstGeom>
          <a:ln w="381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lt1"/>
              </a:solidFill>
              <a:latin typeface="Garamond"/>
            </a:endParaRPr>
          </a:p>
        </p:txBody>
      </p:sp>
      <p:sp>
        <p:nvSpPr>
          <p:cNvPr id="47" name="Arc 98"/>
          <p:cNvSpPr/>
          <p:nvPr/>
        </p:nvSpPr>
        <p:spPr>
          <a:xfrm rot="18540600">
            <a:off x="8207280" y="2181960"/>
            <a:ext cx="484560" cy="543600"/>
          </a:xfrm>
          <a:prstGeom prst="arc">
            <a:avLst>
              <a:gd name="adj1" fmla="val 16200000"/>
              <a:gd name="adj2" fmla="val 0"/>
            </a:avLst>
          </a:prstGeom>
          <a:noFill/>
          <a:ln w="25400">
            <a:solidFill>
              <a:srgbClr val="00ff00"/>
            </a:solidFill>
            <a:round/>
            <a:head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8" name="TextBox 99"/>
          <p:cNvSpPr/>
          <p:nvPr/>
        </p:nvSpPr>
        <p:spPr>
          <a:xfrm>
            <a:off x="8472600" y="1589760"/>
            <a:ext cx="1132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 u="sng">
                <a:solidFill>
                  <a:schemeClr val="lt1"/>
                </a:solidFill>
                <a:uFillTx/>
                <a:latin typeface="Arial"/>
              </a:rPr>
              <a:t>Queue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Arc 100"/>
          <p:cNvSpPr/>
          <p:nvPr/>
        </p:nvSpPr>
        <p:spPr>
          <a:xfrm flipV="1" rot="2870400">
            <a:off x="8280360" y="1555920"/>
            <a:ext cx="997200" cy="1431720"/>
          </a:xfrm>
          <a:prstGeom prst="arc">
            <a:avLst>
              <a:gd name="adj1" fmla="val 16200000"/>
              <a:gd name="adj2" fmla="val 20319166"/>
            </a:avLst>
          </a:prstGeom>
          <a:noFill/>
          <a:ln w="25400">
            <a:solidFill>
              <a:srgbClr val="00ff00"/>
            </a:solidFill>
            <a:round/>
            <a:head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0" name="Arc 101"/>
          <p:cNvSpPr/>
          <p:nvPr/>
        </p:nvSpPr>
        <p:spPr>
          <a:xfrm flipV="1" rot="3059400">
            <a:off x="9385560" y="2311560"/>
            <a:ext cx="484560" cy="543960"/>
          </a:xfrm>
          <a:prstGeom prst="arc">
            <a:avLst>
              <a:gd name="adj1" fmla="val 16200000"/>
              <a:gd name="adj2" fmla="val 0"/>
            </a:avLst>
          </a:prstGeom>
          <a:noFill/>
          <a:ln w="25400">
            <a:solidFill>
              <a:srgbClr val="00ff00"/>
            </a:solidFill>
            <a:round/>
            <a:head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1" name="Arc 102"/>
          <p:cNvSpPr/>
          <p:nvPr/>
        </p:nvSpPr>
        <p:spPr>
          <a:xfrm flipV="1" rot="2870400">
            <a:off x="9144360" y="1547280"/>
            <a:ext cx="997200" cy="1431720"/>
          </a:xfrm>
          <a:prstGeom prst="arc">
            <a:avLst>
              <a:gd name="adj1" fmla="val 16200000"/>
              <a:gd name="adj2" fmla="val 20319166"/>
            </a:avLst>
          </a:prstGeom>
          <a:noFill/>
          <a:ln w="25400">
            <a:solidFill>
              <a:srgbClr val="00ff00"/>
            </a:solidFill>
            <a:round/>
            <a:head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2" name="Arc 103"/>
          <p:cNvSpPr/>
          <p:nvPr/>
        </p:nvSpPr>
        <p:spPr>
          <a:xfrm rot="18699000">
            <a:off x="8672760" y="2068920"/>
            <a:ext cx="996840" cy="1432080"/>
          </a:xfrm>
          <a:prstGeom prst="arc">
            <a:avLst>
              <a:gd name="adj1" fmla="val 16200000"/>
              <a:gd name="adj2" fmla="val 20319166"/>
            </a:avLst>
          </a:prstGeom>
          <a:noFill/>
          <a:ln w="25400">
            <a:solidFill>
              <a:srgbClr val="00ff00"/>
            </a:solidFill>
            <a:round/>
            <a:head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53" name="Graphic 104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696200" y="3479040"/>
            <a:ext cx="2866680" cy="1361880"/>
          </a:xfrm>
          <a:prstGeom prst="rect">
            <a:avLst/>
          </a:prstGeom>
          <a:ln w="0">
            <a:noFill/>
          </a:ln>
        </p:spPr>
      </p:pic>
      <p:pic>
        <p:nvPicPr>
          <p:cNvPr id="54" name="" descr="">
            <a:hlinkClick r:id="" action="ppaction://media"/>
          </p:cNvPr>
          <p:cNvPicPr/>
          <p:nvPr>
            <a:audioFile r:link="rId3"/>
            <p:extLst>
              <p:ext uri="{DAA4B4D4-6D71-4841-9C94-3DE7FCFB9230}">
                <p14:media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463520" y="3493800"/>
            <a:ext cx="304560" cy="304560"/>
          </a:xfrm>
          <a:prstGeom prst="rect">
            <a:avLst/>
          </a:prstGeom>
          <a:ln w="0">
            <a:noFill/>
          </a:ln>
        </p:spPr>
      </p:pic>
      <p:sp>
        <p:nvSpPr>
          <p:cNvPr id="55" name="Rectangle 3"/>
          <p:cNvSpPr/>
          <p:nvPr/>
        </p:nvSpPr>
        <p:spPr>
          <a:xfrm>
            <a:off x="571320" y="1682280"/>
            <a:ext cx="5752080" cy="47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rmAutofit fontScale="87182"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algn="l" pos="0"/>
              </a:tabLst>
            </a:pPr>
            <a:r>
              <a:rPr b="0" lang="en-US" sz="2800" spc="-1" strike="noStrike" u="sng">
                <a:solidFill>
                  <a:schemeClr val="lt1"/>
                </a:solidFill>
                <a:uFillTx/>
                <a:latin typeface="Garamond"/>
              </a:rPr>
              <a:t>Uniform Cost Search is…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  <a:tabLst>
                <a:tab algn="l" pos="0"/>
              </a:tabLst>
            </a:pPr>
            <a:r>
              <a:rPr b="1" i="1" lang="en-US" sz="2800" spc="-1" strike="noStrike">
                <a:solidFill>
                  <a:schemeClr val="lt1"/>
                </a:solidFill>
                <a:latin typeface="Garamond"/>
              </a:rPr>
              <a:t>Systematic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00ff00"/>
                </a:solidFill>
                <a:latin typeface="Garamond"/>
              </a:rPr>
              <a:t>Uninformed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  <a:tabLst>
                <a:tab algn="l" pos="0"/>
              </a:tabLst>
            </a:pPr>
            <a:r>
              <a:rPr b="1" i="1" lang="en-US" sz="2800" spc="-1" strike="noStrike">
                <a:solidFill>
                  <a:schemeClr val="lt1"/>
                </a:solidFill>
                <a:latin typeface="Garamond"/>
              </a:rPr>
              <a:t>Optimal in </a:t>
            </a:r>
            <a:r>
              <a:rPr b="1" i="1" lang="en-US" sz="2800" spc="-1" strike="noStrike" u="sng">
                <a:solidFill>
                  <a:schemeClr val="lt1"/>
                </a:solidFill>
                <a:uFillTx/>
                <a:latin typeface="Garamond"/>
              </a:rPr>
              <a:t>cost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  <a:tabLst>
                <a:tab algn="l" pos="0"/>
              </a:tabLst>
            </a:pPr>
            <a:r>
              <a:rPr b="1" i="1" lang="en-US" sz="2800" spc="-1" strike="noStrike">
                <a:solidFill>
                  <a:schemeClr val="lt1"/>
                </a:solidFill>
                <a:latin typeface="Garamond"/>
              </a:rPr>
              <a:t>Complete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  <a:tabLst>
                <a:tab algn="l" pos="0"/>
              </a:tabLst>
            </a:pPr>
            <a:r>
              <a:rPr b="1" i="1" lang="en-US" sz="2800" spc="-1" strike="noStrike">
                <a:solidFill>
                  <a:schemeClr val="lt1"/>
                </a:solidFill>
                <a:latin typeface="Garamond"/>
              </a:rPr>
              <a:t>Exhaustive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algn="l" pos="0"/>
              </a:tabLst>
            </a:pP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tabLst>
                <a:tab algn="l" pos="0"/>
              </a:tabLst>
            </a:pP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ffffff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We will need to track the </a:t>
            </a:r>
            <a:r>
              <a:rPr b="1" lang="en-US" sz="2800" spc="-1" strike="noStrike">
                <a:solidFill>
                  <a:srgbClr val="00ff00"/>
                </a:solidFill>
                <a:latin typeface="Garamond"/>
              </a:rPr>
              <a:t>given cost </a:t>
            </a:r>
            <a:r>
              <a:rPr b="0" lang="en-US" sz="2800" spc="-1" strike="noStrike">
                <a:solidFill>
                  <a:schemeClr val="lt1"/>
                </a:solidFill>
                <a:latin typeface="Garamond"/>
              </a:rPr>
              <a:t>for each state we encounter.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9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9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0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c000"/>
                                      </p:to>
                                    </p:animClr>
                                    <p:set>
                                      <p:cBhvr>
                                        <p:cTn id="1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1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5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nodeType="withEffect" fill="hold" presetClass="exit" presetID="1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 additive="repl">
                                        <p:cTn id="16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f7f7f"/>
                                      </p:to>
                                    </p:animClr>
                                    <p:set>
                                      <p:cBhvr>
                                        <p:cTn id="1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nodeType="clickEffect" fill="hold" presetClass="emph" presetID="1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9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9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0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0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nodeType="withEffect" fill="hold" presetClass="emph" presetID="7" presetSubtype="2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2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nodeType="with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2" dur="813" fill="hold"/>
                                        <p:tgtEl>
                                          <p:spTgt spid="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nodeType="click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006 -2.96296E-006 L 0.05964 -0.11041 E">
                                      <p:cBhvr>
                                        <p:cTn id="22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nodeType="click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64 -0.11041 L 0.39909 -0.11041 E">
                                      <p:cBhvr>
                                        <p:cTn id="23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nodeType="click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9909 -0.11041 L 0.46433 0.00903 E">
                                      <p:cBhvr>
                                        <p:cTn id="23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nodeType="clickEffect" fill="hold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repl">
                                        <p:cTn id="238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9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nodeType="with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2" dur="813" fill="hold"/>
                                        <p:tgtEl>
                                          <p:spTgt spid="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7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2" dur="500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7" dur="500"/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62" dur="500"/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67" dur="500"/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72" dur="500"/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77" dur="500"/>
                                        <p:tgtEl>
                                          <p:spTgt spid="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audio isNarration="0">
              <p:cMediaNode showWhenStopped="0">
                <p:cTn>
                  <p:stCondLst>
                    <p:cond delay="indefinite"/>
                  </p:stCondLst>
                  <p:endCondLst>
                    <p:cond delay="0" evt="onNext"/>
                    <p:cond delay="0" evt="onPrev"/>
                    <p:cond delay="0" evt="onStopAudio"/>
                  </p:endCondLst>
                </p:cTn>
                <p:tgtEl>
                  <p:spTgt spid="5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57280" y="146520"/>
            <a:ext cx="11182320" cy="69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Uniform Cost Search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7" name="TextBox 3"/>
          <p:cNvSpPr/>
          <p:nvPr/>
        </p:nvSpPr>
        <p:spPr>
          <a:xfrm>
            <a:off x="4239720" y="838080"/>
            <a:ext cx="7809480" cy="5874840"/>
          </a:xfrm>
          <a:prstGeom prst="rect">
            <a:avLst/>
          </a:prstGeom>
          <a:solidFill>
            <a:srgbClr val="002060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onsolas"/>
              </a:rPr>
              <a:t>def breadthFirstSearch(start, goal):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400" spc="-1" strike="noStrike">
                <a:solidFill>
                  <a:schemeClr val="lt1"/>
                </a:solidFill>
                <a:latin typeface="Consolas"/>
              </a:rPr>
              <a:t>open = </a:t>
            </a:r>
            <a:r>
              <a:rPr b="1" lang="en-US" sz="1400" spc="-1" strike="noStrike">
                <a:solidFill>
                  <a:srgbClr val="ffff00"/>
                </a:solidFill>
                <a:latin typeface="Consolas"/>
              </a:rPr>
              <a:t>priority_queue()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400" spc="-1" strike="noStrike">
                <a:solidFill>
                  <a:schemeClr val="lt1"/>
                </a:solidFill>
                <a:latin typeface="Consolas"/>
              </a:rPr>
              <a:t>open.enqueue(PlannerNode(start, None, </a:t>
            </a:r>
            <a:r>
              <a:rPr b="1" lang="en-US" sz="1400" spc="-1" strike="noStrike">
                <a:solidFill>
                  <a:srgbClr val="ffff00"/>
                </a:solidFill>
                <a:latin typeface="Consolas"/>
              </a:rPr>
              <a:t>0</a:t>
            </a:r>
            <a:r>
              <a:rPr b="0" lang="en-US" sz="1400" spc="-1" strike="noStrike">
                <a:solidFill>
                  <a:schemeClr val="lt1"/>
                </a:solidFill>
                <a:latin typeface="Consolas"/>
              </a:rPr>
              <a:t>))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400" spc="-1" strike="noStrike">
                <a:solidFill>
                  <a:schemeClr val="lt1"/>
                </a:solidFill>
                <a:latin typeface="Consolas"/>
              </a:rPr>
              <a:t>visited = { start: open.peek() }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400" spc="-1" strike="noStrike">
                <a:solidFill>
                  <a:schemeClr val="lt1"/>
                </a:solidFill>
                <a:latin typeface="Consolas"/>
              </a:rPr>
              <a:t>while not len(open) is 0: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chemeClr val="lt1"/>
                </a:solidFill>
                <a:latin typeface="Consolas"/>
              </a:rPr>
              <a:t>cur = open.pop()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chemeClr val="lt1"/>
                </a:solidFill>
                <a:latin typeface="Consolas"/>
              </a:rPr>
              <a:t>if current.vertex is goal: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400" spc="-1" strike="noStrike">
                <a:solidFill>
                  <a:schemeClr val="lt1"/>
                </a:solidFill>
                <a:latin typeface="Consolas"/>
              </a:rPr>
              <a:t>return build_solution(start, current)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400" spc="-1" strike="noStrike">
                <a:solidFill>
                  <a:schemeClr val="lt1"/>
                </a:solidFill>
                <a:latin typeface="Consolas"/>
              </a:rPr>
              <a:t>for edge in current.vertex.edges: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ff00"/>
                </a:solidFill>
                <a:latin typeface="Courier New"/>
              </a:rPr>
              <a:t>      </a:t>
            </a:r>
            <a:r>
              <a:rPr b="1" lang="en-US" sz="1400" spc="-1" strike="noStrike">
                <a:solidFill>
                  <a:srgbClr val="00ff00"/>
                </a:solidFill>
                <a:latin typeface="Courier New"/>
              </a:rPr>
              <a:t>newCost = cur.gCost + edge.cost;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400" spc="-1" strike="noStrike">
                <a:solidFill>
                  <a:schemeClr val="lt1"/>
                </a:solidFill>
                <a:latin typeface="Consolas"/>
              </a:rPr>
              <a:t>successor = edge.endpoint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400" spc="-1" strike="noStrike">
                <a:solidFill>
                  <a:schemeClr val="lt1"/>
                </a:solidFill>
                <a:latin typeface="Consolas"/>
              </a:rPr>
              <a:t>if not visited[successor]: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onsolas"/>
              </a:rPr>
              <a:t>          </a:t>
            </a:r>
            <a:r>
              <a:rPr b="0" lang="en-US" sz="1400" spc="-1" strike="noStrike">
                <a:solidFill>
                  <a:schemeClr val="lt1"/>
                </a:solidFill>
                <a:latin typeface="Consolas"/>
              </a:rPr>
              <a:t>visited[successor] = PlannerNode(successor, current, </a:t>
            </a:r>
            <a:r>
              <a:rPr b="1" lang="en-US" sz="1400" spc="-1" strike="noStrike">
                <a:solidFill>
                  <a:srgbClr val="ffff00"/>
                </a:solidFill>
                <a:latin typeface="Consolas"/>
              </a:rPr>
              <a:t>newCost</a:t>
            </a:r>
            <a:r>
              <a:rPr b="0" lang="en-US" sz="1400" spc="-1" strike="noStrike">
                <a:solidFill>
                  <a:schemeClr val="lt1"/>
                </a:solidFill>
                <a:latin typeface="Consolas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/>
                </a:solidFill>
                <a:latin typeface="Consolas"/>
              </a:rPr>
              <a:t>          </a:t>
            </a:r>
            <a:r>
              <a:rPr b="0" lang="en-US" sz="1400" spc="-1" strike="noStrike">
                <a:solidFill>
                  <a:schemeClr val="lt1"/>
                </a:solidFill>
                <a:latin typeface="Consolas"/>
              </a:rPr>
              <a:t>open.enqueue(visited[successor])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00"/>
                </a:solidFill>
                <a:latin typeface="Consolas"/>
              </a:rPr>
              <a:t>      </a:t>
            </a:r>
            <a:r>
              <a:rPr b="1" lang="en-US" sz="1400" spc="-1" strike="noStrike">
                <a:solidFill>
                  <a:srgbClr val="00ff00"/>
                </a:solidFill>
                <a:latin typeface="Consolas"/>
              </a:rPr>
              <a:t>else: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ff00"/>
                </a:solidFill>
                <a:latin typeface="Courier New"/>
              </a:rPr>
              <a:t>        </a:t>
            </a:r>
            <a:r>
              <a:rPr b="1" lang="en-US" sz="1400" spc="-1" strike="noStrike">
                <a:solidFill>
                  <a:srgbClr val="00ff00"/>
                </a:solidFill>
                <a:latin typeface="Courier New"/>
              </a:rPr>
              <a:t>if newCost &lt; visited[successor].gCost: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ff00"/>
                </a:solidFill>
                <a:latin typeface="Courier New"/>
              </a:rPr>
              <a:t>          </a:t>
            </a:r>
            <a:r>
              <a:rPr b="1" lang="en-US" sz="1400" spc="-1" strike="noStrike">
                <a:solidFill>
                  <a:srgbClr val="00ff00"/>
                </a:solidFill>
                <a:latin typeface="Courier New"/>
              </a:rPr>
              <a:t>visited[successor].gCost = newCost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ff00"/>
                </a:solidFill>
                <a:latin typeface="Courier New"/>
              </a:rPr>
              <a:t>          </a:t>
            </a:r>
            <a:r>
              <a:rPr b="1" lang="en-US" sz="1400" spc="-1" strike="noStrike">
                <a:solidFill>
                  <a:srgbClr val="00ff00"/>
                </a:solidFill>
                <a:latin typeface="Courier New"/>
              </a:rPr>
              <a:t>visited[successor].parent = current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400"/>
            </a:br>
            <a:r>
              <a:rPr b="1" lang="en-US" sz="1400" spc="-1" strike="noStrike">
                <a:solidFill>
                  <a:srgbClr val="00ff00"/>
                </a:solidFill>
                <a:latin typeface="Courier New"/>
              </a:rPr>
              <a:t>          </a:t>
            </a:r>
            <a:r>
              <a:rPr b="1" lang="en-US" sz="1400" spc="-1" strike="noStrike">
                <a:solidFill>
                  <a:srgbClr val="00ff00"/>
                </a:solidFill>
                <a:latin typeface="Courier New"/>
              </a:rPr>
              <a:t>if not visited[successor] in open: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ff00"/>
                </a:solidFill>
                <a:latin typeface="Courier New"/>
              </a:rPr>
              <a:t>            </a:t>
            </a:r>
            <a:r>
              <a:rPr b="1" lang="en-US" sz="1400" spc="-1" strike="noStrike">
                <a:solidFill>
                  <a:srgbClr val="00ff00"/>
                </a:solidFill>
                <a:latin typeface="Courier New"/>
              </a:rPr>
              <a:t>open.enqueue(visited[successor])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ff00"/>
                </a:solidFill>
                <a:latin typeface="Courier New"/>
              </a:rPr>
              <a:t>          </a:t>
            </a:r>
            <a:r>
              <a:rPr b="1" lang="en-US" sz="1400" spc="-1" strike="noStrike">
                <a:solidFill>
                  <a:srgbClr val="00ff00"/>
                </a:solidFill>
                <a:latin typeface="Courier New"/>
              </a:rPr>
              <a:t>else: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ff00"/>
                </a:solidFill>
                <a:latin typeface="Courier New"/>
              </a:rPr>
              <a:t>            </a:t>
            </a:r>
            <a:r>
              <a:rPr b="1" lang="en-US" sz="1400" spc="-1" strike="noStrike">
                <a:solidFill>
                  <a:srgbClr val="00ff00"/>
                </a:solidFill>
                <a:latin typeface="Courier New"/>
              </a:rPr>
              <a:t>open.resort()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Box 4"/>
          <p:cNvSpPr/>
          <p:nvPr/>
        </p:nvSpPr>
        <p:spPr>
          <a:xfrm>
            <a:off x="121680" y="838080"/>
            <a:ext cx="4035960" cy="1994760"/>
          </a:xfrm>
          <a:prstGeom prst="rect">
            <a:avLst/>
          </a:prstGeom>
          <a:solidFill>
            <a:srgbClr val="002060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class PlannerNode: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def __init__(self, v, p, g):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self.vertex = v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self.parent = p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1" lang="en-US" sz="1500" spc="-1" strike="noStrike">
                <a:solidFill>
                  <a:srgbClr val="ffff00"/>
                </a:solidFill>
                <a:latin typeface="Consolas"/>
              </a:rPr>
              <a:t>self.gCost = 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00"/>
                </a:solidFill>
                <a:latin typeface="Consolas"/>
              </a:rPr>
              <a:t>  </a:t>
            </a:r>
            <a:r>
              <a:rPr b="1" lang="en-US" sz="1500" spc="-1" strike="noStrike">
                <a:solidFill>
                  <a:srgbClr val="ffff00"/>
                </a:solidFill>
                <a:latin typeface="Consolas"/>
              </a:rPr>
              <a:t>def __lt__(self, oth):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00"/>
                </a:solidFill>
                <a:latin typeface="Consolas"/>
              </a:rPr>
              <a:t>    </a:t>
            </a:r>
            <a:r>
              <a:rPr b="1" lang="en-US" sz="1500" spc="-1" strike="noStrike">
                <a:solidFill>
                  <a:srgbClr val="ffff00"/>
                </a:solidFill>
                <a:latin typeface="Consolas"/>
              </a:rPr>
              <a:t>return self.gCost &lt; oth.gCost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8" dur="indefinite" restart="never" nodeType="tmRoot">
          <p:childTnLst>
            <p:seq>
              <p:cTn id="279" dur="indefinite" nodeType="mainSeq">
                <p:childTnLst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7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90" dur="500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93" dur="500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96" dur="500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99" dur="500"/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02" dur="500"/>
                                        <p:tgtEl>
                                          <p:spTgt spid="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05" dur="500"/>
                                        <p:tgtEl>
                                          <p:spTgt spid="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13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16" dur="500"/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19" dur="500"/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22" dur="500"/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25" dur="500"/>
                                        <p:tgtEl>
                                          <p:spTgt spid="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28" dur="500"/>
                                        <p:tgtEl>
                                          <p:spTgt spid="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31" dur="500"/>
                                        <p:tgtEl>
                                          <p:spTgt spid="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34" dur="500"/>
                                        <p:tgtEl>
                                          <p:spTgt spid="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37" dur="500"/>
                                        <p:tgtEl>
                                          <p:spTgt spid="5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40" dur="500"/>
                                        <p:tgtEl>
                                          <p:spTgt spid="5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43" dur="500"/>
                                        <p:tgtEl>
                                          <p:spTgt spid="5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48" dur="500"/>
                                        <p:tgtEl>
                                          <p:spTgt spid="5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53" dur="500"/>
                                        <p:tgtEl>
                                          <p:spTgt spid="5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68720" y="555480"/>
            <a:ext cx="11254320" cy="69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Uniform-Cost Search: Problems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1981080" y="1600200"/>
            <a:ext cx="8229240" cy="48765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 u="sng">
                <a:solidFill>
                  <a:srgbClr val="ffffff"/>
                </a:solidFill>
                <a:uFillTx/>
                <a:latin typeface="Arial Regular"/>
              </a:rPr>
              <a:t>Problems with Uniform-Cost Search:</a:t>
            </a: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lvl="1" marL="413640" indent="-2858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Consumes a lot of memory</a:t>
            </a: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lvl="1" marL="413640" indent="-2858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Takes a lot of CPU time</a:t>
            </a: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	</a:t>
            </a: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It’s optimal in total cost to goal, so it’s a bit better than BFS, but it isn’t as fast as Greedy Best-First Search.</a:t>
            </a: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	</a:t>
            </a:r>
            <a:r>
              <a:rPr b="0" lang="en-US" sz="2800" spc="-1" strike="noStrike">
                <a:solidFill>
                  <a:srgbClr val="ffffff"/>
                </a:solidFill>
                <a:latin typeface="Arial Regular"/>
              </a:rPr>
              <a:t>If only we could combine the benefits of Greedy Best-First Search (speed) and UCS (optimality)…</a:t>
            </a:r>
            <a:endParaRPr b="0" lang="en-US" sz="2800" spc="-1" strike="noStrike">
              <a:solidFill>
                <a:srgbClr val="ffffff"/>
              </a:solidFill>
              <a:latin typeface="Arial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4" dur="indefinite" restart="never" nodeType="tmRoot">
          <p:childTnLst>
            <p:seq>
              <p:cTn id="355" dur="indefinite" nodeType="mainSeq">
                <p:childTnLst>
                  <p:par>
                    <p:cTn id="356" fill="hold">
                      <p:stCondLst>
                        <p:cond delay="indefinite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60" dur="500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65" dur="500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nodeType="clickEffect" fill="hold">
                      <p:stCondLst>
                        <p:cond delay="indefinite"/>
                      </p:stCondLst>
                      <p:childTnLst>
                        <p:par>
                          <p:cTn id="36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8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70" dur="500"/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nodeType="clickEffect" fill="hold">
                      <p:stCondLst>
                        <p:cond delay="indefinite"/>
                      </p:stCondLst>
                      <p:childTnLst>
                        <p:par>
                          <p:cTn id="37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3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75" dur="500"/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420200" y="104760"/>
            <a:ext cx="912996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A*: It’s Good to Be the King</a:t>
            </a:r>
            <a:br>
              <a:rPr sz="4800"/>
            </a:br>
            <a:r>
              <a:rPr b="1" lang="en-US" sz="4000" spc="97" strike="noStrike">
                <a:solidFill>
                  <a:schemeClr val="lt1"/>
                </a:solidFill>
                <a:latin typeface="Garamond"/>
              </a:rPr>
              <a:t>(of optimal search)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388440" y="1598400"/>
            <a:ext cx="11414880" cy="46828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49801" lnSpcReduction="10000"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4200" spc="-1" strike="noStrike">
                <a:solidFill>
                  <a:srgbClr val="ffffff"/>
                </a:solidFill>
                <a:latin typeface="Arial Regular"/>
              </a:rPr>
              <a:t>We can combine the look-ahead (speed) and the look-behind (optimality) into the </a:t>
            </a:r>
            <a:r>
              <a:rPr b="1" i="1" lang="en-US" sz="4200" spc="-1" strike="noStrike">
                <a:solidFill>
                  <a:srgbClr val="00ff00"/>
                </a:solidFill>
                <a:latin typeface="Arial Regular"/>
              </a:rPr>
              <a:t>final cost</a:t>
            </a:r>
            <a:r>
              <a:rPr b="0" lang="en-US" sz="4200" spc="-1" strike="noStrike">
                <a:solidFill>
                  <a:srgbClr val="ffffff"/>
                </a:solidFill>
                <a:latin typeface="Arial Regular"/>
              </a:rPr>
              <a:t> – the sum of given and heuristic costs. This method is called the  </a:t>
            </a:r>
            <a:r>
              <a:rPr b="0" lang="en-US" sz="4200" spc="-1" strike="noStrike" u="sng">
                <a:solidFill>
                  <a:srgbClr val="00ff00"/>
                </a:solidFill>
                <a:uFillTx/>
                <a:latin typeface="Arial Regular"/>
              </a:rPr>
              <a:t>A* (A-Star) Search</a:t>
            </a:r>
            <a:r>
              <a:rPr b="0" lang="en-US" sz="4200" spc="-1" strike="noStrike">
                <a:solidFill>
                  <a:srgbClr val="ffffff"/>
                </a:solidFill>
                <a:latin typeface="Arial Regular"/>
              </a:rPr>
              <a:t>.</a:t>
            </a:r>
            <a:endParaRPr b="0" lang="en-US" sz="42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4200" spc="-1" strike="noStrike">
                <a:solidFill>
                  <a:srgbClr val="ffffff"/>
                </a:solidFill>
                <a:latin typeface="Arial Regular"/>
              </a:rPr>
              <a:t>We call a heuristic </a:t>
            </a:r>
            <a:r>
              <a:rPr b="1" i="1" lang="en-US" sz="4200" spc="-1" strike="noStrike">
                <a:solidFill>
                  <a:srgbClr val="00ff00"/>
                </a:solidFill>
                <a:latin typeface="Arial Regular"/>
              </a:rPr>
              <a:t>admissible</a:t>
            </a:r>
            <a:r>
              <a:rPr b="0" lang="en-US" sz="4200" spc="-1" strike="noStrike">
                <a:solidFill>
                  <a:srgbClr val="ffffff"/>
                </a:solidFill>
                <a:latin typeface="Arial Regular"/>
              </a:rPr>
              <a:t> if it never overestimates the cost to the goal. It can be proven that if the heuristic used in A* is admissible, </a:t>
            </a:r>
            <a:r>
              <a:rPr b="0" lang="en-US" sz="4200" spc="-1" strike="noStrike" u="sng">
                <a:solidFill>
                  <a:srgbClr val="ffffff"/>
                </a:solidFill>
                <a:uFillTx/>
                <a:latin typeface="Arial Regular"/>
              </a:rPr>
              <a:t>then A* is optimal.</a:t>
            </a:r>
            <a:endParaRPr b="0" lang="en-US" sz="42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8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4200" spc="-1" strike="noStrike" u="sng">
                <a:solidFill>
                  <a:srgbClr val="ffffff"/>
                </a:solidFill>
                <a:uFillTx/>
                <a:latin typeface="Arial Regular"/>
              </a:rPr>
              <a:t>A* Search is:</a:t>
            </a:r>
            <a:endParaRPr b="0" lang="en-US" sz="42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80000"/>
              </a:lnSpc>
              <a:spcBef>
                <a:spcPts val="601"/>
              </a:spcBef>
              <a:spcAft>
                <a:spcPts val="601"/>
              </a:spcAft>
              <a:buClr>
                <a:srgbClr val="ffffff"/>
              </a:buClr>
              <a:buFont typeface="Tw Cen MT"/>
              <a:buChar char=" "/>
              <a:tabLst>
                <a:tab algn="l" pos="0"/>
              </a:tabLst>
            </a:pPr>
            <a:r>
              <a:rPr b="1" i="1" lang="en-US" sz="4200" spc="-1" strike="noStrike">
                <a:solidFill>
                  <a:srgbClr val="ffffff"/>
                </a:solidFill>
                <a:latin typeface="Arial Regular"/>
              </a:rPr>
              <a:t>Systematic</a:t>
            </a:r>
            <a:endParaRPr b="0" lang="en-US" sz="42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80000"/>
              </a:lnSpc>
              <a:spcBef>
                <a:spcPts val="601"/>
              </a:spcBef>
              <a:spcAft>
                <a:spcPts val="601"/>
              </a:spcAft>
              <a:buClr>
                <a:srgbClr val="ffffff"/>
              </a:buClr>
              <a:buFont typeface="Tw Cen MT"/>
              <a:buChar char=" "/>
              <a:tabLst>
                <a:tab algn="l" pos="0"/>
              </a:tabLst>
            </a:pPr>
            <a:r>
              <a:rPr b="1" i="1" lang="en-US" sz="4200" spc="-1" strike="noStrike">
                <a:solidFill>
                  <a:srgbClr val="ffffff"/>
                </a:solidFill>
                <a:latin typeface="Arial Regular"/>
              </a:rPr>
              <a:t>Informed</a:t>
            </a:r>
            <a:endParaRPr b="0" lang="en-US" sz="42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80000"/>
              </a:lnSpc>
              <a:spcBef>
                <a:spcPts val="601"/>
              </a:spcBef>
              <a:spcAft>
                <a:spcPts val="601"/>
              </a:spcAft>
              <a:buClr>
                <a:srgbClr val="ffffff"/>
              </a:buClr>
              <a:buFont typeface="Tw Cen MT"/>
              <a:buChar char=" "/>
              <a:tabLst>
                <a:tab algn="l" pos="0"/>
              </a:tabLst>
            </a:pPr>
            <a:r>
              <a:rPr b="1" i="1" lang="en-US" sz="4200" spc="-1" strike="noStrike">
                <a:solidFill>
                  <a:srgbClr val="ffffff"/>
                </a:solidFill>
                <a:latin typeface="Arial Regular"/>
              </a:rPr>
              <a:t>Optimal in cost</a:t>
            </a:r>
            <a:r>
              <a:rPr b="0" lang="en-US" sz="4200" spc="-1" strike="noStrike">
                <a:solidFill>
                  <a:srgbClr val="ffffff"/>
                </a:solidFill>
                <a:latin typeface="Arial Regular"/>
              </a:rPr>
              <a:t> (</a:t>
            </a:r>
            <a:r>
              <a:rPr b="1" lang="en-US" sz="4200" spc="-1" strike="noStrike">
                <a:solidFill>
                  <a:srgbClr val="00ff00"/>
                </a:solidFill>
                <a:latin typeface="Arial Regular"/>
              </a:rPr>
              <a:t>when heuristic is admissible</a:t>
            </a:r>
            <a:r>
              <a:rPr b="0" lang="en-US" sz="4200" spc="-1" strike="noStrike">
                <a:solidFill>
                  <a:srgbClr val="ffffff"/>
                </a:solidFill>
                <a:latin typeface="Arial Regular"/>
              </a:rPr>
              <a:t>)</a:t>
            </a:r>
            <a:endParaRPr b="0" lang="en-US" sz="42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80000"/>
              </a:lnSpc>
              <a:spcBef>
                <a:spcPts val="601"/>
              </a:spcBef>
              <a:spcAft>
                <a:spcPts val="601"/>
              </a:spcAft>
              <a:buClr>
                <a:srgbClr val="ffffff"/>
              </a:buClr>
              <a:buFont typeface="Tw Cen MT"/>
              <a:buChar char=" "/>
              <a:tabLst>
                <a:tab algn="l" pos="0"/>
              </a:tabLst>
            </a:pPr>
            <a:r>
              <a:rPr b="1" i="1" lang="en-US" sz="4200" spc="-1" strike="noStrike">
                <a:solidFill>
                  <a:srgbClr val="ffffff"/>
                </a:solidFill>
                <a:latin typeface="Arial Regular"/>
              </a:rPr>
              <a:t>Complete*</a:t>
            </a:r>
            <a:endParaRPr b="0" lang="en-US" sz="42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80000"/>
              </a:lnSpc>
              <a:spcBef>
                <a:spcPts val="601"/>
              </a:spcBef>
              <a:spcAft>
                <a:spcPts val="601"/>
              </a:spcAft>
              <a:buClr>
                <a:srgbClr val="ffffff"/>
              </a:buClr>
              <a:buFont typeface="Tw Cen MT"/>
              <a:buChar char=" "/>
              <a:tabLst>
                <a:tab algn="l" pos="0"/>
              </a:tabLst>
            </a:pPr>
            <a:r>
              <a:rPr b="1" i="1" lang="en-US" sz="4200" spc="-1" strike="noStrike">
                <a:solidFill>
                  <a:srgbClr val="ffffff"/>
                </a:solidFill>
                <a:latin typeface="Arial Regular"/>
              </a:rPr>
              <a:t>Exhaustive</a:t>
            </a:r>
            <a:endParaRPr b="0" lang="en-US" sz="4200" spc="-1" strike="noStrike">
              <a:solidFill>
                <a:srgbClr val="ffffff"/>
              </a:solidFill>
              <a:latin typeface="Arial Regular"/>
            </a:endParaRPr>
          </a:p>
          <a:p>
            <a:pPr indent="0" defTabSz="9144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8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4200" spc="-1" strike="noStrike">
                <a:solidFill>
                  <a:srgbClr val="ffffff"/>
                </a:solidFill>
                <a:latin typeface="Arial Regular"/>
              </a:rPr>
              <a:t>A </a:t>
            </a:r>
            <a:r>
              <a:rPr b="1" i="1" lang="en-US" sz="4200" spc="-1" strike="noStrike">
                <a:solidFill>
                  <a:srgbClr val="00ff00"/>
                </a:solidFill>
                <a:latin typeface="Arial Regular"/>
              </a:rPr>
              <a:t>heuristic weight</a:t>
            </a:r>
            <a:r>
              <a:rPr b="0" lang="en-US" sz="4200" spc="-1" strike="noStrike">
                <a:solidFill>
                  <a:srgbClr val="ffffff"/>
                </a:solidFill>
                <a:latin typeface="Arial Regular"/>
              </a:rPr>
              <a:t> can increase heuristic influence but will effect optimality.</a:t>
            </a:r>
            <a:endParaRPr b="0" lang="en-US" sz="42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76" dur="indefinite" restart="never" nodeType="tmRoot">
          <p:childTnLst>
            <p:seq>
              <p:cTn id="377" dur="indefinite" nodeType="mainSeq">
                <p:childTnLst>
                  <p:par>
                    <p:cTn id="378" fill="hold">
                      <p:stCondLst>
                        <p:cond delay="indefinite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2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7" dur="5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indefinite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2" dur="500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7" dur="500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indefinite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2" dur="500"/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7" dur="500"/>
                                        <p:tgtEl>
                                          <p:spTgt spid="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2" dur="500"/>
                                        <p:tgtEl>
                                          <p:spTgt spid="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indefinite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7" dur="500"/>
                                        <p:tgtEl>
                                          <p:spTgt spid="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indefinite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2" dur="500"/>
                                        <p:tgtEl>
                                          <p:spTgt spid="6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57280" y="142200"/>
            <a:ext cx="11182320" cy="69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A* Search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4" name="TextBox 3"/>
          <p:cNvSpPr/>
          <p:nvPr/>
        </p:nvSpPr>
        <p:spPr>
          <a:xfrm>
            <a:off x="3848760" y="827640"/>
            <a:ext cx="8127000" cy="5813640"/>
          </a:xfrm>
          <a:prstGeom prst="rect">
            <a:avLst/>
          </a:prstGeom>
          <a:solidFill>
            <a:srgbClr val="002060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def breadthFirstSearch(start, goal):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open = </a:t>
            </a:r>
            <a:r>
              <a:rPr b="1" lang="en-US" sz="1300" spc="-1" strike="noStrike">
                <a:solidFill>
                  <a:srgbClr val="ffff00"/>
                </a:solidFill>
                <a:latin typeface="Consolas"/>
              </a:rPr>
              <a:t>priority_queue()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open.enqueue(PlannerNode(start, None, </a:t>
            </a:r>
            <a:r>
              <a:rPr b="1" lang="en-US" sz="1300" spc="-1" strike="noStrike">
                <a:solidFill>
                  <a:srgbClr val="ffff00"/>
                </a:solidFill>
                <a:latin typeface="Consolas"/>
              </a:rPr>
              <a:t>0, est(start, goal)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))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visited = { start: open.peek() 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while not len(open) is 0: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cur = open.pop()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if current.vertex is goal: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return build_solution(start, current)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for edge in current.vertex.edges: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1" lang="en-US" sz="1300" spc="-1" strike="noStrike">
                <a:solidFill>
                  <a:srgbClr val="ffff00"/>
                </a:solidFill>
                <a:latin typeface="Consolas"/>
              </a:rPr>
              <a:t>newCost = cur.gCost + edge.cost;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successor = edge.endpoint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if not visited[successor]: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  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newNode = PlannerNode(successor, current, </a:t>
            </a:r>
            <a:r>
              <a:rPr b="1" lang="en-US" sz="1300" spc="-1" strike="noStrike">
                <a:solidFill>
                  <a:srgbClr val="ffff00"/>
                </a:solidFill>
                <a:latin typeface="Consolas"/>
              </a:rPr>
              <a:t>newCost, est(current, goal)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  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visited[successor] = newNode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  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open.enqueue(newNode)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onsolas"/>
              </a:rPr>
              <a:t>  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else: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if newCost &lt; visited[successor].gCost: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  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visited[successor].gCost = newCost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ff00"/>
                </a:solidFill>
                <a:latin typeface="Consolas"/>
              </a:rPr>
              <a:t>          </a:t>
            </a:r>
            <a:r>
              <a:rPr b="1" lang="en-US" sz="1300" spc="-1" strike="noStrike">
                <a:solidFill>
                  <a:srgbClr val="00ff00"/>
                </a:solidFill>
                <a:latin typeface="Consolas"/>
              </a:rPr>
              <a:t>visited[successor].fCost = visited[successor].hCost + newCost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chemeClr val="lt1"/>
                </a:solidFill>
                <a:latin typeface="Consolas"/>
              </a:rPr>
              <a:t>      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visited[successor].parent = current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  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if not visited[successor] in open: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    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open.enqueue(visited[successor])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  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else: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    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open.resort()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Box 4"/>
          <p:cNvSpPr/>
          <p:nvPr/>
        </p:nvSpPr>
        <p:spPr>
          <a:xfrm>
            <a:off x="187560" y="827640"/>
            <a:ext cx="3570840" cy="2126160"/>
          </a:xfrm>
          <a:prstGeom prst="rect">
            <a:avLst/>
          </a:prstGeom>
          <a:solidFill>
            <a:srgbClr val="002060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class PlannerNode: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def __init__(self, v, p, g, h):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self.vertex = v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self.parent = p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1" lang="en-US" sz="1300" spc="-1" strike="noStrike">
                <a:solidFill>
                  <a:srgbClr val="ffff00"/>
                </a:solidFill>
                <a:latin typeface="Consolas"/>
              </a:rPr>
              <a:t>self.gCost = g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00"/>
                </a:solidFill>
                <a:latin typeface="Consolas"/>
              </a:rPr>
              <a:t>    </a:t>
            </a:r>
            <a:r>
              <a:rPr b="1" lang="en-US" sz="1300" spc="-1" strike="noStrike">
                <a:solidFill>
                  <a:srgbClr val="ffff00"/>
                </a:solidFill>
                <a:latin typeface="Consolas"/>
              </a:rPr>
              <a:t>self.hCost = h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ff00"/>
                </a:solidFill>
                <a:latin typeface="Consolas"/>
              </a:rPr>
              <a:t>    </a:t>
            </a:r>
            <a:r>
              <a:rPr b="1" lang="en-US" sz="1300" spc="-1" strike="noStrike">
                <a:solidFill>
                  <a:srgbClr val="00ff00"/>
                </a:solidFill>
                <a:latin typeface="Consolas"/>
              </a:rPr>
              <a:t>self.fCost = g + h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00"/>
                </a:solidFill>
                <a:latin typeface="Consolas"/>
              </a:rPr>
              <a:t>  </a:t>
            </a:r>
            <a:r>
              <a:rPr b="1" lang="en-US" sz="1300" spc="-1" strike="noStrike">
                <a:solidFill>
                  <a:srgbClr val="ffff00"/>
                </a:solidFill>
                <a:latin typeface="Consolas"/>
              </a:rPr>
              <a:t>def __lt__(self, oth):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00"/>
                </a:solidFill>
                <a:latin typeface="Consolas"/>
              </a:rPr>
              <a:t>    </a:t>
            </a:r>
            <a:r>
              <a:rPr b="1" lang="en-US" sz="1300" spc="-1" strike="noStrike">
                <a:solidFill>
                  <a:srgbClr val="ffff00"/>
                </a:solidFill>
                <a:latin typeface="Consolas"/>
              </a:rPr>
              <a:t>return self.fCost &lt; oth.fCost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23" dur="indefinite" restart="never" nodeType="tmRoot">
          <p:childTnLst>
            <p:seq>
              <p:cTn id="424" dur="indefinite" nodeType="mainSeq">
                <p:childTnLst>
                  <p:par>
                    <p:cTn id="425" fill="hold">
                      <p:stCondLst>
                        <p:cond delay="indefinite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2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32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35" dur="5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38" dur="500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41" dur="500"/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44" dur="500"/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5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47" dur="500"/>
                                        <p:tgtEl>
                                          <p:spTgt spid="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8" fill="hold">
                      <p:stCondLst>
                        <p:cond delay="indefinite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52" dur="500"/>
                                        <p:tgtEl>
                                          <p:spTgt spid="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55" dur="500"/>
                                        <p:tgtEl>
                                          <p:spTgt spid="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6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58" dur="500"/>
                                        <p:tgtEl>
                                          <p:spTgt spid="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6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4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66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69" dur="500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0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72" dur="500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75" dur="500"/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6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78" dur="500"/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81" dur="500"/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2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84" dur="500"/>
                                        <p:tgtEl>
                                          <p:spTgt spid="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5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87" dur="500"/>
                                        <p:tgtEl>
                                          <p:spTgt spid="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8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90" dur="500"/>
                                        <p:tgtEl>
                                          <p:spTgt spid="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1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93" dur="500"/>
                                        <p:tgtEl>
                                          <p:spTgt spid="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4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96" dur="500"/>
                                        <p:tgtEl>
                                          <p:spTgt spid="6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99" dur="500"/>
                                        <p:tgtEl>
                                          <p:spTgt spid="6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0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02" dur="500"/>
                                        <p:tgtEl>
                                          <p:spTgt spid="6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05" dur="500"/>
                                        <p:tgtEl>
                                          <p:spTgt spid="6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6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08" dur="500"/>
                                        <p:tgtEl>
                                          <p:spTgt spid="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11" dur="500"/>
                                        <p:tgtEl>
                                          <p:spTgt spid="6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2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14" dur="500"/>
                                        <p:tgtEl>
                                          <p:spTgt spid="6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5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17" dur="500"/>
                                        <p:tgtEl>
                                          <p:spTgt spid="6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8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20" dur="500"/>
                                        <p:tgtEl>
                                          <p:spTgt spid="6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1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23" dur="500"/>
                                        <p:tgtEl>
                                          <p:spTgt spid="6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4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26" dur="500"/>
                                        <p:tgtEl>
                                          <p:spTgt spid="6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29" dur="500"/>
                                        <p:tgtEl>
                                          <p:spTgt spid="6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0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32" dur="500"/>
                                        <p:tgtEl>
                                          <p:spTgt spid="6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3" fill="hold">
                      <p:stCondLst>
                        <p:cond delay="indefinite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id="53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37" dur="500"/>
                                        <p:tgtEl>
                                          <p:spTgt spid="6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68720" y="555480"/>
            <a:ext cx="11254320" cy="69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1" lang="en-US" sz="4800" spc="97" strike="noStrike">
                <a:solidFill>
                  <a:schemeClr val="lt1"/>
                </a:solidFill>
                <a:latin typeface="Garamond"/>
              </a:rPr>
              <a:t>A* Search: Problems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1523880" y="1718640"/>
            <a:ext cx="9143640" cy="36162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97741" lnSpcReduction="10000"/>
          </a:bodyPr>
          <a:p>
            <a:pPr marL="91440" indent="-91440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ffffff"/>
                </a:solidFill>
                <a:uFillTx/>
                <a:latin typeface="Arial Regular"/>
              </a:rPr>
              <a:t>Problems with A* Search:</a:t>
            </a: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lvl="1" marL="413640" indent="-2858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Consumes more memory than Greedy (but less than Uniform-Cost)</a:t>
            </a: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lvl="1" marL="413640" indent="-28584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ffc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 </a:t>
            </a: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Takes more CPU time than Greedy (but less than Uniform-Cost)</a:t>
            </a: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The Moral: </a:t>
            </a: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A* is very powerful and used in many applications (gaming &amp; otherwise), but there’s no free lunch. A* is good but requires substantial time and memory.</a:t>
            </a: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When memory or CPU time are in short supply, other, simpler methods may work better.</a:t>
            </a: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  <a:p>
            <a:pPr marL="91440" indent="-91440" defTabSz="914400">
              <a:lnSpc>
                <a:spcPct val="8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 Regula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8" dur="indefinite" restart="never" nodeType="tmRoot">
          <p:childTnLst>
            <p:seq>
              <p:cTn id="539" dur="indefinite" nodeType="mainSeq">
                <p:childTnLst>
                  <p:par>
                    <p:cTn id="540" nodeType="clickEffect" fill="hold">
                      <p:stCondLst>
                        <p:cond delay="indefinite"/>
                      </p:stCondLst>
                      <p:childTnLst>
                        <p:par>
                          <p:cTn id="54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4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44" dur="500"/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5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47" dur="500"/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8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50" dur="500"/>
                                        <p:tgtEl>
                                          <p:spTgt spid="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28160" y="2943000"/>
            <a:ext cx="11935440" cy="80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1" lang="en-US" sz="4000" spc="199" strike="noStrike">
                <a:solidFill>
                  <a:schemeClr val="lt1"/>
                </a:solidFill>
                <a:latin typeface="Arial"/>
              </a:rPr>
              <a:t>Fin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cap4053_ppt_template</Template>
  <TotalTime>1028</TotalTime>
  <Application>LibreOffice/24.2.7.2$Linux_X86_64 LibreOffice_project/420$Build-2</Application>
  <AppVersion>15.0000</AppVersion>
  <Words>928</Words>
  <Paragraphs>150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2018-09-23T01:33:33Z</dcterms:created>
  <dc:creator>Jeremiah Blanchard</dc:creator>
  <dc:description/>
  <dc:language>en-US</dc:language>
  <cp:lastModifiedBy/>
  <dcterms:modified xsi:type="dcterms:W3CDTF">2025-09-25T09:18:07Z</dcterms:modified>
  <cp:revision>156</cp:revision>
  <dc:subject/>
  <dc:title>Fundamentals of AI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8A5176DE-1C3A-4C5F-BD19-F0ED2390E70E</vt:lpwstr>
  </property>
  <property fmtid="{D5CDD505-2E9C-101B-9397-08002B2CF9AE}" pid="3" name="ArticulatePath">
    <vt:lpwstr>Presentation2</vt:lpwstr>
  </property>
  <property fmtid="{D5CDD505-2E9C-101B-9397-08002B2CF9AE}" pid="4" name="ArticulateProjectFull">
    <vt:lpwstr>H:\PowerPoint training for IDs\COIP-PPT-example-template.ppta</vt:lpwstr>
  </property>
  <property fmtid="{D5CDD505-2E9C-101B-9397-08002B2CF9AE}" pid="5" name="ArticulateProjectVersion">
    <vt:lpwstr>8</vt:lpwstr>
  </property>
  <property fmtid="{D5CDD505-2E9C-101B-9397-08002B2CF9AE}" pid="6" name="ArticulateUseProject">
    <vt:lpwstr>1</vt:lpwstr>
  </property>
  <property fmtid="{D5CDD505-2E9C-101B-9397-08002B2CF9AE}" pid="7" name="MMClips">
    <vt:i4>1</vt:i4>
  </property>
  <property fmtid="{D5CDD505-2E9C-101B-9397-08002B2CF9AE}" pid="8" name="Notes">
    <vt:i4>4</vt:i4>
  </property>
  <property fmtid="{D5CDD505-2E9C-101B-9397-08002B2CF9AE}" pid="9" name="PresentationFormat">
    <vt:lpwstr>Widescreen</vt:lpwstr>
  </property>
  <property fmtid="{D5CDD505-2E9C-101B-9397-08002B2CF9AE}" pid="10" name="Slides">
    <vt:i4>8</vt:i4>
  </property>
</Properties>
</file>