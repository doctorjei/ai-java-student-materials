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media10.mp4" ContentType="video/mp4"/>
  <Override PartName="/ppt/media/image9.gif" ContentType="image/gif"/>
  <Override PartName="/ppt/media/image11.png" ContentType="image/png"/>
  <Override PartName="/ppt/media/image2.png" ContentType="image/png"/>
  <Override PartName="/ppt/media/image18.jpeg" ContentType="image/jpeg"/>
  <Override PartName="/ppt/media/image8.png" ContentType="image/png"/>
  <Override PartName="/ppt/media/image17.png" ContentType="image/png"/>
  <Override PartName="/ppt/media/media14.mp4" ContentType="video/mp4"/>
  <Override PartName="/ppt/media/image1.png" ContentType="image/png"/>
  <Override PartName="/ppt/media/image3.png" ContentType="image/png"/>
  <Override PartName="/ppt/media/image4.gif" ContentType="image/gif"/>
  <Override PartName="/ppt/media/image16.png" ContentType="image/png"/>
  <Override PartName="/ppt/media/image5.jpeg" ContentType="image/jpeg"/>
  <Override PartName="/ppt/media/media12.mp4" ContentType="video/mp4"/>
  <Override PartName="/ppt/media/image15.png" ContentType="image/png"/>
  <Override PartName="/ppt/media/image6.png" ContentType="image/png"/>
  <Override PartName="/ppt/media/image7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DEB50D6-A28B-4AF3-B061-64B3C1A2E7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Modern: Digital, electronic, turing complete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Video Game: Display, Interaction, Amusement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1B8FF1-46DF-4A08-B770-0322C7F3D6D3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-Physical games: Bertie the Brain / Draughts / Chess / Mouse-in-a-Maze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-Fictional games, minicomputer: Spacewar!, Space Travel, Ping-Pong prototype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-Arcade games: Pong, Western Gun, Breakout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-Adventure games: Colossal cave adventure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D33B2A-B197-4825-BF87-FB36457EB1EF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12E4A3-920E-41B6-9165-4F6AA52FE8FA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C0A06D-759E-40EB-896E-B472545EC548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20E654-9501-4D47-84CF-33340CDFE248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066CB3-7072-4377-87F8-4CA0E4B4FD50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8B65E1-77CE-41BD-9400-683655E23572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A20D68-5673-4E02-8E2C-4ACCA8BB726C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Arial Regular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BFA0D6-A71E-4125-82C4-739A079DBBD7}" type="slidenum">
              <a:rPr b="0" lang="en-US" sz="1200" spc="-1" strike="noStrike">
                <a:solidFill>
                  <a:srgbClr val="000000"/>
                </a:solidFill>
                <a:latin typeface="Arial Regular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11.png"/><Relationship Id="rId4" Type="http://schemas.openxmlformats.org/officeDocument/2006/relationships/video" Target="../media/media12.mp4"/><Relationship Id="rId5" Type="http://schemas.microsoft.com/office/2007/relationships/media" Target="../media/media12.mp4"/><Relationship Id="rId6" Type="http://schemas.openxmlformats.org/officeDocument/2006/relationships/image" Target="../media/image13.png"/><Relationship Id="rId7" Type="http://schemas.openxmlformats.org/officeDocument/2006/relationships/video" Target="../media/media14.mp4"/><Relationship Id="rId8" Type="http://schemas.microsoft.com/office/2007/relationships/media" Target="../media/media14.mp4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ct8a3D7FvB0" TargetMode="External"/><Relationship Id="rId2" Type="http://schemas.openxmlformats.org/officeDocument/2006/relationships/hyperlink" Target="http://www.museumofplay.org/about/icheg/video-game-history/timeline" TargetMode="External"/><Relationship Id="rId3" Type="http://schemas.openxmlformats.org/officeDocument/2006/relationships/hyperlink" Target="https://www.si.edu/spotlight/the-father-of-the-video-game-the-ralph-baer-prototypes-and-electronic-games/video-game-history" TargetMode="External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8400" y="4998960"/>
            <a:ext cx="10428840" cy="45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A Brief Introduction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1526760"/>
            <a:ext cx="1120104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0555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83" strike="noStrike">
                <a:solidFill>
                  <a:schemeClr val="lt1"/>
                </a:solidFill>
                <a:latin typeface="Garamond"/>
              </a:rPr>
              <a:t>History of Computers, Simulations, &amp; Games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Picture 10" descr=""/>
          <p:cNvPicPr/>
          <p:nvPr/>
        </p:nvPicPr>
        <p:blipFill>
          <a:blip r:embed="rId1"/>
          <a:stretch/>
        </p:blipFill>
        <p:spPr>
          <a:xfrm>
            <a:off x="4390200" y="2466000"/>
            <a:ext cx="3404520" cy="238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685800" y="1783080"/>
            <a:ext cx="10743840" cy="3823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62222"/>
          </a:bodyPr>
          <a:p>
            <a:pPr indent="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Computer games are the earliest simulations – and they have been around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468000" y="321480"/>
            <a:ext cx="11249640" cy="130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Computer &amp; Games</a:t>
            </a:r>
            <a:br>
              <a:rPr sz="4800"/>
            </a:br>
            <a:r>
              <a:rPr b="1" lang="en-US" sz="3200" spc="83" strike="noStrike">
                <a:solidFill>
                  <a:schemeClr val="lt1"/>
                </a:solidFill>
                <a:latin typeface="Garamond"/>
              </a:rPr>
              <a:t>Like Peas and Carrots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: Rounded Corners 13"/>
          <p:cNvSpPr/>
          <p:nvPr/>
        </p:nvSpPr>
        <p:spPr>
          <a:xfrm>
            <a:off x="608760" y="3589200"/>
            <a:ext cx="10967760" cy="263520"/>
          </a:xfrm>
          <a:prstGeom prst="roundRect">
            <a:avLst>
              <a:gd name="adj" fmla="val 50000"/>
            </a:avLst>
          </a:prstGeom>
          <a:solidFill>
            <a:schemeClr val="tx2">
              <a:lumMod val="65000"/>
              <a:lumOff val="35000"/>
            </a:schemeClr>
          </a:solidFill>
          <a:ln>
            <a:solidFill>
              <a:srgbClr val="d9d9d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8" name="Rectangle: Rounded Corners 18"/>
          <p:cNvSpPr/>
          <p:nvPr/>
        </p:nvSpPr>
        <p:spPr>
          <a:xfrm>
            <a:off x="612720" y="2683080"/>
            <a:ext cx="91080" cy="1007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504720" y="2404800"/>
            <a:ext cx="2675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“Modern” Computer (ENIAC)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: Rounded Corners 20"/>
          <p:cNvSpPr/>
          <p:nvPr/>
        </p:nvSpPr>
        <p:spPr>
          <a:xfrm>
            <a:off x="2400840" y="3689280"/>
            <a:ext cx="92880" cy="60228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1346760" y="4694040"/>
            <a:ext cx="1525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“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Bertie the Brain”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2193840" y="4276080"/>
            <a:ext cx="1019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“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Draughts”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Rectangle 29"/>
          <p:cNvSpPr/>
          <p:nvPr/>
        </p:nvSpPr>
        <p:spPr>
          <a:xfrm>
            <a:off x="969480" y="2827800"/>
            <a:ext cx="300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Stored-Program (Manchester Baby)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Rectangle 30"/>
          <p:cNvSpPr/>
          <p:nvPr/>
        </p:nvSpPr>
        <p:spPr>
          <a:xfrm>
            <a:off x="3199680" y="2419560"/>
            <a:ext cx="279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Transistor Computer (CADET)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33"/>
          <p:cNvSpPr/>
          <p:nvPr/>
        </p:nvSpPr>
        <p:spPr>
          <a:xfrm>
            <a:off x="8539560" y="2825280"/>
            <a:ext cx="2576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Microprocessor (Intel 4004)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34"/>
          <p:cNvSpPr/>
          <p:nvPr/>
        </p:nvSpPr>
        <p:spPr>
          <a:xfrm>
            <a:off x="4354920" y="2810520"/>
            <a:ext cx="2243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Minicomputer (PDP-1)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36"/>
          <p:cNvSpPr/>
          <p:nvPr/>
        </p:nvSpPr>
        <p:spPr>
          <a:xfrm>
            <a:off x="3808800" y="4694040"/>
            <a:ext cx="3886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Text Editor (“Expensive Typewriter”, PDP-1)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ectangle 37"/>
          <p:cNvSpPr/>
          <p:nvPr/>
        </p:nvSpPr>
        <p:spPr>
          <a:xfrm>
            <a:off x="3813480" y="4276080"/>
            <a:ext cx="24447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PDP-1 game (Spacewar!)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Rectangle 49"/>
          <p:cNvSpPr/>
          <p:nvPr/>
        </p:nvSpPr>
        <p:spPr>
          <a:xfrm>
            <a:off x="8310960" y="4276080"/>
            <a:ext cx="2899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Home “Video” Game (Odyssey)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: Rounded Corners 50"/>
          <p:cNvSpPr/>
          <p:nvPr/>
        </p:nvSpPr>
        <p:spPr>
          <a:xfrm>
            <a:off x="2030760" y="3702960"/>
            <a:ext cx="91080" cy="100728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1" name="Rectangle 51"/>
          <p:cNvSpPr/>
          <p:nvPr/>
        </p:nvSpPr>
        <p:spPr>
          <a:xfrm rot="16200000">
            <a:off x="525600" y="281736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1946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52"/>
          <p:cNvSpPr/>
          <p:nvPr/>
        </p:nvSpPr>
        <p:spPr>
          <a:xfrm rot="16200000">
            <a:off x="889920" y="320292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1948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Rectangle 53"/>
          <p:cNvSpPr/>
          <p:nvPr/>
        </p:nvSpPr>
        <p:spPr>
          <a:xfrm rot="16200000">
            <a:off x="1633320" y="431568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1950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ectangle 54"/>
          <p:cNvSpPr/>
          <p:nvPr/>
        </p:nvSpPr>
        <p:spPr>
          <a:xfrm rot="16200000">
            <a:off x="2311560" y="392004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1951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Rectangle 55"/>
          <p:cNvSpPr/>
          <p:nvPr/>
        </p:nvSpPr>
        <p:spPr>
          <a:xfrm rot="16200000">
            <a:off x="3783960" y="281448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1955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ectangle: Rounded Corners 56"/>
          <p:cNvSpPr/>
          <p:nvPr/>
        </p:nvSpPr>
        <p:spPr>
          <a:xfrm>
            <a:off x="3864240" y="2683080"/>
            <a:ext cx="91080" cy="1007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7" name="Rectangle 62"/>
          <p:cNvSpPr/>
          <p:nvPr/>
        </p:nvSpPr>
        <p:spPr>
          <a:xfrm rot="16200000">
            <a:off x="5657400" y="392436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1961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: Rounded Corners 63"/>
          <p:cNvSpPr/>
          <p:nvPr/>
        </p:nvSpPr>
        <p:spPr>
          <a:xfrm>
            <a:off x="6417360" y="3700440"/>
            <a:ext cx="87480" cy="103392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39" name="Rectangle 64"/>
          <p:cNvSpPr/>
          <p:nvPr/>
        </p:nvSpPr>
        <p:spPr>
          <a:xfrm rot="16200000">
            <a:off x="6017400" y="4339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1962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Rectangle: Rounded Corners 65"/>
          <p:cNvSpPr/>
          <p:nvPr/>
        </p:nvSpPr>
        <p:spPr>
          <a:xfrm>
            <a:off x="9702720" y="3084840"/>
            <a:ext cx="92880" cy="602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1" name="Rectangle: Rounded Corners 68"/>
          <p:cNvSpPr/>
          <p:nvPr/>
        </p:nvSpPr>
        <p:spPr>
          <a:xfrm>
            <a:off x="10071000" y="3722040"/>
            <a:ext cx="92880" cy="60228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2" name="Rectangle: Rounded Corners 69"/>
          <p:cNvSpPr/>
          <p:nvPr/>
        </p:nvSpPr>
        <p:spPr>
          <a:xfrm>
            <a:off x="11487600" y="3692160"/>
            <a:ext cx="91080" cy="100728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3" name="Rectangle 70"/>
          <p:cNvSpPr/>
          <p:nvPr/>
        </p:nvSpPr>
        <p:spPr>
          <a:xfrm rot="16200000">
            <a:off x="5274720" y="317844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1960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Rectangle: Rounded Corners 71"/>
          <p:cNvSpPr/>
          <p:nvPr/>
        </p:nvSpPr>
        <p:spPr>
          <a:xfrm>
            <a:off x="11487600" y="2693520"/>
            <a:ext cx="91080" cy="1007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5" name="Rectangle 73"/>
          <p:cNvSpPr/>
          <p:nvPr/>
        </p:nvSpPr>
        <p:spPr>
          <a:xfrm rot="16200000">
            <a:off x="9681120" y="394128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1972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Rectangle 74"/>
          <p:cNvSpPr/>
          <p:nvPr/>
        </p:nvSpPr>
        <p:spPr>
          <a:xfrm rot="16200000">
            <a:off x="9302040" y="321012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1971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 75"/>
          <p:cNvSpPr/>
          <p:nvPr/>
        </p:nvSpPr>
        <p:spPr>
          <a:xfrm>
            <a:off x="8120880" y="2413440"/>
            <a:ext cx="3590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home micro-computer w. CRT (Micral C)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: Rounded Corners 76"/>
          <p:cNvSpPr/>
          <p:nvPr/>
        </p:nvSpPr>
        <p:spPr>
          <a:xfrm>
            <a:off x="1291680" y="3092400"/>
            <a:ext cx="92880" cy="602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9" name="Rectangle: Rounded Corners 77"/>
          <p:cNvSpPr/>
          <p:nvPr/>
        </p:nvSpPr>
        <p:spPr>
          <a:xfrm>
            <a:off x="5690520" y="3097080"/>
            <a:ext cx="92880" cy="602280"/>
          </a:xfrm>
          <a:prstGeom prst="roundRect">
            <a:avLst>
              <a:gd name="adj" fmla="val 22381"/>
            </a:avLst>
          </a:prstGeom>
          <a:solidFill>
            <a:schemeClr val="accent2">
              <a:lumMod val="50000"/>
            </a:schemeClr>
          </a:solidFill>
          <a:ln>
            <a:solidFill>
              <a:srgbClr val="70fbd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0" name="Rectangle: Rounded Corners 78"/>
          <p:cNvSpPr/>
          <p:nvPr/>
        </p:nvSpPr>
        <p:spPr>
          <a:xfrm>
            <a:off x="6056280" y="3698640"/>
            <a:ext cx="89280" cy="602280"/>
          </a:xfrm>
          <a:prstGeom prst="roundRect">
            <a:avLst>
              <a:gd name="adj" fmla="val 22381"/>
            </a:avLst>
          </a:prstGeom>
          <a:solidFill>
            <a:schemeClr val="accent1">
              <a:lumMod val="50000"/>
            </a:schemeClr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1" name="Rectangle 79"/>
          <p:cNvSpPr/>
          <p:nvPr/>
        </p:nvSpPr>
        <p:spPr>
          <a:xfrm>
            <a:off x="7915320" y="4695480"/>
            <a:ext cx="3795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</a:t>
            </a:r>
            <a:r>
              <a:rPr b="0" lang="en-US" sz="1400" spc="-1" strike="noStrike" baseline="30000">
                <a:solidFill>
                  <a:schemeClr val="lt1"/>
                </a:solidFill>
                <a:latin typeface="Arial"/>
              </a:rPr>
              <a:t>st</a:t>
            </a: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 Programmable Home Console (Channel F)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Rectangle 81"/>
          <p:cNvSpPr/>
          <p:nvPr/>
        </p:nvSpPr>
        <p:spPr>
          <a:xfrm rot="16200000">
            <a:off x="11077920" y="28206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1976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2"/>
          <p:cNvSpPr/>
          <p:nvPr/>
        </p:nvSpPr>
        <p:spPr>
          <a:xfrm rot="16200000">
            <a:off x="11089800" y="431568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</a:rPr>
              <a:t>1976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Right Brace 3"/>
          <p:cNvSpPr/>
          <p:nvPr/>
        </p:nvSpPr>
        <p:spPr>
          <a:xfrm rot="5400000">
            <a:off x="10371600" y="4647240"/>
            <a:ext cx="539640" cy="178560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70fb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Right Brace 44"/>
          <p:cNvSpPr/>
          <p:nvPr/>
        </p:nvSpPr>
        <p:spPr>
          <a:xfrm rot="5400000">
            <a:off x="2910960" y="3012840"/>
            <a:ext cx="552240" cy="50630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70fb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Right Brace 45"/>
          <p:cNvSpPr/>
          <p:nvPr/>
        </p:nvSpPr>
        <p:spPr>
          <a:xfrm rot="5400000">
            <a:off x="7439760" y="3543120"/>
            <a:ext cx="552240" cy="4006440"/>
          </a:xfrm>
          <a:prstGeom prst="rightBrace">
            <a:avLst>
              <a:gd name="adj1" fmla="val 8333"/>
              <a:gd name="adj2" fmla="val 50000"/>
            </a:avLst>
          </a:prstGeom>
          <a:noFill/>
          <a:ln>
            <a:solidFill>
              <a:srgbClr val="70fbd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Rectangle 46"/>
          <p:cNvSpPr/>
          <p:nvPr/>
        </p:nvSpPr>
        <p:spPr>
          <a:xfrm>
            <a:off x="2305440" y="5854680"/>
            <a:ext cx="1759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Mainframes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 47"/>
          <p:cNvSpPr/>
          <p:nvPr/>
        </p:nvSpPr>
        <p:spPr>
          <a:xfrm>
            <a:off x="6522480" y="5854680"/>
            <a:ext cx="238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Minicomputers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ectangle 48"/>
          <p:cNvSpPr/>
          <p:nvPr/>
        </p:nvSpPr>
        <p:spPr>
          <a:xfrm>
            <a:off x="9447840" y="5848920"/>
            <a:ext cx="2383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Arial"/>
              </a:rPr>
              <a:t>Microcomputers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/>
          </p:nvPr>
        </p:nvSpPr>
        <p:spPr>
          <a:xfrm>
            <a:off x="457200" y="1368360"/>
            <a:ext cx="11199960" cy="4422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Computer games evolved through development stages.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Simluation of physical world – (board games / sports)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Simulated fictional environments (1960s)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Arcade &amp; Adventure (1970s)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Composite (1980s)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Set pieces (1990s)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468000" y="559440"/>
            <a:ext cx="11249640" cy="7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Evolution of Games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Picture 8" descr="A picture containing object&#10;&#10;Description automatically generated"/>
          <p:cNvPicPr/>
          <p:nvPr/>
        </p:nvPicPr>
        <p:blipFill>
          <a:blip r:embed="rId1"/>
          <a:stretch/>
        </p:blipFill>
        <p:spPr>
          <a:xfrm>
            <a:off x="6862320" y="3595320"/>
            <a:ext cx="3904920" cy="2196000"/>
          </a:xfrm>
          <a:prstGeom prst="rect">
            <a:avLst/>
          </a:prstGeom>
          <a:ln w="0">
            <a:solidFill>
              <a:srgbClr val="fffff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9" dur="indefinite" restart="never" nodeType="tmRoot">
          <p:childTnLst>
            <p:seq>
              <p:cTn id="170" dur="indefinite" nodeType="mainSeq"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0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549000" y="1682280"/>
            <a:ext cx="11087280" cy="4618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Early arcade systems focused on repeating objectives: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 </a:t>
            </a: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Spacewar!</a:t>
            </a: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 – Blow up the rocket; don’t die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 </a:t>
            </a: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Galaxy Game</a:t>
            </a: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 – Also blow up the rocket &amp; don’t die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 </a:t>
            </a: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Pong</a:t>
            </a: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 – Outscore the other player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 </a:t>
            </a:r>
            <a:r>
              <a:rPr b="1" lang="en-US" sz="2600" spc="-1" strike="noStrike">
                <a:solidFill>
                  <a:srgbClr val="00b050"/>
                </a:solidFill>
                <a:latin typeface="Garamond"/>
              </a:rPr>
              <a:t>Western Gun </a:t>
            </a: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– kill the other player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Later games (e.g. </a:t>
            </a:r>
            <a:r>
              <a:rPr b="1" lang="en-US" sz="2800" spc="-1" strike="noStrike">
                <a:solidFill>
                  <a:srgbClr val="00b050"/>
                </a:solidFill>
                <a:latin typeface="Garamond"/>
              </a:rPr>
              <a:t>Speed Race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) would add growing difficulty.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title"/>
          </p:nvPr>
        </p:nvSpPr>
        <p:spPr>
          <a:xfrm>
            <a:off x="468000" y="559440"/>
            <a:ext cx="11249640" cy="7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The Early Arcade Era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6" dur="indefinite" restart="never" nodeType="tmRoot">
          <p:childTnLst>
            <p:seq>
              <p:cTn id="207" dur="indefinite" nodeType="mainSeq">
                <p:childTnLst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7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7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500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7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Content Placeholder 4" descr="A close up of text on a white background&#10;&#10;Description automatically generated"/>
          <p:cNvPicPr/>
          <p:nvPr/>
        </p:nvPicPr>
        <p:blipFill>
          <a:blip r:embed="rId1"/>
          <a:stretch/>
        </p:blipFill>
        <p:spPr>
          <a:xfrm>
            <a:off x="4415400" y="3483000"/>
            <a:ext cx="3354480" cy="228060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8000" y="361800"/>
            <a:ext cx="11249640" cy="69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Nishikado’s Lucky Mistake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Content Placeholder 1"/>
          <p:cNvSpPr/>
          <p:nvPr/>
        </p:nvSpPr>
        <p:spPr>
          <a:xfrm>
            <a:off x="1721160" y="1351080"/>
            <a:ext cx="8239320" cy="20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rmAutofit fontScale="71666"/>
          </a:bodyPr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Tomohiro Nishikado wrote “Space Invaders” (1976).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Difficulty increases by level (closer enemies)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Game speeds up with fewer enemies – originally </a:t>
            </a:r>
            <a:r>
              <a:rPr b="1" i="1" lang="en-US" sz="3200" spc="-1" strike="noStrike">
                <a:solidFill>
                  <a:srgbClr val="00b050"/>
                </a:solidFill>
                <a:latin typeface="Garamond"/>
              </a:rPr>
              <a:t>a bug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110000"/>
              </a:lnSpc>
              <a:spcBef>
                <a:spcPts val="201"/>
              </a:spcBef>
              <a:spcAft>
                <a:spcPts val="1199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 …</a:t>
            </a: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and games were never the same again!</a:t>
            </a:r>
            <a:r>
              <a:rPr b="1" lang="en-US" sz="3200" spc="-1" strike="noStrike">
                <a:solidFill>
                  <a:srgbClr val="00b050"/>
                </a:solidFill>
                <a:latin typeface="Garamond"/>
              </a:rPr>
              <a:t> 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Picture 7" descr="A screenshot of a cell phone&#10;&#10;Description automatically generated"/>
          <p:cNvPicPr/>
          <p:nvPr/>
        </p:nvPicPr>
        <p:blipFill>
          <a:blip r:embed="rId2"/>
          <a:stretch/>
        </p:blipFill>
        <p:spPr>
          <a:xfrm>
            <a:off x="1060920" y="3483000"/>
            <a:ext cx="2862720" cy="2278440"/>
          </a:xfrm>
          <a:prstGeom prst="rect">
            <a:avLst/>
          </a:prstGeom>
          <a:ln w="0">
            <a:solidFill>
              <a:srgbClr val="00ff00"/>
            </a:solidFill>
          </a:ln>
        </p:spPr>
      </p:pic>
      <p:pic>
        <p:nvPicPr>
          <p:cNvPr id="69" name="Picture 9" descr="A person sitting at a table using a computer&#10;&#10;Description automatically generated"/>
          <p:cNvPicPr/>
          <p:nvPr/>
        </p:nvPicPr>
        <p:blipFill>
          <a:blip r:embed="rId3"/>
          <a:stretch/>
        </p:blipFill>
        <p:spPr>
          <a:xfrm>
            <a:off x="8261640" y="3483000"/>
            <a:ext cx="3033720" cy="2278440"/>
          </a:xfrm>
          <a:prstGeom prst="rect">
            <a:avLst/>
          </a:prstGeom>
          <a:ln w="0">
            <a:noFill/>
          </a:ln>
        </p:spPr>
      </p:pic>
      <p:sp>
        <p:nvSpPr>
          <p:cNvPr id="70" name="Speech Bubble: Rectangle with Corners Rounded 11"/>
          <p:cNvSpPr/>
          <p:nvPr/>
        </p:nvSpPr>
        <p:spPr>
          <a:xfrm>
            <a:off x="8323200" y="3776400"/>
            <a:ext cx="1267560" cy="786960"/>
          </a:xfrm>
          <a:prstGeom prst="wedgeRoundRectCallout">
            <a:avLst>
              <a:gd name="adj1" fmla="val 61824"/>
              <a:gd name="adj2" fmla="val 28764"/>
              <a:gd name="adj3" fmla="val 16667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ja-JP" sz="1800" spc="-1" strike="noStrike">
                <a:solidFill>
                  <a:schemeClr val="lt1"/>
                </a:solidFill>
                <a:latin typeface="Arial"/>
              </a:rPr>
              <a:t>お前はもう死んでいる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2150280" y="5893560"/>
            <a:ext cx="7884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chemeClr val="lt2"/>
                </a:solidFill>
                <a:latin typeface="Garamond"/>
              </a:rPr>
              <a:t>Some refer to this pattern as "Nishikado Motion".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8" dur="indefinite" restart="never" nodeType="tmRoot">
          <p:childTnLst>
            <p:seq>
              <p:cTn id="239" dur="indefinite" nodeType="mainSeq">
                <p:childTnLst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4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1371600" y="1272600"/>
            <a:ext cx="9371160" cy="2041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Narrative games arose with </a:t>
            </a:r>
            <a:r>
              <a:rPr b="1" i="1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Colossal Cave Adventure</a:t>
            </a:r>
            <a:r>
              <a:rPr b="0" lang="en-US" sz="2400" spc="-1" strike="noStrike" u="sng">
                <a:solidFill>
                  <a:schemeClr val="lt1"/>
                </a:solidFill>
                <a:uFillTx/>
                <a:latin typeface="Garamond"/>
              </a:rPr>
              <a:t> (1976).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Narration of description in text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Text based commands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Room-based area design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468000" y="459360"/>
            <a:ext cx="11249640" cy="6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Adventure in Text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172520" y="3065040"/>
            <a:ext cx="9798840" cy="2284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YOU ARE STANDING AT THE END OF A ROAD BEFORE A SMALL BRICK BUILDING.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AROUND YOU IS A FOREST.  A SMALL STREAM FLOWS OUT OF THE BUILDING AND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DOWN A GULLY.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0b050"/>
                </a:solidFill>
                <a:latin typeface="Consolas"/>
              </a:rPr>
              <a:t>go south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YOU ARE IN A VALLEY IN THE FOREST BESIDE A STREAM TUMBLING ALONG A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onsolas"/>
              </a:rPr>
              <a:t>ROCKY BED.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ectangle 1"/>
          <p:cNvSpPr/>
          <p:nvPr/>
        </p:nvSpPr>
        <p:spPr>
          <a:xfrm>
            <a:off x="457200" y="5915160"/>
            <a:ext cx="11390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chemeClr val="lt1"/>
                </a:solidFill>
                <a:latin typeface="Garamond"/>
              </a:rPr>
              <a:t>The first multiplayer online text adventure, MUD, was released in 1978.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3" dur="indefinite" restart="never" nodeType="tmRoot">
          <p:childTnLst>
            <p:seq>
              <p:cTn id="284" dur="indefinite" nodeType="mainSeq">
                <p:childTnLst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4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2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5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8" dur="500"/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8" dur="500"/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1" dur="500"/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685800" y="1914480"/>
            <a:ext cx="10742760" cy="4381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In 1980, Namco released </a:t>
            </a:r>
            <a:r>
              <a:rPr b="1" lang="en-US" sz="3200" spc="-1" strike="noStrike" u="sng">
                <a:solidFill>
                  <a:srgbClr val="ffff00"/>
                </a:solidFill>
                <a:uFillTx/>
                <a:latin typeface="Garamond"/>
              </a:rPr>
              <a:t>Pac-Man</a:t>
            </a:r>
            <a:r>
              <a:rPr b="0" lang="en-US" sz="3200" spc="-1" strike="noStrike" u="sng">
                <a:solidFill>
                  <a:schemeClr val="lt1"/>
                </a:solidFill>
                <a:uFillTx/>
                <a:latin typeface="Garamond"/>
              </a:rPr>
              <a:t> by Toru Iwatani.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First original game mascot character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First power-ups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First cut-scene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Multiple unique characters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Switching between chasing &amp; fleeing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Pac-Man also heralded the beginning of a character-driven AI.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468000" y="787680"/>
            <a:ext cx="11249640" cy="6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Paku-Paku, Dude!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Picture 4" descr="A close up of a logo&#10;&#10;Description automatically generated"/>
          <p:cNvPicPr/>
          <p:nvPr/>
        </p:nvPicPr>
        <p:blipFill>
          <a:blip r:embed="rId1"/>
          <a:stretch/>
        </p:blipFill>
        <p:spPr>
          <a:xfrm>
            <a:off x="7662240" y="2769840"/>
            <a:ext cx="3425400" cy="2080440"/>
          </a:xfrm>
          <a:prstGeom prst="rect">
            <a:avLst/>
          </a:prstGeom>
          <a:ln w="0">
            <a:solidFill>
              <a:srgbClr val="fffff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7" dur="indefinite" restart="never" nodeType="tmRoot">
          <p:childTnLst>
            <p:seq>
              <p:cTn id="338" dur="indefinite" nodeType="mainSeq">
                <p:childTnLst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8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3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3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8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4" descr="A close up of a map&#10;&#10;Description automatically generated"/>
          <p:cNvPicPr/>
          <p:nvPr/>
        </p:nvPicPr>
        <p:blipFill>
          <a:blip r:embed="rId1"/>
          <a:stretch/>
        </p:blipFill>
        <p:spPr>
          <a:xfrm>
            <a:off x="4014360" y="3896280"/>
            <a:ext cx="4157640" cy="259848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685800" y="1497960"/>
            <a:ext cx="10742760" cy="22186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King’s Quest (1983) added interactive graphics to adventures.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Character, like “arcade games”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Text commands, like adventure games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Rich animations and </a:t>
            </a:r>
            <a:r>
              <a:rPr b="1" lang="en-US" sz="28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Garamond"/>
              </a:rPr>
              <a:t>1</a:t>
            </a:r>
            <a:r>
              <a:rPr b="1" lang="en-US" sz="2800" spc="-1" strike="noStrike">
                <a:solidFill>
                  <a:schemeClr val="accent2">
                    <a:lumMod val="75000"/>
                  </a:schemeClr>
                </a:solidFill>
                <a:latin typeface="Garamond"/>
              </a:rPr>
              <a:t>6</a:t>
            </a:r>
            <a:r>
              <a:rPr b="1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1" lang="en-US" sz="2800" spc="-1" strike="noStrike">
                <a:solidFill>
                  <a:srgbClr val="ff0000"/>
                </a:solidFill>
                <a:latin typeface="Garamond"/>
              </a:rPr>
              <a:t>C</a:t>
            </a:r>
            <a:r>
              <a:rPr b="1" lang="en-US" sz="2800" spc="-1" strike="noStrike">
                <a:solidFill>
                  <a:schemeClr val="accent6">
                    <a:lumMod val="75000"/>
                  </a:schemeClr>
                </a:solidFill>
                <a:latin typeface="Garamond"/>
              </a:rPr>
              <a:t>O</a:t>
            </a:r>
            <a:r>
              <a:rPr b="1" lang="en-US" sz="2800" spc="-1" strike="noStrike">
                <a:solidFill>
                  <a:srgbClr val="ffff00"/>
                </a:solidFill>
                <a:latin typeface="Garamond"/>
              </a:rPr>
              <a:t>L</a:t>
            </a:r>
            <a:r>
              <a:rPr b="1" lang="en-US" sz="2800" spc="-1" strike="noStrike">
                <a:solidFill>
                  <a:srgbClr val="00b050"/>
                </a:solidFill>
                <a:latin typeface="Garamond"/>
              </a:rPr>
              <a:t>O</a:t>
            </a:r>
            <a:r>
              <a:rPr b="1" lang="en-US" sz="2800" spc="-1" strike="noStrike">
                <a:solidFill>
                  <a:srgbClr val="0070c0"/>
                </a:solidFill>
                <a:latin typeface="Garamond"/>
              </a:rPr>
              <a:t>R</a:t>
            </a:r>
            <a:r>
              <a:rPr b="1" lang="en-US" sz="2800" spc="-1" strike="noStrike">
                <a:solidFill>
                  <a:schemeClr val="accent1">
                    <a:lumMod val="75000"/>
                  </a:schemeClr>
                </a:solidFill>
                <a:latin typeface="Garamond"/>
              </a:rPr>
              <a:t>S</a:t>
            </a:r>
            <a:r>
              <a:rPr b="1" lang="en-US" sz="2800" spc="-1" strike="noStrike">
                <a:solidFill>
                  <a:srgbClr val="00b0f0"/>
                </a:solidFill>
                <a:latin typeface="Garamond"/>
              </a:rPr>
              <a:t>!</a:t>
            </a:r>
            <a:r>
              <a:rPr b="1" lang="en-US" sz="2800" spc="-1" strike="noStrike">
                <a:solidFill>
                  <a:srgbClr val="00ff00"/>
                </a:solidFill>
                <a:latin typeface="Garamond"/>
              </a:rPr>
              <a:t>!</a:t>
            </a:r>
            <a:r>
              <a:rPr b="1" lang="en-US" sz="2800" spc="-1" strike="noStrike">
                <a:solidFill>
                  <a:schemeClr val="lt2">
                    <a:lumMod val="65000"/>
                  </a:schemeClr>
                </a:solidFill>
                <a:latin typeface="Garamond"/>
              </a:rPr>
              <a:t>!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468000" y="559440"/>
            <a:ext cx="11249640" cy="7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Graphical Adventure Games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950760"/>
            <a:ext cx="11199960" cy="22086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200" spc="-1" strike="noStrike" u="sng">
                <a:solidFill>
                  <a:schemeClr val="lt1"/>
                </a:solidFill>
                <a:uFillTx/>
                <a:latin typeface="Garamond"/>
              </a:rPr>
              <a:t>Hardware advances facilitatied more complex composite (mixed genre) games.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Combined multiple types of play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Often facilitated by power-ups that introduce “abilities”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1" i="1" lang="en-US" sz="2200" spc="-1" strike="noStrike">
                <a:solidFill>
                  <a:srgbClr val="00b050"/>
                </a:solidFill>
                <a:latin typeface="Garamond"/>
              </a:rPr>
              <a:t>More fun 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rather than merely </a:t>
            </a:r>
            <a:r>
              <a:rPr b="1" i="1" lang="en-US" sz="2200" spc="-1" strike="noStrike">
                <a:solidFill>
                  <a:schemeClr val="accent2">
                    <a:lumMod val="75000"/>
                  </a:schemeClr>
                </a:solidFill>
                <a:latin typeface="Garamond"/>
              </a:rPr>
              <a:t>more difficult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Allows richer variation &amp; styles of play as needed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68000" y="244440"/>
            <a:ext cx="11249640" cy="6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Composite Games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1271160" y="5659200"/>
            <a:ext cx="96436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These games – made famous by Super Mario Bros. – are widely credited with the game revival of the 1980s.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1180800" y="5133960"/>
            <a:ext cx="2417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Garamond"/>
              </a:rPr>
              <a:t>Donkey</a:t>
            </a:r>
            <a:r>
              <a:rPr b="0" lang="en-US" sz="1800" spc="-1" strike="noStrike">
                <a:solidFill>
                  <a:schemeClr val="lt1"/>
                </a:solidFill>
                <a:latin typeface="Garamond"/>
              </a:rPr>
              <a:t> Kong (1981)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 8"/>
          <p:cNvSpPr/>
          <p:nvPr/>
        </p:nvSpPr>
        <p:spPr>
          <a:xfrm>
            <a:off x="4536000" y="5133960"/>
            <a:ext cx="3089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Garamond"/>
              </a:rPr>
              <a:t>Super Mario Bros. (1985)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9"/>
          <p:cNvSpPr/>
          <p:nvPr/>
        </p:nvSpPr>
        <p:spPr>
          <a:xfrm>
            <a:off x="8384760" y="5133960"/>
            <a:ext cx="2822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Garamond"/>
              </a:rPr>
              <a:t>Legend of Zelda (1986)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03760" y="2997720"/>
            <a:ext cx="2571480" cy="201060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80800" y="2999520"/>
            <a:ext cx="2624040" cy="200880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483760" y="2999520"/>
            <a:ext cx="2624040" cy="20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6" dur="indefinite" restart="never" nodeType="tmRoot">
          <p:childTnLst>
            <p:seq>
              <p:cTn id="407" dur="indefinite" nodeType="mainSeq">
                <p:childTnLst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7" dur="29360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2" dur="21300" fill="hold"/>
                                        <p:tgtEl>
                                          <p:spTgt spid="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2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62" dur="27980" fill="hold"/>
                                        <p:tgtEl>
                                          <p:spTgt spid="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88"/>
                </p:tgtEl>
              </p:cMediaNode>
            </p:video>
            <p:video>
              <p:cMediaNode>
                <p:cTn>
                  <p:stCondLst>
                    <p:cond delay="indefinite"/>
                  </p:stCondLst>
                </p:cTn>
                <p:tgtEl>
                  <p:spTgt spid="89"/>
                </p:tgtEl>
              </p:cMediaNode>
            </p:video>
            <p:video>
              <p:cMediaNode>
                <p:cTn>
                  <p:stCondLst>
                    <p:cond delay="indefinite"/>
                  </p:stCondLst>
                </p:cTn>
                <p:tgtEl>
                  <p:spTgt spid="90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/>
          </p:nvPr>
        </p:nvSpPr>
        <p:spPr>
          <a:xfrm>
            <a:off x="685800" y="1307880"/>
            <a:ext cx="10742760" cy="2205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128160" indent="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As the cost of assets skyrocketed, set piece designs took hold.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Often simulated 3D space 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Focused on scenes to build a narrative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Use new assets sparingly – fewer, and long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468000" y="425880"/>
            <a:ext cx="11249640" cy="68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83" strike="noStrike">
                <a:solidFill>
                  <a:schemeClr val="lt1"/>
                </a:solidFill>
                <a:latin typeface="Garamond"/>
              </a:rPr>
              <a:t>Lights, Camera, Action!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Picture 6" descr="A picture containing toy, LEGO, wall&#10;&#10;Description automatically generated"/>
          <p:cNvPicPr/>
          <p:nvPr/>
        </p:nvPicPr>
        <p:blipFill>
          <a:blip r:embed="rId1"/>
          <a:stretch/>
        </p:blipFill>
        <p:spPr>
          <a:xfrm>
            <a:off x="649800" y="3638880"/>
            <a:ext cx="3209040" cy="2406600"/>
          </a:xfrm>
          <a:prstGeom prst="rect">
            <a:avLst/>
          </a:prstGeom>
          <a:ln w="0">
            <a:solidFill>
              <a:srgbClr val="ffffff"/>
            </a:solidFill>
          </a:ln>
        </p:spPr>
      </p:pic>
      <p:pic>
        <p:nvPicPr>
          <p:cNvPr id="94" name="Picture 8" descr="A picture containing building&#10;&#10;Description automatically generated"/>
          <p:cNvPicPr/>
          <p:nvPr/>
        </p:nvPicPr>
        <p:blipFill>
          <a:blip r:embed="rId2"/>
          <a:srcRect l="4103" t="0" r="13494" b="0"/>
          <a:stretch/>
        </p:blipFill>
        <p:spPr>
          <a:xfrm>
            <a:off x="4489560" y="3638880"/>
            <a:ext cx="3206520" cy="2406600"/>
          </a:xfrm>
          <a:prstGeom prst="rect">
            <a:avLst/>
          </a:prstGeom>
          <a:ln w="0">
            <a:solidFill>
              <a:srgbClr val="ffffff"/>
            </a:solidFill>
          </a:ln>
        </p:spPr>
      </p:pic>
      <p:pic>
        <p:nvPicPr>
          <p:cNvPr id="95" name="Picture 10" descr="A picture containing floor, indoor, wall, ground&#10;&#10;Description automatically generated"/>
          <p:cNvPicPr/>
          <p:nvPr/>
        </p:nvPicPr>
        <p:blipFill>
          <a:blip r:embed="rId3"/>
          <a:srcRect l="12525" t="0" r="12525" b="0"/>
          <a:stretch/>
        </p:blipFill>
        <p:spPr>
          <a:xfrm>
            <a:off x="8328960" y="3638880"/>
            <a:ext cx="3206520" cy="2406600"/>
          </a:xfrm>
          <a:prstGeom prst="rect">
            <a:avLst/>
          </a:prstGeom>
          <a:ln w="0">
            <a:solidFill>
              <a:srgbClr val="ffffff"/>
            </a:solidFill>
          </a:ln>
        </p:spPr>
      </p:pic>
      <p:sp>
        <p:nvSpPr>
          <p:cNvPr id="96" name="Rectangle 7"/>
          <p:cNvSpPr/>
          <p:nvPr/>
        </p:nvSpPr>
        <p:spPr>
          <a:xfrm>
            <a:off x="647640" y="6021720"/>
            <a:ext cx="3209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Wolfenstein 3D (1992)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 9"/>
          <p:cNvSpPr/>
          <p:nvPr/>
        </p:nvSpPr>
        <p:spPr>
          <a:xfrm>
            <a:off x="4487040" y="6021720"/>
            <a:ext cx="3209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Doom (1993)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 11"/>
          <p:cNvSpPr/>
          <p:nvPr/>
        </p:nvSpPr>
        <p:spPr>
          <a:xfrm>
            <a:off x="8327880" y="6021720"/>
            <a:ext cx="3209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8160"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Garamond"/>
              </a:rPr>
              <a:t>Half-Life (1998)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8" dur="indefinite" restart="never" nodeType="tmRoot">
          <p:childTnLst>
            <p:seq>
              <p:cTn id="469" dur="indefinite" nodeType="mainSeq">
                <p:childTnLst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9" dur="500"/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4" dur="500"/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9" dur="500"/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indefinite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6" fill="hold">
                      <p:stCondLst>
                        <p:cond delay="indefinite"/>
                      </p:stCondLst>
                      <p:childTnLst>
                        <p:par>
                          <p:cTn id="507" fill="hold">
                            <p:stCondLst>
                              <p:cond delay="0"/>
                            </p:stCondLst>
                            <p:childTnLst>
                              <p:par>
                                <p:cTn id="5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ontent Placeholder 1"/>
          <p:cNvSpPr/>
          <p:nvPr/>
        </p:nvSpPr>
        <p:spPr>
          <a:xfrm>
            <a:off x="916200" y="2377440"/>
            <a:ext cx="10352880" cy="30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7222"/>
          </a:bodyPr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Holleman, P. </a:t>
            </a:r>
            <a:r>
              <a:rPr b="0" i="1" lang="en-US" sz="2200" spc="-1" strike="noStrike">
                <a:solidFill>
                  <a:schemeClr val="lt1"/>
                </a:solidFill>
                <a:latin typeface="Garamond"/>
              </a:rPr>
              <a:t>The History and Evolution of Videogames </a:t>
            </a:r>
            <a:r>
              <a:rPr b="0" i="1" lang="en-US" sz="2200" spc="-1" strike="noStrike">
                <a:solidFill>
                  <a:schemeClr val="dk1"/>
                </a:solidFill>
                <a:latin typeface="Garamond"/>
              </a:rPr>
              <a:t>Design</a:t>
            </a:r>
            <a:r>
              <a:rPr b="0" lang="en-US" sz="2200" spc="-1" strike="noStrike">
                <a:solidFill>
                  <a:schemeClr val="dk1"/>
                </a:solidFill>
                <a:latin typeface="Garamond"/>
              </a:rPr>
              <a:t>. </a:t>
            </a:r>
            <a:r>
              <a:rPr b="0" lang="en-US" sz="2200" spc="-1" strike="noStrike" u="sng">
                <a:solidFill>
                  <a:srgbClr val="113ea7"/>
                </a:solidFill>
                <a:uFillTx/>
                <a:latin typeface="Garamond"/>
                <a:hlinkClick r:id="rId1"/>
              </a:rPr>
              <a:t>https://www.youtube.com/watch?v=ct8a3D7FvB0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The Strong National Museum of Play. </a:t>
            </a:r>
            <a:r>
              <a:rPr b="0" i="1" lang="en-US" sz="2200" spc="-1" strike="noStrike">
                <a:solidFill>
                  <a:schemeClr val="lt1"/>
                </a:solidFill>
                <a:latin typeface="Garamond"/>
              </a:rPr>
              <a:t>Video Game History Timeline</a:t>
            </a:r>
            <a:r>
              <a:rPr b="0" lang="en-US" sz="2200" spc="-1" strike="noStrike">
                <a:solidFill>
                  <a:schemeClr val="dk1"/>
                </a:solidFill>
                <a:latin typeface="Garamond"/>
              </a:rPr>
              <a:t>. </a:t>
            </a:r>
            <a:r>
              <a:rPr b="0" lang="en-US" sz="2200" spc="-1" strike="noStrike" u="sng">
                <a:solidFill>
                  <a:srgbClr val="113ea7"/>
                </a:solidFill>
                <a:uFillTx/>
                <a:latin typeface="Garamond"/>
                <a:hlinkClick r:id="rId2"/>
              </a:rPr>
              <a:t>http://www.museumofplay.org/about/icheg/video-game-history/timeline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Smithsonian Institution. </a:t>
            </a:r>
            <a:r>
              <a:rPr b="0" i="1" lang="en-US" sz="2200" spc="-1" strike="noStrike">
                <a:solidFill>
                  <a:schemeClr val="lt1"/>
                </a:solidFill>
                <a:latin typeface="Garamond"/>
              </a:rPr>
              <a:t>Video Game History</a:t>
            </a:r>
            <a:r>
              <a:rPr b="0" lang="en-US" sz="2200" spc="-1" strike="noStrike">
                <a:solidFill>
                  <a:schemeClr val="lt1"/>
                </a:solidFill>
                <a:latin typeface="Garamond"/>
              </a:rPr>
              <a:t>. </a:t>
            </a:r>
            <a:r>
              <a:rPr b="0" lang="en-US" sz="2200" spc="-1" strike="noStrike" u="sng">
                <a:solidFill>
                  <a:srgbClr val="113ea7"/>
                </a:solidFill>
                <a:uFillTx/>
                <a:latin typeface="Garamond"/>
                <a:hlinkClick r:id="rId3"/>
              </a:rPr>
              <a:t>https://www.si.edu/spotlight/the-father-of-the-video-game-the-ralph-baer-prototypes-and-electronic-games/video-game-history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itle 2"/>
          <p:cNvSpPr/>
          <p:nvPr/>
        </p:nvSpPr>
        <p:spPr>
          <a:xfrm>
            <a:off x="468000" y="1226880"/>
            <a:ext cx="112496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4000" spc="185" strike="noStrike">
                <a:solidFill>
                  <a:schemeClr val="lt1"/>
                </a:solidFill>
                <a:latin typeface="Arial"/>
              </a:rPr>
              <a:t>References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cap4053_ppt_template_rev4</Template>
  <TotalTime>165</TotalTime>
  <Application>LibreOffice/24.2.7.2$Linux_X86_64 LibreOffice_project/420$Build-2</Application>
  <AppVersion>15.0000</AppVersion>
  <Words>739</Words>
  <Paragraphs>119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2018-12-03T18:33:34Z</dcterms:created>
  <dc:creator>Jeremiah Blanchard</dc:creator>
  <dc:description/>
  <dc:language>en-US</dc:language>
  <cp:lastModifiedBy/>
  <dcterms:modified xsi:type="dcterms:W3CDTF">2025-09-10T21:32:32Z</dcterms:modified>
  <cp:revision>9</cp:revision>
  <dc:subject/>
  <dc:title>History of Computer Games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MMClips">
    <vt:i4>3</vt:i4>
  </property>
  <property fmtid="{D5CDD505-2E9C-101B-9397-08002B2CF9AE}" pid="8" name="Notes">
    <vt:i4>9</vt:i4>
  </property>
  <property fmtid="{D5CDD505-2E9C-101B-9397-08002B2CF9AE}" pid="9" name="PresentationFormat">
    <vt:lpwstr>Widescreen</vt:lpwstr>
  </property>
  <property fmtid="{D5CDD505-2E9C-101B-9397-08002B2CF9AE}" pid="10" name="Slides">
    <vt:i4>11</vt:i4>
  </property>
</Properties>
</file>