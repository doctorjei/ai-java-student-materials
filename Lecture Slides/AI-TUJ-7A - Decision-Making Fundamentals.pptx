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27.png" ContentType="image/png"/>
  <Override PartName="/ppt/media/image4.png" ContentType="image/png"/>
  <Override PartName="/ppt/media/image8.png" ContentType="image/png"/>
  <Override PartName="/ppt/media/image17.png" ContentType="image/png"/>
  <Override PartName="/ppt/media/image9.svg" ContentType="image/svg"/>
  <Override PartName="/ppt/media/image5.svg" ContentType="image/svg"/>
  <Override PartName="/ppt/media/image3.png" ContentType="image/png"/>
  <Override PartName="/ppt/media/image6.png" ContentType="image/png"/>
  <Override PartName="/ppt/media/image29.wmf" ContentType="image/x-wmf"/>
  <Override PartName="/ppt/media/image2.png" ContentType="image/png"/>
  <Override PartName="/ppt/media/image1.png" ContentType="image/png"/>
  <Override PartName="/ppt/media/image7.svg" ContentType="image/svg"/>
  <Override PartName="/ppt/media/image11.svg" ContentType="image/svg"/>
  <Override PartName="/ppt/media/image30.png" ContentType="image/png"/>
  <Override PartName="/ppt/media/media18.mkv" ContentType="video/x-matroska"/>
  <Override PartName="/ppt/media/media20.mkv" ContentType="video/x-matroska"/>
  <Override PartName="/ppt/media/image14.png" ContentType="image/png"/>
  <Override PartName="/ppt/media/image15.svg" ContentType="image/svg"/>
  <Override PartName="/ppt/media/image16.png" ContentType="image/png"/>
  <Override PartName="/ppt/media/image19.png" ContentType="image/png"/>
  <Override PartName="/ppt/media/image21.png" ContentType="image/png"/>
  <Override PartName="/ppt/media/image10.png" ContentType="image/png"/>
  <Override PartName="/ppt/media/media22.mkv" ContentType="video/x-matroska"/>
  <Override PartName="/ppt/media/image23.png" ContentType="image/png"/>
  <Override PartName="/ppt/media/image12.png" ContentType="image/png"/>
  <Override PartName="/ppt/media/media24.mkv" ContentType="video/x-matroska"/>
  <Override PartName="/ppt/media/image28.jpeg" ContentType="image/jpeg"/>
  <Override PartName="/ppt/media/image25.png" ContentType="image/png"/>
  <Override PartName="/ppt/media/image13.svg" ContentType="image/svg"/>
  <Override PartName="/ppt/media/image26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fld id="{D560CF4C-2A47-456B-AC2C-B717204C4189}" type="slidenum"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(1:00 before activity)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(1:30 for activity)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(3:30 for last part)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Total: 10:30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 Regula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A69C2C-97BC-4C34-B907-19F016E0F48C}" type="slidenum">
              <a:rPr b="0" lang="en-US" sz="1200" spc="-1" strike="noStrike">
                <a:solidFill>
                  <a:srgbClr val="000000"/>
                </a:solidFill>
                <a:latin typeface="Arial Regular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(1:00)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89349E7-4761-4B3F-B956-1E6C320A5C0A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(2:20)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41D844-4577-4E0C-9F83-E66A49552E89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4A38C5-52EC-4FB5-AD87-8E89F7074CE2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(3:10)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Total: 20:00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84562AE-CF89-42D3-A5CB-D0750101D078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1A924EE-69DB-4B3D-9EBC-9AF246A39116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(1:50)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 Regula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F318FD2-B116-4499-B44E-868B79AF8CEE}" type="slidenum">
              <a:rPr b="0" lang="en-US" sz="1200" spc="-1" strike="noStrike">
                <a:solidFill>
                  <a:srgbClr val="000000"/>
                </a:solidFill>
                <a:latin typeface="Arial Regular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(1:10)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Total: 23:00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DD7815-F70C-406A-8FE5-20B65A08630D}" type="slidenum">
              <a: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EB5F47-D728-4103-B172-B976F2205D08}" type="slidenum">
              <a: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879120" y="3003480"/>
            <a:ext cx="10433520" cy="40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736200" y="1939320"/>
            <a:ext cx="1071936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987"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573280" y="2431080"/>
            <a:ext cx="7045200" cy="167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000" spc="199" strike="noStrike">
                <a:solidFill>
                  <a:schemeClr val="lt1"/>
                </a:solidFill>
                <a:latin typeface="Arial"/>
              </a:rPr>
              <a:t>You have reached the end of this presentation.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Arial Regular"/>
              </a:rPr>
              <a:t>Click to edit the outline text format</a:t>
            </a:r>
            <a:endParaRPr b="0" lang="en-US" sz="2200" spc="-1" strike="noStrike">
              <a:solidFill>
                <a:schemeClr val="dk1"/>
              </a:solidFill>
              <a:latin typeface="Arial Regula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Second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Third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Fourth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740160" y="1682280"/>
            <a:ext cx="10711080" cy="46198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Edit Master text styles</a:t>
            </a:r>
            <a:endParaRPr b="0" lang="en-US" sz="36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Second level</a:t>
            </a:r>
            <a:endParaRPr b="0" lang="en-US" sz="3200" spc="-1" strike="noStrike">
              <a:solidFill>
                <a:schemeClr val="dk1"/>
              </a:solidFill>
              <a:latin typeface="Arial Regular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◦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Wingdings 3" charset="2"/>
              <a:buChar char="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Fourth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−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Fifth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sv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video" Target="../media/media18.mkv"/><Relationship Id="rId2" Type="http://schemas.microsoft.com/office/2007/relationships/media" Target="../media/media18.mkv"/><Relationship Id="rId3" Type="http://schemas.openxmlformats.org/officeDocument/2006/relationships/image" Target="../media/image19.png"/><Relationship Id="rId4" Type="http://schemas.openxmlformats.org/officeDocument/2006/relationships/video" Target="../media/media20.mkv"/><Relationship Id="rId5" Type="http://schemas.microsoft.com/office/2007/relationships/media" Target="../media/media20.mkv"/><Relationship Id="rId6" Type="http://schemas.openxmlformats.org/officeDocument/2006/relationships/image" Target="../media/image21.png"/><Relationship Id="rId7" Type="http://schemas.openxmlformats.org/officeDocument/2006/relationships/video" Target="../media/media22.mkv"/><Relationship Id="rId8" Type="http://schemas.microsoft.com/office/2007/relationships/media" Target="../media/media22.mkv"/><Relationship Id="rId9" Type="http://schemas.openxmlformats.org/officeDocument/2006/relationships/image" Target="../media/image23.png"/><Relationship Id="rId10" Type="http://schemas.openxmlformats.org/officeDocument/2006/relationships/video" Target="../media/media24.mkv"/><Relationship Id="rId11" Type="http://schemas.microsoft.com/office/2007/relationships/media" Target="../media/media24.mkv"/><Relationship Id="rId12" Type="http://schemas.openxmlformats.org/officeDocument/2006/relationships/image" Target="../media/image25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9.wmf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879120" y="4998960"/>
            <a:ext cx="10433520" cy="4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There is a Clever Description of this Somewhere in My Brain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36200" y="1526760"/>
            <a:ext cx="1071936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53"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6000" spc="97" strike="noStrike">
                <a:solidFill>
                  <a:schemeClr val="lt1"/>
                </a:solidFill>
                <a:latin typeface="Garamond"/>
              </a:rPr>
              <a:t>Decision Making Fundamentals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348840" y="2416320"/>
            <a:ext cx="8935560" cy="43074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4000" spc="-1" strike="noStrike" u="sng">
                <a:solidFill>
                  <a:schemeClr val="lt1"/>
                </a:solidFill>
                <a:uFillTx/>
                <a:latin typeface="Garamond"/>
              </a:rPr>
              <a:t>An intelligent automaton…</a:t>
            </a:r>
            <a:endParaRPr b="0" lang="en-US" sz="4000" spc="-1" strike="noStrike">
              <a:solidFill>
                <a:schemeClr val="dk1"/>
              </a:solidFill>
              <a:latin typeface="Arial Regular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Uses a </a:t>
            </a:r>
            <a:r>
              <a:rPr b="1" lang="en-US" sz="3600" spc="-1" strike="noStrike">
                <a:solidFill>
                  <a:srgbClr val="00b050"/>
                </a:solidFill>
                <a:latin typeface="Garamond"/>
              </a:rPr>
              <a:t>small-scale model of world</a:t>
            </a:r>
            <a:endParaRPr b="0" lang="en-US" sz="3600" spc="-1" strike="noStrike">
              <a:solidFill>
                <a:schemeClr val="dk1"/>
              </a:solidFill>
              <a:latin typeface="Arial Regular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Can </a:t>
            </a:r>
            <a:r>
              <a:rPr b="1" lang="en-US" sz="3600" spc="-1" strike="noStrike">
                <a:solidFill>
                  <a:srgbClr val="00b050"/>
                </a:solidFill>
                <a:latin typeface="Garamond"/>
              </a:rPr>
              <a:t>perform actions</a:t>
            </a:r>
            <a:endParaRPr b="0" lang="en-US" sz="3600" spc="-1" strike="noStrike">
              <a:solidFill>
                <a:schemeClr val="dk1"/>
              </a:solidFill>
              <a:latin typeface="Arial Regular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Knows </a:t>
            </a:r>
            <a:r>
              <a:rPr b="1" lang="en-US" sz="3600" spc="-1" strike="noStrike">
                <a:solidFill>
                  <a:srgbClr val="00b050"/>
                </a:solidFill>
                <a:latin typeface="Garamond"/>
              </a:rPr>
              <a:t>effects of actions</a:t>
            </a:r>
            <a:endParaRPr b="0" lang="en-US" sz="3600" spc="-1" strike="noStrike">
              <a:solidFill>
                <a:schemeClr val="dk1"/>
              </a:solidFill>
              <a:latin typeface="Arial Regular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Uses inference to </a:t>
            </a:r>
            <a:r>
              <a:rPr b="1" lang="en-US" sz="3600" spc="-1" strike="noStrike">
                <a:solidFill>
                  <a:srgbClr val="00b050"/>
                </a:solidFill>
                <a:latin typeface="Garamond"/>
              </a:rPr>
              <a:t>make decisions</a:t>
            </a:r>
            <a:endParaRPr b="0" lang="en-US" sz="36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Kenneth Craik’s Model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Thought Bubble: Cloud 5"/>
          <p:cNvSpPr/>
          <p:nvPr/>
        </p:nvSpPr>
        <p:spPr>
          <a:xfrm>
            <a:off x="8250840" y="1373040"/>
            <a:ext cx="3418560" cy="2314080"/>
          </a:xfrm>
          <a:prstGeom prst="cloudCallout">
            <a:avLst>
              <a:gd name="adj1" fmla="val 5516"/>
              <a:gd name="adj2" fmla="val 84391"/>
            </a:avLst>
          </a:prstGeom>
          <a:gradFill rotWithShape="0">
            <a:gsLst>
              <a:gs pos="0">
                <a:srgbClr val="767676"/>
              </a:gs>
              <a:gs pos="100000">
                <a:srgbClr val="a9a9a9"/>
              </a:gs>
            </a:gsLst>
            <a:path path="circle">
              <a:fillToRect l="50000" t="50000" r="50000" b="50000"/>
            </a:path>
          </a:gradFill>
          <a:ln>
            <a:solidFill>
              <a:srgbClr val="000000"/>
            </a:solidFill>
            <a:rou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7" name="Graphic 7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156240" y="2732040"/>
            <a:ext cx="856800" cy="719640"/>
          </a:xfrm>
          <a:prstGeom prst="rect">
            <a:avLst/>
          </a:prstGeom>
          <a:ln w="0">
            <a:noFill/>
          </a:ln>
        </p:spPr>
      </p:pic>
      <p:pic>
        <p:nvPicPr>
          <p:cNvPr id="18" name="Graphic 9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319400" y="1793160"/>
            <a:ext cx="1129320" cy="1129320"/>
          </a:xfrm>
          <a:prstGeom prst="rect">
            <a:avLst/>
          </a:prstGeom>
          <a:ln w="0">
            <a:noFill/>
          </a:ln>
        </p:spPr>
      </p:pic>
      <p:pic>
        <p:nvPicPr>
          <p:cNvPr id="19" name="Graphic 13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flipH="1">
            <a:off x="9882360" y="3429000"/>
            <a:ext cx="1787400" cy="3232080"/>
          </a:xfrm>
          <a:prstGeom prst="rect">
            <a:avLst/>
          </a:prstGeom>
          <a:ln w="0">
            <a:noFill/>
          </a:ln>
        </p:spPr>
      </p:pic>
      <p:pic>
        <p:nvPicPr>
          <p:cNvPr id="20" name="Graphic 17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625600" y="1534320"/>
            <a:ext cx="1705320" cy="127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6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838840" y="2398320"/>
            <a:ext cx="5833440" cy="3642120"/>
          </a:xfrm>
          <a:prstGeom prst="rect">
            <a:avLst/>
          </a:prstGeom>
          <a:ln w="0">
            <a:noFill/>
          </a:ln>
        </p:spPr>
      </p:pic>
      <p:pic>
        <p:nvPicPr>
          <p:cNvPr id="22" name="Graphic 8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783400" y="2329200"/>
            <a:ext cx="5739120" cy="3583080"/>
          </a:xfrm>
          <a:prstGeom prst="rect">
            <a:avLst/>
          </a:prstGeom>
          <a:ln w="0">
            <a:noFill/>
          </a:ln>
        </p:spPr>
      </p:pic>
      <p:sp>
        <p:nvSpPr>
          <p:cNvPr id="23" name="Rectangle 3"/>
          <p:cNvSpPr/>
          <p:nvPr/>
        </p:nvSpPr>
        <p:spPr>
          <a:xfrm>
            <a:off x="650520" y="2033640"/>
            <a:ext cx="5027040" cy="4054680"/>
          </a:xfrm>
          <a:prstGeom prst="rect">
            <a:avLst/>
          </a:prstGeom>
          <a:solidFill>
            <a:srgbClr val="00004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chemeClr val="lt1"/>
                </a:solidFill>
                <a:latin typeface="Consolas"/>
              </a:rPr>
              <a:t>WORLD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General Agent Architecture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701280" y="1384200"/>
            <a:ext cx="10789200" cy="4989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3195"/>
          </a:bodyPr>
          <a:p>
            <a:pPr marL="91440" indent="-91440" algn="ctr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The architecture of an agent will dictate how information comes in and is used.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</p:txBody>
      </p:sp>
      <p:sp>
        <p:nvSpPr>
          <p:cNvPr id="26" name="Rectangle 4"/>
          <p:cNvSpPr/>
          <p:nvPr/>
        </p:nvSpPr>
        <p:spPr>
          <a:xfrm>
            <a:off x="891000" y="2619720"/>
            <a:ext cx="4571640" cy="2856600"/>
          </a:xfrm>
          <a:prstGeom prst="rect">
            <a:avLst/>
          </a:prstGeom>
          <a:solidFill>
            <a:srgbClr val="002060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AGENT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" name="Straight Arrow Connector 9"/>
          <p:cNvCxnSpPr/>
          <p:nvPr/>
        </p:nvCxnSpPr>
        <p:spPr>
          <a:xfrm>
            <a:off x="3025800" y="4435200"/>
            <a:ext cx="360" cy="399960"/>
          </a:xfrm>
          <a:prstGeom prst="straightConnector1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</p:cxnSp>
      <p:cxnSp>
        <p:nvCxnSpPr>
          <p:cNvPr id="28" name="Straight Arrow Connector 10"/>
          <p:cNvCxnSpPr/>
          <p:nvPr/>
        </p:nvCxnSpPr>
        <p:spPr>
          <a:xfrm flipV="1">
            <a:off x="3327120" y="4435200"/>
            <a:ext cx="360" cy="399960"/>
          </a:xfrm>
          <a:prstGeom prst="straightConnector1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</p:cxnSp>
      <p:sp>
        <p:nvSpPr>
          <p:cNvPr id="29" name="TextBox 12"/>
          <p:cNvSpPr/>
          <p:nvPr/>
        </p:nvSpPr>
        <p:spPr>
          <a:xfrm>
            <a:off x="2460240" y="2035440"/>
            <a:ext cx="1407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2"/>
                </a:solidFill>
                <a:latin typeface="Arial"/>
              </a:rPr>
              <a:t>Percepts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Rectangle 22"/>
          <p:cNvSpPr/>
          <p:nvPr/>
        </p:nvSpPr>
        <p:spPr>
          <a:xfrm>
            <a:off x="1116360" y="3885480"/>
            <a:ext cx="4107960" cy="53064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</a:rPr>
              <a:t>Knowledge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Rectangle 24"/>
          <p:cNvSpPr/>
          <p:nvPr/>
        </p:nvSpPr>
        <p:spPr>
          <a:xfrm>
            <a:off x="1116360" y="2944440"/>
            <a:ext cx="4107960" cy="529560"/>
          </a:xfrm>
          <a:prstGeom prst="rect">
            <a:avLst/>
          </a:prstGeom>
          <a:solidFill>
            <a:srgbClr val="7030a0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</a:rPr>
              <a:t>Event Handler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Box 30"/>
          <p:cNvSpPr/>
          <p:nvPr/>
        </p:nvSpPr>
        <p:spPr>
          <a:xfrm>
            <a:off x="2466720" y="5627160"/>
            <a:ext cx="1407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2"/>
                </a:solidFill>
                <a:latin typeface="Arial"/>
              </a:rPr>
              <a:t>Actions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3" name="Straight Arrow Connector 35"/>
          <p:cNvCxnSpPr/>
          <p:nvPr/>
        </p:nvCxnSpPr>
        <p:spPr>
          <a:xfrm>
            <a:off x="3164040" y="3484800"/>
            <a:ext cx="360" cy="399960"/>
          </a:xfrm>
          <a:prstGeom prst="straightConnector1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</p:cxnSp>
      <p:cxnSp>
        <p:nvCxnSpPr>
          <p:cNvPr id="34" name="Straight Arrow Connector 37"/>
          <p:cNvCxnSpPr/>
          <p:nvPr/>
        </p:nvCxnSpPr>
        <p:spPr>
          <a:xfrm flipH="1">
            <a:off x="3164040" y="5269680"/>
            <a:ext cx="6840" cy="492120"/>
          </a:xfrm>
          <a:prstGeom prst="straightConnector1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</p:cxnSp>
      <p:cxnSp>
        <p:nvCxnSpPr>
          <p:cNvPr id="35" name="Straight Arrow Connector 41"/>
          <p:cNvCxnSpPr/>
          <p:nvPr/>
        </p:nvCxnSpPr>
        <p:spPr>
          <a:xfrm flipH="1">
            <a:off x="3170520" y="2410920"/>
            <a:ext cx="6480" cy="536040"/>
          </a:xfrm>
          <a:prstGeom prst="straightConnector1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</p:cxnSp>
      <p:sp>
        <p:nvSpPr>
          <p:cNvPr id="36" name="Rectangle 5"/>
          <p:cNvSpPr/>
          <p:nvPr/>
        </p:nvSpPr>
        <p:spPr>
          <a:xfrm>
            <a:off x="1116360" y="4835160"/>
            <a:ext cx="4107960" cy="53064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</a:rPr>
              <a:t>Behavior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7" name="Group 19"/>
          <p:cNvGrpSpPr/>
          <p:nvPr/>
        </p:nvGrpSpPr>
        <p:grpSpPr>
          <a:xfrm>
            <a:off x="7728840" y="3884400"/>
            <a:ext cx="3446280" cy="1940040"/>
            <a:chOff x="7728840" y="3884400"/>
            <a:chExt cx="3446280" cy="1940040"/>
          </a:xfrm>
        </p:grpSpPr>
        <p:sp>
          <p:nvSpPr>
            <p:cNvPr id="38" name="Freeform: Shape 17"/>
            <p:cNvSpPr/>
            <p:nvPr/>
          </p:nvSpPr>
          <p:spPr>
            <a:xfrm>
              <a:off x="10511640" y="3884400"/>
              <a:ext cx="355680" cy="1799640"/>
            </a:xfrm>
            <a:custGeom>
              <a:avLst/>
              <a:gdLst>
                <a:gd name="textAreaLeft" fmla="*/ 0 w 355680"/>
                <a:gd name="textAreaRight" fmla="*/ 356040 w 355680"/>
                <a:gd name="textAreaTop" fmla="*/ 0 h 1799640"/>
                <a:gd name="textAreaBottom" fmla="*/ 1800000 h 1799640"/>
              </a:gdLst>
              <a:ahLst/>
              <a:rect l="textAreaLeft" t="textAreaTop" r="textAreaRight" b="textAreaBottom"/>
              <a:pathLst>
                <a:path w="356134" h="2021447">
                  <a:moveTo>
                    <a:pt x="273585" y="0"/>
                  </a:moveTo>
                  <a:cubicBezTo>
                    <a:pt x="130542" y="117642"/>
                    <a:pt x="-12500" y="235284"/>
                    <a:pt x="869" y="320842"/>
                  </a:cubicBezTo>
                  <a:cubicBezTo>
                    <a:pt x="14238" y="406400"/>
                    <a:pt x="327059" y="414421"/>
                    <a:pt x="353796" y="513347"/>
                  </a:cubicBezTo>
                  <a:cubicBezTo>
                    <a:pt x="380533" y="612273"/>
                    <a:pt x="169311" y="780716"/>
                    <a:pt x="161290" y="914400"/>
                  </a:cubicBezTo>
                  <a:cubicBezTo>
                    <a:pt x="153269" y="1048084"/>
                    <a:pt x="286953" y="1211178"/>
                    <a:pt x="305669" y="1315452"/>
                  </a:cubicBezTo>
                  <a:cubicBezTo>
                    <a:pt x="324385" y="1419726"/>
                    <a:pt x="276259" y="1441116"/>
                    <a:pt x="273585" y="1540042"/>
                  </a:cubicBezTo>
                  <a:cubicBezTo>
                    <a:pt x="270911" y="1638968"/>
                    <a:pt x="289627" y="1828800"/>
                    <a:pt x="289627" y="1909010"/>
                  </a:cubicBezTo>
                  <a:cubicBezTo>
                    <a:pt x="289627" y="1989220"/>
                    <a:pt x="238827" y="2023979"/>
                    <a:pt x="273585" y="2021305"/>
                  </a:cubicBezTo>
                </a:path>
              </a:pathLst>
            </a:custGeom>
            <a:noFill/>
            <a:ln w="38100">
              <a:solidFill>
                <a:srgbClr val="ffffff">
                  <a:lumMod val="95000"/>
                  <a:alpha val="50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9" name="Freeform: Shape 28"/>
            <p:cNvSpPr/>
            <p:nvPr/>
          </p:nvSpPr>
          <p:spPr>
            <a:xfrm rot="620400">
              <a:off x="10660680" y="3947400"/>
              <a:ext cx="355680" cy="1799640"/>
            </a:xfrm>
            <a:custGeom>
              <a:avLst/>
              <a:gdLst>
                <a:gd name="textAreaLeft" fmla="*/ 0 w 355680"/>
                <a:gd name="textAreaRight" fmla="*/ 356040 w 355680"/>
                <a:gd name="textAreaTop" fmla="*/ 0 h 1799640"/>
                <a:gd name="textAreaBottom" fmla="*/ 1800000 h 1799640"/>
              </a:gdLst>
              <a:ahLst/>
              <a:rect l="textAreaLeft" t="textAreaTop" r="textAreaRight" b="textAreaBottom"/>
              <a:pathLst>
                <a:path w="356134" h="2021447">
                  <a:moveTo>
                    <a:pt x="273585" y="0"/>
                  </a:moveTo>
                  <a:cubicBezTo>
                    <a:pt x="130542" y="117642"/>
                    <a:pt x="-12500" y="235284"/>
                    <a:pt x="869" y="320842"/>
                  </a:cubicBezTo>
                  <a:cubicBezTo>
                    <a:pt x="14238" y="406400"/>
                    <a:pt x="327059" y="414421"/>
                    <a:pt x="353796" y="513347"/>
                  </a:cubicBezTo>
                  <a:cubicBezTo>
                    <a:pt x="380533" y="612273"/>
                    <a:pt x="169311" y="780716"/>
                    <a:pt x="161290" y="914400"/>
                  </a:cubicBezTo>
                  <a:cubicBezTo>
                    <a:pt x="153269" y="1048084"/>
                    <a:pt x="286953" y="1211178"/>
                    <a:pt x="305669" y="1315452"/>
                  </a:cubicBezTo>
                  <a:cubicBezTo>
                    <a:pt x="324385" y="1419726"/>
                    <a:pt x="276259" y="1441116"/>
                    <a:pt x="273585" y="1540042"/>
                  </a:cubicBezTo>
                  <a:cubicBezTo>
                    <a:pt x="270911" y="1638968"/>
                    <a:pt x="289627" y="1828800"/>
                    <a:pt x="289627" y="1909010"/>
                  </a:cubicBezTo>
                  <a:cubicBezTo>
                    <a:pt x="289627" y="1989220"/>
                    <a:pt x="238827" y="2023979"/>
                    <a:pt x="273585" y="2021305"/>
                  </a:cubicBezTo>
                </a:path>
              </a:pathLst>
            </a:custGeom>
            <a:noFill/>
            <a:ln w="38100">
              <a:solidFill>
                <a:srgbClr val="ffffff">
                  <a:lumMod val="95000"/>
                  <a:alpha val="50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40" name="Freeform: Shape 29"/>
            <p:cNvSpPr/>
            <p:nvPr/>
          </p:nvSpPr>
          <p:spPr>
            <a:xfrm rot="21191400">
              <a:off x="10348560" y="3980160"/>
              <a:ext cx="355680" cy="1799640"/>
            </a:xfrm>
            <a:custGeom>
              <a:avLst/>
              <a:gdLst>
                <a:gd name="textAreaLeft" fmla="*/ 0 w 355680"/>
                <a:gd name="textAreaRight" fmla="*/ 356040 w 355680"/>
                <a:gd name="textAreaTop" fmla="*/ 0 h 1799640"/>
                <a:gd name="textAreaBottom" fmla="*/ 1800000 h 1799640"/>
              </a:gdLst>
              <a:ahLst/>
              <a:rect l="textAreaLeft" t="textAreaTop" r="textAreaRight" b="textAreaBottom"/>
              <a:pathLst>
                <a:path w="356134" h="2021447">
                  <a:moveTo>
                    <a:pt x="273585" y="0"/>
                  </a:moveTo>
                  <a:cubicBezTo>
                    <a:pt x="130542" y="117642"/>
                    <a:pt x="-12500" y="235284"/>
                    <a:pt x="869" y="320842"/>
                  </a:cubicBezTo>
                  <a:cubicBezTo>
                    <a:pt x="14238" y="406400"/>
                    <a:pt x="327059" y="414421"/>
                    <a:pt x="353796" y="513347"/>
                  </a:cubicBezTo>
                  <a:cubicBezTo>
                    <a:pt x="380533" y="612273"/>
                    <a:pt x="169311" y="780716"/>
                    <a:pt x="161290" y="914400"/>
                  </a:cubicBezTo>
                  <a:cubicBezTo>
                    <a:pt x="153269" y="1048084"/>
                    <a:pt x="286953" y="1211178"/>
                    <a:pt x="305669" y="1315452"/>
                  </a:cubicBezTo>
                  <a:cubicBezTo>
                    <a:pt x="324385" y="1419726"/>
                    <a:pt x="276259" y="1441116"/>
                    <a:pt x="273585" y="1540042"/>
                  </a:cubicBezTo>
                  <a:cubicBezTo>
                    <a:pt x="270911" y="1638968"/>
                    <a:pt x="289627" y="1828800"/>
                    <a:pt x="289627" y="1909010"/>
                  </a:cubicBezTo>
                  <a:cubicBezTo>
                    <a:pt x="289627" y="1989220"/>
                    <a:pt x="238827" y="2023979"/>
                    <a:pt x="273585" y="2021305"/>
                  </a:cubicBezTo>
                </a:path>
              </a:pathLst>
            </a:custGeom>
            <a:noFill/>
            <a:ln w="38100">
              <a:solidFill>
                <a:srgbClr val="ffffff">
                  <a:lumMod val="95000"/>
                  <a:alpha val="50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41" name="Freeform: Shape 31"/>
            <p:cNvSpPr/>
            <p:nvPr/>
          </p:nvSpPr>
          <p:spPr>
            <a:xfrm>
              <a:off x="7997040" y="3914280"/>
              <a:ext cx="355680" cy="1799640"/>
            </a:xfrm>
            <a:custGeom>
              <a:avLst/>
              <a:gdLst>
                <a:gd name="textAreaLeft" fmla="*/ 0 w 355680"/>
                <a:gd name="textAreaRight" fmla="*/ 356040 w 355680"/>
                <a:gd name="textAreaTop" fmla="*/ 0 h 1799640"/>
                <a:gd name="textAreaBottom" fmla="*/ 1800000 h 1799640"/>
              </a:gdLst>
              <a:ahLst/>
              <a:rect l="textAreaLeft" t="textAreaTop" r="textAreaRight" b="textAreaBottom"/>
              <a:pathLst>
                <a:path w="356134" h="2021447">
                  <a:moveTo>
                    <a:pt x="273585" y="0"/>
                  </a:moveTo>
                  <a:cubicBezTo>
                    <a:pt x="130542" y="117642"/>
                    <a:pt x="-12500" y="235284"/>
                    <a:pt x="869" y="320842"/>
                  </a:cubicBezTo>
                  <a:cubicBezTo>
                    <a:pt x="14238" y="406400"/>
                    <a:pt x="327059" y="414421"/>
                    <a:pt x="353796" y="513347"/>
                  </a:cubicBezTo>
                  <a:cubicBezTo>
                    <a:pt x="380533" y="612273"/>
                    <a:pt x="169311" y="780716"/>
                    <a:pt x="161290" y="914400"/>
                  </a:cubicBezTo>
                  <a:cubicBezTo>
                    <a:pt x="153269" y="1048084"/>
                    <a:pt x="286953" y="1211178"/>
                    <a:pt x="305669" y="1315452"/>
                  </a:cubicBezTo>
                  <a:cubicBezTo>
                    <a:pt x="324385" y="1419726"/>
                    <a:pt x="276259" y="1441116"/>
                    <a:pt x="273585" y="1540042"/>
                  </a:cubicBezTo>
                  <a:cubicBezTo>
                    <a:pt x="270911" y="1638968"/>
                    <a:pt x="289627" y="1828800"/>
                    <a:pt x="289627" y="1909010"/>
                  </a:cubicBezTo>
                  <a:cubicBezTo>
                    <a:pt x="289627" y="1989220"/>
                    <a:pt x="238827" y="2023979"/>
                    <a:pt x="273585" y="2021305"/>
                  </a:cubicBezTo>
                </a:path>
              </a:pathLst>
            </a:custGeom>
            <a:noFill/>
            <a:ln w="38100">
              <a:solidFill>
                <a:srgbClr val="ffffff">
                  <a:lumMod val="95000"/>
                  <a:alpha val="50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42" name="Freeform: Shape 32"/>
            <p:cNvSpPr/>
            <p:nvPr/>
          </p:nvSpPr>
          <p:spPr>
            <a:xfrm rot="620400">
              <a:off x="8146080" y="3976920"/>
              <a:ext cx="355680" cy="1799640"/>
            </a:xfrm>
            <a:custGeom>
              <a:avLst/>
              <a:gdLst>
                <a:gd name="textAreaLeft" fmla="*/ 0 w 355680"/>
                <a:gd name="textAreaRight" fmla="*/ 356040 w 355680"/>
                <a:gd name="textAreaTop" fmla="*/ 0 h 1799640"/>
                <a:gd name="textAreaBottom" fmla="*/ 1800000 h 1799640"/>
              </a:gdLst>
              <a:ahLst/>
              <a:rect l="textAreaLeft" t="textAreaTop" r="textAreaRight" b="textAreaBottom"/>
              <a:pathLst>
                <a:path w="356134" h="2021447">
                  <a:moveTo>
                    <a:pt x="273585" y="0"/>
                  </a:moveTo>
                  <a:cubicBezTo>
                    <a:pt x="130542" y="117642"/>
                    <a:pt x="-12500" y="235284"/>
                    <a:pt x="869" y="320842"/>
                  </a:cubicBezTo>
                  <a:cubicBezTo>
                    <a:pt x="14238" y="406400"/>
                    <a:pt x="327059" y="414421"/>
                    <a:pt x="353796" y="513347"/>
                  </a:cubicBezTo>
                  <a:cubicBezTo>
                    <a:pt x="380533" y="612273"/>
                    <a:pt x="169311" y="780716"/>
                    <a:pt x="161290" y="914400"/>
                  </a:cubicBezTo>
                  <a:cubicBezTo>
                    <a:pt x="153269" y="1048084"/>
                    <a:pt x="286953" y="1211178"/>
                    <a:pt x="305669" y="1315452"/>
                  </a:cubicBezTo>
                  <a:cubicBezTo>
                    <a:pt x="324385" y="1419726"/>
                    <a:pt x="276259" y="1441116"/>
                    <a:pt x="273585" y="1540042"/>
                  </a:cubicBezTo>
                  <a:cubicBezTo>
                    <a:pt x="270911" y="1638968"/>
                    <a:pt x="289627" y="1828800"/>
                    <a:pt x="289627" y="1909010"/>
                  </a:cubicBezTo>
                  <a:cubicBezTo>
                    <a:pt x="289627" y="1989220"/>
                    <a:pt x="238827" y="2023979"/>
                    <a:pt x="273585" y="2021305"/>
                  </a:cubicBezTo>
                </a:path>
              </a:pathLst>
            </a:custGeom>
            <a:noFill/>
            <a:ln w="38100">
              <a:solidFill>
                <a:srgbClr val="ffffff">
                  <a:lumMod val="95000"/>
                  <a:alpha val="50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43" name="Freeform: Shape 33"/>
            <p:cNvSpPr/>
            <p:nvPr/>
          </p:nvSpPr>
          <p:spPr>
            <a:xfrm rot="21191400">
              <a:off x="7833960" y="4009680"/>
              <a:ext cx="355680" cy="1799640"/>
            </a:xfrm>
            <a:custGeom>
              <a:avLst/>
              <a:gdLst>
                <a:gd name="textAreaLeft" fmla="*/ 0 w 355680"/>
                <a:gd name="textAreaRight" fmla="*/ 356040 w 355680"/>
                <a:gd name="textAreaTop" fmla="*/ 0 h 1799640"/>
                <a:gd name="textAreaBottom" fmla="*/ 1800000 h 1799640"/>
              </a:gdLst>
              <a:ahLst/>
              <a:rect l="textAreaLeft" t="textAreaTop" r="textAreaRight" b="textAreaBottom"/>
              <a:pathLst>
                <a:path w="356134" h="2021447">
                  <a:moveTo>
                    <a:pt x="273585" y="0"/>
                  </a:moveTo>
                  <a:cubicBezTo>
                    <a:pt x="130542" y="117642"/>
                    <a:pt x="-12500" y="235284"/>
                    <a:pt x="869" y="320842"/>
                  </a:cubicBezTo>
                  <a:cubicBezTo>
                    <a:pt x="14238" y="406400"/>
                    <a:pt x="327059" y="414421"/>
                    <a:pt x="353796" y="513347"/>
                  </a:cubicBezTo>
                  <a:cubicBezTo>
                    <a:pt x="380533" y="612273"/>
                    <a:pt x="169311" y="780716"/>
                    <a:pt x="161290" y="914400"/>
                  </a:cubicBezTo>
                  <a:cubicBezTo>
                    <a:pt x="153269" y="1048084"/>
                    <a:pt x="286953" y="1211178"/>
                    <a:pt x="305669" y="1315452"/>
                  </a:cubicBezTo>
                  <a:cubicBezTo>
                    <a:pt x="324385" y="1419726"/>
                    <a:pt x="276259" y="1441116"/>
                    <a:pt x="273585" y="1540042"/>
                  </a:cubicBezTo>
                  <a:cubicBezTo>
                    <a:pt x="270911" y="1638968"/>
                    <a:pt x="289627" y="1828800"/>
                    <a:pt x="289627" y="1909010"/>
                  </a:cubicBezTo>
                  <a:cubicBezTo>
                    <a:pt x="289627" y="1989220"/>
                    <a:pt x="238827" y="2023979"/>
                    <a:pt x="273585" y="2021305"/>
                  </a:cubicBezTo>
                </a:path>
              </a:pathLst>
            </a:custGeom>
            <a:noFill/>
            <a:ln w="38100">
              <a:solidFill>
                <a:srgbClr val="ffffff">
                  <a:lumMod val="95000"/>
                  <a:alpha val="50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" dur="indefinite" restart="never" nodeType="tmRoot">
          <p:childTnLst>
            <p:seq>
              <p:cTn id="29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Finite State Machines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1266480" y="2206440"/>
            <a:ext cx="6441120" cy="2967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 u="sng">
                <a:solidFill>
                  <a:srgbClr val="ffffff"/>
                </a:solidFill>
                <a:uFillTx/>
                <a:latin typeface="Arial Regular"/>
              </a:rPr>
              <a:t>Finite State Machines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Memory is only the current state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State transitions defined by mapping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Inputs consumed in receipt order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Changes triggered by input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</p:txBody>
      </p:sp>
      <p:pic>
        <p:nvPicPr>
          <p:cNvPr id="46" name="Picture 22" descr="fsm1"/>
          <p:cNvPicPr/>
          <p:nvPr/>
        </p:nvPicPr>
        <p:blipFill>
          <a:blip r:embed="rId1"/>
          <a:stretch/>
        </p:blipFill>
        <p:spPr>
          <a:xfrm>
            <a:off x="7385760" y="1970280"/>
            <a:ext cx="3809520" cy="3301560"/>
          </a:xfrm>
          <a:prstGeom prst="rect">
            <a:avLst/>
          </a:prstGeom>
          <a:ln w="0">
            <a:noFill/>
          </a:ln>
        </p:spPr>
      </p:pic>
      <p:sp>
        <p:nvSpPr>
          <p:cNvPr id="47" name="Rectangle 51209"/>
          <p:cNvSpPr/>
          <p:nvPr/>
        </p:nvSpPr>
        <p:spPr>
          <a:xfrm>
            <a:off x="8349480" y="5515920"/>
            <a:ext cx="449640" cy="449640"/>
          </a:xfrm>
          <a:prstGeom prst="rect">
            <a:avLst/>
          </a:prstGeom>
          <a:solidFill>
            <a:srgbClr val="004000"/>
          </a:solidFill>
          <a:ln w="2540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Oval 51210"/>
          <p:cNvSpPr/>
          <p:nvPr/>
        </p:nvSpPr>
        <p:spPr>
          <a:xfrm>
            <a:off x="9146880" y="2647080"/>
            <a:ext cx="575640" cy="575640"/>
          </a:xfrm>
          <a:prstGeom prst="ellipse">
            <a:avLst/>
          </a:prstGeom>
          <a:noFill/>
          <a:ln w="38100"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9" name="Oval 80"/>
          <p:cNvSpPr/>
          <p:nvPr/>
        </p:nvSpPr>
        <p:spPr>
          <a:xfrm>
            <a:off x="8345520" y="4176000"/>
            <a:ext cx="575640" cy="575640"/>
          </a:xfrm>
          <a:prstGeom prst="ellipse">
            <a:avLst/>
          </a:prstGeom>
          <a:noFill/>
          <a:ln w="38100"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0" name="Oval 81"/>
          <p:cNvSpPr/>
          <p:nvPr/>
        </p:nvSpPr>
        <p:spPr>
          <a:xfrm>
            <a:off x="10011960" y="3897720"/>
            <a:ext cx="575640" cy="575640"/>
          </a:xfrm>
          <a:prstGeom prst="ellipse">
            <a:avLst/>
          </a:prstGeom>
          <a:noFill/>
          <a:ln w="38100"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1" name="Rectangle 82"/>
          <p:cNvSpPr/>
          <p:nvPr/>
        </p:nvSpPr>
        <p:spPr>
          <a:xfrm>
            <a:off x="8809920" y="5515920"/>
            <a:ext cx="449640" cy="449640"/>
          </a:xfrm>
          <a:prstGeom prst="rect">
            <a:avLst/>
          </a:prstGeom>
          <a:solidFill>
            <a:srgbClr val="004000"/>
          </a:solidFill>
          <a:ln w="2540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b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Rectangle 83"/>
          <p:cNvSpPr/>
          <p:nvPr/>
        </p:nvSpPr>
        <p:spPr>
          <a:xfrm>
            <a:off x="9269640" y="5518080"/>
            <a:ext cx="449640" cy="449640"/>
          </a:xfrm>
          <a:prstGeom prst="rect">
            <a:avLst/>
          </a:prstGeom>
          <a:solidFill>
            <a:srgbClr val="004000"/>
          </a:solidFill>
          <a:ln w="2540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b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ectangle 84"/>
          <p:cNvSpPr/>
          <p:nvPr/>
        </p:nvSpPr>
        <p:spPr>
          <a:xfrm>
            <a:off x="9725760" y="5516640"/>
            <a:ext cx="449640" cy="449640"/>
          </a:xfrm>
          <a:prstGeom prst="rect">
            <a:avLst/>
          </a:prstGeom>
          <a:solidFill>
            <a:srgbClr val="004000"/>
          </a:solidFill>
          <a:ln w="2540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Rectangle 85"/>
          <p:cNvSpPr/>
          <p:nvPr/>
        </p:nvSpPr>
        <p:spPr>
          <a:xfrm>
            <a:off x="10181880" y="5515920"/>
            <a:ext cx="449640" cy="449640"/>
          </a:xfrm>
          <a:prstGeom prst="rect">
            <a:avLst/>
          </a:prstGeom>
          <a:solidFill>
            <a:srgbClr val="004000"/>
          </a:solidFill>
          <a:ln w="2540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b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6" dur="indefinite" restart="never" nodeType="tmRoot">
          <p:childTnLst>
            <p:seq>
              <p:cTn id="97" dur="indefinite" nodeType="mainSeq">
                <p:childTnLst>
                  <p:par>
                    <p:cTn id="98" nodeType="clickEffect" fill="hold">
                      <p:stCondLst>
                        <p:cond delay="indefinite"/>
                      </p:stCondLst>
                      <p:childTnLst>
                        <p:par>
                          <p:cTn id="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2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nodeType="clickEffect" fill="hold">
                      <p:stCondLst>
                        <p:cond delay="indefinite"/>
                      </p:stCondLst>
                      <p:childTnLst>
                        <p:par>
                          <p:cTn id="1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7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2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7" dur="500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2" dur="500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000" spc="97" strike="noStrike">
                <a:solidFill>
                  <a:schemeClr val="lt1"/>
                </a:solidFill>
                <a:latin typeface="Garamond"/>
              </a:rPr>
              <a:t>Determinism vs. Non-Determinism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15760" y="1425600"/>
            <a:ext cx="8229240" cy="4876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 u="sng">
                <a:solidFill>
                  <a:srgbClr val="ffffff"/>
                </a:solidFill>
                <a:uFillTx/>
                <a:latin typeface="Arial Regular"/>
              </a:rPr>
              <a:t>Deterministic FSMs: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Are completely predictable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Have exactly one action for each input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 u="sng">
                <a:solidFill>
                  <a:srgbClr val="ffffff"/>
                </a:solidFill>
                <a:uFillTx/>
                <a:latin typeface="Arial Regular"/>
              </a:rPr>
              <a:t>Non-deterministic FSMs: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Are unpredictable*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Can have any number actions for an input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</p:txBody>
      </p:sp>
      <p:sp>
        <p:nvSpPr>
          <p:cNvPr id="57" name="Rectangle 52"/>
          <p:cNvSpPr/>
          <p:nvPr/>
        </p:nvSpPr>
        <p:spPr>
          <a:xfrm>
            <a:off x="1523880" y="24854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58" name="Picture 5" descr=""/>
          <p:cNvPicPr/>
          <p:nvPr/>
        </p:nvPicPr>
        <p:blipFill>
          <a:blip r:embed="rId1"/>
          <a:stretch/>
        </p:blipFill>
        <p:spPr>
          <a:xfrm>
            <a:off x="8416440" y="3657600"/>
            <a:ext cx="3072960" cy="2666520"/>
          </a:xfrm>
          <a:prstGeom prst="rect">
            <a:avLst/>
          </a:prstGeom>
          <a:ln w="0">
            <a:noFill/>
          </a:ln>
        </p:spPr>
      </p:pic>
      <p:pic>
        <p:nvPicPr>
          <p:cNvPr id="59" name="Picture 22" descr="fsm1"/>
          <p:cNvPicPr/>
          <p:nvPr/>
        </p:nvPicPr>
        <p:blipFill>
          <a:blip r:embed="rId2"/>
          <a:stretch/>
        </p:blipFill>
        <p:spPr>
          <a:xfrm>
            <a:off x="8568720" y="1143000"/>
            <a:ext cx="2901600" cy="251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615800" y="3855600"/>
            <a:ext cx="2759400" cy="2576160"/>
          </a:xfrm>
          <a:prstGeom prst="rect">
            <a:avLst/>
          </a:prstGeom>
          <a:ln w="0">
            <a:noFill/>
          </a:ln>
        </p:spPr>
      </p:pic>
      <p:pic>
        <p:nvPicPr>
          <p:cNvPr id="61" name="" descr="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17600" y="3855600"/>
            <a:ext cx="2759400" cy="2576160"/>
          </a:xfrm>
          <a:prstGeom prst="rect">
            <a:avLst/>
          </a:prstGeom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FSMs in Games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0120" y="1415520"/>
            <a:ext cx="8304840" cy="50608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600" spc="-1" strike="noStrike" u="sng">
                <a:solidFill>
                  <a:srgbClr val="ffffff"/>
                </a:solidFill>
                <a:uFillTx/>
                <a:latin typeface="Arial Regular"/>
              </a:rPr>
              <a:t>Structure</a:t>
            </a:r>
            <a:endParaRPr b="0" lang="en-US" sz="26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Every frame, current state runs code</a:t>
            </a:r>
            <a:endParaRPr b="0" lang="en-US" sz="26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In its </a:t>
            </a:r>
            <a:r>
              <a:rPr b="0" lang="en-US" sz="2600" spc="-1" strike="noStrike" u="sng">
                <a:solidFill>
                  <a:srgbClr val="ffffff"/>
                </a:solidFill>
                <a:uFillTx/>
                <a:latin typeface="Arial Regular"/>
              </a:rPr>
              <a:t>first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 update, a state should initialize</a:t>
            </a:r>
            <a:endParaRPr b="0" lang="en-US" sz="26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In its </a:t>
            </a:r>
            <a:r>
              <a:rPr b="0" lang="en-US" sz="2600" spc="-1" strike="noStrike" u="sng">
                <a:solidFill>
                  <a:srgbClr val="ffffff"/>
                </a:solidFill>
                <a:uFillTx/>
                <a:latin typeface="Arial Regular"/>
              </a:rPr>
              <a:t>last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 update, a state should have exit code</a:t>
            </a:r>
            <a:endParaRPr b="0" lang="en-US" sz="26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600" spc="-1" strike="noStrike" u="sng">
                <a:solidFill>
                  <a:srgbClr val="ffffff"/>
                </a:solidFill>
                <a:uFillTx/>
                <a:latin typeface="Arial Regular"/>
              </a:rPr>
              <a:t>Transitions</a:t>
            </a:r>
            <a:endParaRPr b="0" lang="en-US" sz="26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Transitions are be stored in a </a:t>
            </a:r>
            <a:r>
              <a:rPr b="1" i="1" lang="en-US" sz="2600" spc="-1" strike="noStrike">
                <a:solidFill>
                  <a:srgbClr val="ffffff"/>
                </a:solidFill>
                <a:latin typeface="Arial Regular"/>
              </a:rPr>
              <a:t>transition table</a:t>
            </a:r>
            <a:endParaRPr b="0" lang="en-US" sz="26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Machines use </a:t>
            </a:r>
            <a:r>
              <a:rPr b="1" lang="en-US" sz="2600" spc="-1" strike="noStrike">
                <a:solidFill>
                  <a:srgbClr val="ffffff"/>
                </a:solidFill>
                <a:latin typeface="Arial Regular"/>
              </a:rPr>
              <a:t>engine events 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as input</a:t>
            </a:r>
            <a:endParaRPr b="0" lang="en-US" sz="2600" spc="-1" strike="noStrike">
              <a:solidFill>
                <a:srgbClr val="ffffff"/>
              </a:solidFill>
              <a:latin typeface="Arial Regular"/>
            </a:endParaRPr>
          </a:p>
        </p:txBody>
      </p:sp>
      <p:grpSp>
        <p:nvGrpSpPr>
          <p:cNvPr id="64" name="Group 41"/>
          <p:cNvGrpSpPr/>
          <p:nvPr/>
        </p:nvGrpSpPr>
        <p:grpSpPr>
          <a:xfrm>
            <a:off x="8364600" y="1366200"/>
            <a:ext cx="3165840" cy="2861280"/>
            <a:chOff x="8364600" y="1366200"/>
            <a:chExt cx="3165840" cy="2861280"/>
          </a:xfrm>
        </p:grpSpPr>
        <p:sp>
          <p:nvSpPr>
            <p:cNvPr id="65" name="Oval 4"/>
            <p:cNvSpPr/>
            <p:nvPr/>
          </p:nvSpPr>
          <p:spPr>
            <a:xfrm>
              <a:off x="9725400" y="1366200"/>
              <a:ext cx="1017000" cy="691200"/>
            </a:xfrm>
            <a:prstGeom prst="ellipse">
              <a:avLst/>
            </a:prstGeom>
            <a:noFill/>
            <a:ln w="5080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0" rIns="0" tIns="0" bIns="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lt1"/>
                  </a:solidFill>
                  <a:latin typeface="Arial"/>
                </a:rPr>
                <a:t>Scatter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" name="Oval 5"/>
            <p:cNvSpPr/>
            <p:nvPr/>
          </p:nvSpPr>
          <p:spPr>
            <a:xfrm>
              <a:off x="8364600" y="2919600"/>
              <a:ext cx="1017000" cy="691200"/>
            </a:xfrm>
            <a:prstGeom prst="ellipse">
              <a:avLst/>
            </a:prstGeom>
            <a:noFill/>
            <a:ln w="5080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0" rIns="0" tIns="0" bIns="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lt1"/>
                  </a:solidFill>
                  <a:latin typeface="Arial"/>
                </a:rPr>
                <a:t>Chase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" name="Oval 6"/>
            <p:cNvSpPr/>
            <p:nvPr/>
          </p:nvSpPr>
          <p:spPr>
            <a:xfrm>
              <a:off x="10513440" y="3254400"/>
              <a:ext cx="1017000" cy="691200"/>
            </a:xfrm>
            <a:prstGeom prst="ellipse">
              <a:avLst/>
            </a:prstGeom>
            <a:noFill/>
            <a:ln w="5080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0" rIns="0" tIns="0" bIns="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lt1"/>
                  </a:solidFill>
                  <a:latin typeface="Arial"/>
                </a:rPr>
                <a:t>Flee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cxnSp>
          <p:nvCxnSpPr>
            <p:cNvPr id="68" name="Straight Arrow Connector 7"/>
            <p:cNvCxnSpPr>
              <a:stCxn id="66" idx="0"/>
              <a:endCxn id="65" idx="2"/>
            </p:cNvCxnSpPr>
            <p:nvPr/>
          </p:nvCxnSpPr>
          <p:spPr>
            <a:xfrm flipV="1">
              <a:off x="8873280" y="1711800"/>
              <a:ext cx="852480" cy="1208160"/>
            </a:xfrm>
            <a:prstGeom prst="straightConnector1">
              <a:avLst/>
            </a:prstGeom>
            <a:ln w="50800">
              <a:solidFill>
                <a:srgbClr val="ffffff"/>
              </a:solidFill>
              <a:round/>
              <a:tailEnd len="med" type="arrow" w="med"/>
            </a:ln>
          </p:spPr>
        </p:cxnSp>
        <p:cxnSp>
          <p:nvCxnSpPr>
            <p:cNvPr id="69" name="Straight Arrow Connector 8"/>
            <p:cNvCxnSpPr>
              <a:stCxn id="65" idx="3"/>
              <a:endCxn id="66" idx="7"/>
            </p:cNvCxnSpPr>
            <p:nvPr/>
          </p:nvCxnSpPr>
          <p:spPr>
            <a:xfrm flipH="1">
              <a:off x="9232920" y="1956240"/>
              <a:ext cx="641520" cy="1064880"/>
            </a:xfrm>
            <a:prstGeom prst="straightConnector1">
              <a:avLst/>
            </a:prstGeom>
            <a:ln w="50800">
              <a:solidFill>
                <a:srgbClr val="ffffff"/>
              </a:solidFill>
              <a:round/>
              <a:tailEnd len="med" type="arrow" w="med"/>
            </a:ln>
          </p:spPr>
        </p:cxnSp>
        <p:cxnSp>
          <p:nvCxnSpPr>
            <p:cNvPr id="70" name="Straight Arrow Connector 9"/>
            <p:cNvCxnSpPr>
              <a:stCxn id="66" idx="6"/>
              <a:endCxn id="67" idx="2"/>
            </p:cNvCxnSpPr>
            <p:nvPr/>
          </p:nvCxnSpPr>
          <p:spPr>
            <a:xfrm>
              <a:off x="9381600" y="3265200"/>
              <a:ext cx="1132200" cy="335160"/>
            </a:xfrm>
            <a:prstGeom prst="straightConnector1">
              <a:avLst/>
            </a:prstGeom>
            <a:ln w="50800">
              <a:solidFill>
                <a:srgbClr val="ffffff"/>
              </a:solidFill>
              <a:round/>
              <a:tailEnd len="med" type="arrow" w="med"/>
            </a:ln>
          </p:spPr>
        </p:cxnSp>
        <p:cxnSp>
          <p:nvCxnSpPr>
            <p:cNvPr id="71" name="Straight Arrow Connector 10"/>
            <p:cNvCxnSpPr>
              <a:stCxn id="65" idx="4"/>
              <a:endCxn id="67" idx="1"/>
            </p:cNvCxnSpPr>
            <p:nvPr/>
          </p:nvCxnSpPr>
          <p:spPr>
            <a:xfrm>
              <a:off x="10234080" y="2057400"/>
              <a:ext cx="428400" cy="1298520"/>
            </a:xfrm>
            <a:prstGeom prst="straightConnector1">
              <a:avLst/>
            </a:prstGeom>
            <a:ln w="50800">
              <a:solidFill>
                <a:srgbClr val="ffffff"/>
              </a:solidFill>
              <a:round/>
              <a:tailEnd len="med" type="arrow" w="med"/>
            </a:ln>
          </p:spPr>
        </p:cxnSp>
        <p:cxnSp>
          <p:nvCxnSpPr>
            <p:cNvPr id="72" name="Straight Arrow Connector 11"/>
            <p:cNvCxnSpPr>
              <a:stCxn id="67" idx="0"/>
              <a:endCxn id="65" idx="5"/>
            </p:cNvCxnSpPr>
            <p:nvPr/>
          </p:nvCxnSpPr>
          <p:spPr>
            <a:xfrm flipH="1" flipV="1">
              <a:off x="10593720" y="1956240"/>
              <a:ext cx="428760" cy="1298520"/>
            </a:xfrm>
            <a:prstGeom prst="straightConnector1">
              <a:avLst/>
            </a:prstGeom>
            <a:ln w="50800">
              <a:solidFill>
                <a:srgbClr val="ffffff"/>
              </a:solidFill>
              <a:round/>
              <a:tailEnd len="med" type="arrow" w="med"/>
            </a:ln>
          </p:spPr>
        </p:cxnSp>
        <p:sp>
          <p:nvSpPr>
            <p:cNvPr id="73" name="Arc 14"/>
            <p:cNvSpPr/>
            <p:nvPr/>
          </p:nvSpPr>
          <p:spPr>
            <a:xfrm>
              <a:off x="10487520" y="3530520"/>
              <a:ext cx="843480" cy="696960"/>
            </a:xfrm>
            <a:prstGeom prst="arc">
              <a:avLst>
                <a:gd name="adj1" fmla="val 322062"/>
                <a:gd name="adj2" fmla="val 11733728"/>
              </a:avLst>
            </a:prstGeom>
            <a:noFill/>
            <a:ln w="50800">
              <a:solidFill>
                <a:srgbClr val="ffffff"/>
              </a:solidFill>
              <a:round/>
              <a:headEnd len="med" type="arrow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74" name="TextBox 33"/>
          <p:cNvSpPr/>
          <p:nvPr/>
        </p:nvSpPr>
        <p:spPr>
          <a:xfrm>
            <a:off x="8602920" y="2104920"/>
            <a:ext cx="950040" cy="244080"/>
          </a:xfrm>
          <a:prstGeom prst="rect">
            <a:avLst/>
          </a:prstGeom>
          <a:solidFill>
            <a:srgbClr val="004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</a:rPr>
              <a:t>C_TIMER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34"/>
          <p:cNvSpPr/>
          <p:nvPr/>
        </p:nvSpPr>
        <p:spPr>
          <a:xfrm>
            <a:off x="9299520" y="2472840"/>
            <a:ext cx="950040" cy="244080"/>
          </a:xfrm>
          <a:prstGeom prst="rect">
            <a:avLst/>
          </a:prstGeom>
          <a:solidFill>
            <a:srgbClr val="004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</a:rPr>
              <a:t>C_TIMER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35"/>
          <p:cNvSpPr/>
          <p:nvPr/>
        </p:nvSpPr>
        <p:spPr>
          <a:xfrm>
            <a:off x="10000440" y="2148840"/>
            <a:ext cx="569880" cy="244080"/>
          </a:xfrm>
          <a:prstGeom prst="rect">
            <a:avLst/>
          </a:prstGeom>
          <a:solidFill>
            <a:srgbClr val="004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</a:rPr>
              <a:t>PILL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37"/>
          <p:cNvSpPr/>
          <p:nvPr/>
        </p:nvSpPr>
        <p:spPr>
          <a:xfrm>
            <a:off x="9626400" y="3291120"/>
            <a:ext cx="569880" cy="244080"/>
          </a:xfrm>
          <a:prstGeom prst="rect">
            <a:avLst/>
          </a:prstGeom>
          <a:solidFill>
            <a:srgbClr val="004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</a:rPr>
              <a:t>PILL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38"/>
          <p:cNvSpPr/>
          <p:nvPr/>
        </p:nvSpPr>
        <p:spPr>
          <a:xfrm>
            <a:off x="10706040" y="2838240"/>
            <a:ext cx="1017000" cy="244080"/>
          </a:xfrm>
          <a:prstGeom prst="rect">
            <a:avLst/>
          </a:prstGeom>
          <a:solidFill>
            <a:srgbClr val="004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</a:rPr>
              <a:t>P_TIMER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39"/>
          <p:cNvSpPr/>
          <p:nvPr/>
        </p:nvSpPr>
        <p:spPr>
          <a:xfrm>
            <a:off x="10604880" y="4144320"/>
            <a:ext cx="569880" cy="244080"/>
          </a:xfrm>
          <a:prstGeom prst="rect">
            <a:avLst/>
          </a:prstGeom>
          <a:solidFill>
            <a:srgbClr val="004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</a:rPr>
              <a:t>PILL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Oval 40"/>
          <p:cNvSpPr/>
          <p:nvPr/>
        </p:nvSpPr>
        <p:spPr>
          <a:xfrm>
            <a:off x="8440560" y="2985120"/>
            <a:ext cx="872640" cy="545040"/>
          </a:xfrm>
          <a:prstGeom prst="ellipse">
            <a:avLst/>
          </a:prstGeom>
          <a:noFill/>
          <a:ln w="50800"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1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81" name="Oval 42"/>
          <p:cNvSpPr/>
          <p:nvPr/>
        </p:nvSpPr>
        <p:spPr>
          <a:xfrm>
            <a:off x="9797400" y="1442880"/>
            <a:ext cx="872640" cy="545040"/>
          </a:xfrm>
          <a:prstGeom prst="ellipse">
            <a:avLst/>
          </a:prstGeom>
          <a:noFill/>
          <a:ln w="50800"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1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82" name="Oval 43"/>
          <p:cNvSpPr/>
          <p:nvPr/>
        </p:nvSpPr>
        <p:spPr>
          <a:xfrm>
            <a:off x="10592280" y="3330360"/>
            <a:ext cx="872640" cy="545040"/>
          </a:xfrm>
          <a:prstGeom prst="ellipse">
            <a:avLst/>
          </a:prstGeom>
          <a:noFill/>
          <a:ln w="50800"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1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83" name="TextBox 46"/>
          <p:cNvSpPr/>
          <p:nvPr/>
        </p:nvSpPr>
        <p:spPr>
          <a:xfrm>
            <a:off x="10596240" y="2488680"/>
            <a:ext cx="804240" cy="244080"/>
          </a:xfrm>
          <a:prstGeom prst="rect">
            <a:avLst/>
          </a:prstGeom>
          <a:solidFill>
            <a:srgbClr val="004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</a:rPr>
              <a:t>EATEN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" descr="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615800" y="3855600"/>
            <a:ext cx="2760840" cy="2577240"/>
          </a:xfrm>
          <a:prstGeom prst="rect">
            <a:avLst/>
          </a:prstGeom>
          <a:ln w="0">
            <a:noFill/>
          </a:ln>
        </p:spPr>
      </p:pic>
      <p:pic>
        <p:nvPicPr>
          <p:cNvPr id="85" name="" descr="">
            <a:hlinkClick r:id="" action="ppaction://media"/>
          </p:cNvPr>
          <p:cNvPicPr/>
          <p:nvPr>
            <a:videoFile r:link="rId10"/>
            <p:extLst>
              <p:ext uri="{DAA4B4D4-6D71-4841-9C94-3DE7FCFB9230}">
                <p14:media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7617600" y="3855600"/>
            <a:ext cx="2760840" cy="257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4" dur="indefinite" restart="never" nodeType="tmRoot">
          <p:childTnLst>
            <p:seq>
              <p:cTn id="215" dur="indefinite" nodeType="mainSeq">
                <p:childTnLst>
                  <p:par>
                    <p:cTn id="216" nodeType="clickEffect" fill="hold">
                      <p:stCondLst>
                        <p:cond delay="indefinite"/>
                      </p:stCondLst>
                      <p:childTnLst>
                        <p:par>
                          <p:cTn id="2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0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nodeType="clickEffect" fill="hold">
                      <p:stCondLst>
                        <p:cond delay="indefinite"/>
                      </p:stCondLst>
                      <p:childTnLst>
                        <p:par>
                          <p:cTn id="2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5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nodeType="clickEffect" fill="hold">
                      <p:stCondLst>
                        <p:cond delay="indefinite"/>
                      </p:stCondLst>
                      <p:childTnLst>
                        <p:par>
                          <p:cTn id="2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0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nodeType="clickEffect" fill="hold">
                      <p:stCondLst>
                        <p:cond delay="indefinite"/>
                      </p:stCondLst>
                      <p:childTnLst>
                        <p:par>
                          <p:cTn id="2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5" dur="500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nodeType="clickEffect" fill="hold">
                      <p:stCondLst>
                        <p:cond delay="indefinite"/>
                      </p:stCondLst>
                      <p:childTnLst>
                        <p:par>
                          <p:cTn id="2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0" dur="500"/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nodeType="clickEffect" fill="hold">
                      <p:stCondLst>
                        <p:cond delay="indefinite"/>
                      </p:stCondLst>
                      <p:childTnLst>
                        <p:par>
                          <p:cTn id="2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5" dur="500"/>
                                        <p:tgtEl>
                                          <p:spTgt spid="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nodeType="clickEffect" fill="hold">
                      <p:stCondLst>
                        <p:cond delay="indefinite"/>
                      </p:stCondLst>
                      <p:childTnLst>
                        <p:par>
                          <p:cTn id="2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0" dur="500"/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6" dur="5723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0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nodeType="with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0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0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500"/>
                            </p:stCondLst>
                            <p:childTnLst>
                              <p:par>
                                <p:cTn id="310" nodeType="after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1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4000"/>
                                      </p:to>
                                    </p:animClr>
                                    <p:set>
                                      <p:cBhvr>
                                        <p:cTn id="3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9" dur="5403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nodeType="with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2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3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3" nodeType="after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3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4000"/>
                                      </p:to>
                                    </p:animClr>
                                    <p:set>
                                      <p:cBhvr>
                                        <p:cTn id="33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2" dur="7460" fill="hold"/>
                                        <p:tgtEl>
                                          <p:spTgt spid="8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4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nodeType="with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5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5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00"/>
                            </p:stCondLst>
                            <p:childTnLst>
                              <p:par>
                                <p:cTn id="356" nodeType="after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5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4000"/>
                                      </p:to>
                                    </p:animClr>
                                    <p:set>
                                      <p:cBhvr>
                                        <p:cTn id="35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5" dur="901" fill="hold"/>
                                        <p:tgtEl>
                                          <p:spTgt spid="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366" restart="whenNotActive" nodeType="interactiveSeq" fill="hold">
                <p:stCondLst>
                  <p:cond delay="0" evt="onClick">
                    <p:tgtEl>
                      <p:spTgt spid="60"/>
                    </p:tgtEl>
                  </p:cond>
                </p:stCondLst>
                <p:childTnLst>
                  <p:par>
                    <p:cTn id="367" fill="hold">
                      <p:stCondLst>
                        <p:cond delay="0" evt="onClick">
                          <p:tgtEl>
                            <p:spTgt spid="60"/>
                          </p:tgtEl>
                        </p:cond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0" dur="1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371" restart="whenNotActive" nodeType="interactiveSeq" fill="hold">
                <p:stCondLst>
                  <p:cond delay="0" evt="onClick">
                    <p:tgtEl>
                      <p:spTgt spid="84"/>
                    </p:tgtEl>
                  </p:cond>
                </p:stCondLst>
                <p:childTnLst>
                  <p:par>
                    <p:cTn id="372" fill="hold">
                      <p:stCondLst>
                        <p:cond delay="0" evt="onClick">
                          <p:tgtEl>
                            <p:spTgt spid="84"/>
                          </p:tgtEl>
                        </p:cond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5" dur="1" fill="hold"/>
                                        <p:tgtEl>
                                          <p:spTgt spid="8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Example FSM Architecture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7283160" y="1455480"/>
            <a:ext cx="2514240" cy="1982880"/>
          </a:xfrm>
          <a:prstGeom prst="rect">
            <a:avLst/>
          </a:prstGeom>
          <a:solidFill>
            <a:srgbClr val="002060"/>
          </a:solidFill>
          <a:ln w="12600">
            <a:solidFill>
              <a:schemeClr val="lt1"/>
            </a:solidFill>
            <a:round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class State</a:t>
            </a:r>
            <a:endParaRPr b="0" lang="en-US" sz="1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{</a:t>
            </a:r>
            <a:endParaRPr b="0" lang="en-US" sz="1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void enter();</a:t>
            </a:r>
            <a:endParaRPr b="0" lang="en-US" sz="1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void update();</a:t>
            </a:r>
            <a:endParaRPr b="0" lang="en-US" sz="1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void exit();</a:t>
            </a:r>
            <a:endParaRPr b="0" lang="en-US" sz="1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ffffff"/>
              </a:solidFill>
              <a:latin typeface="Arial Regular"/>
            </a:endParaRPr>
          </a:p>
        </p:txBody>
      </p:sp>
      <p:sp>
        <p:nvSpPr>
          <p:cNvPr id="88" name="Rectangle 7"/>
          <p:cNvSpPr/>
          <p:nvPr/>
        </p:nvSpPr>
        <p:spPr>
          <a:xfrm>
            <a:off x="2279520" y="1455480"/>
            <a:ext cx="4114440" cy="409500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class StateMachine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{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list&lt;State*&gt; states;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State *current, *start;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int transition[#s][#i];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queue&lt;Event*&gt; events;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void Init();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void Update();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void Shutdown();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void EnqueueEvent(Event*);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void Transition();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" name="Picture 22" descr="fsm1"/>
          <p:cNvPicPr/>
          <p:nvPr/>
        </p:nvPicPr>
        <p:blipFill>
          <a:blip r:embed="rId1"/>
          <a:stretch/>
        </p:blipFill>
        <p:spPr>
          <a:xfrm>
            <a:off x="7091280" y="3374280"/>
            <a:ext cx="2608560" cy="225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6" dur="indefinite" restart="never" nodeType="tmRoot">
          <p:childTnLst>
            <p:seq>
              <p:cTn id="377" dur="indefinite" nodeType="mainSeq">
                <p:childTnLst>
                  <p:par>
                    <p:cTn id="378" nodeType="clickEffect" fill="hold">
                      <p:stCondLst>
                        <p:cond delay="indefinite"/>
                      </p:stCondLst>
                      <p:childTnLst>
                        <p:par>
                          <p:cTn id="3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82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85" dur="500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88" dur="500"/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nodeType="clickEffect" fill="hold">
                      <p:stCondLst>
                        <p:cond delay="indefinite"/>
                      </p:stCondLst>
                      <p:childTnLst>
                        <p:par>
                          <p:cTn id="3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93" dur="500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nodeType="clickEffect" fill="hold">
                      <p:stCondLst>
                        <p:cond delay="indefinite"/>
                      </p:stCondLst>
                      <p:childTnLst>
                        <p:par>
                          <p:cTn id="3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98" dur="500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nodeType="clickEffect" fill="hold">
                      <p:stCondLst>
                        <p:cond delay="indefinite"/>
                      </p:stCondLst>
                      <p:childTnLst>
                        <p:par>
                          <p:cTn id="4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03" dur="500"/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nodeType="clickEffect" fill="hold">
                      <p:stCondLst>
                        <p:cond delay="indefinite"/>
                      </p:stCondLst>
                      <p:childTnLst>
                        <p:par>
                          <p:cTn id="4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08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13" dur="5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18" dur="500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nodeType="clickEffect" fill="hold">
                      <p:stCondLst>
                        <p:cond delay="indefinite"/>
                      </p:stCondLst>
                      <p:childTnLst>
                        <p:par>
                          <p:cTn id="4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23" dur="500"/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nodeType="clickEffect" fill="hold">
                      <p:stCondLst>
                        <p:cond delay="indefinite"/>
                      </p:stCondLst>
                      <p:childTnLst>
                        <p:par>
                          <p:cTn id="4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28" dur="500"/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nodeType="clickEffect" fill="hold">
                      <p:stCondLst>
                        <p:cond delay="indefinite"/>
                      </p:stCondLst>
                      <p:childTnLst>
                        <p:par>
                          <p:cTn id="4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33" dur="500"/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nodeType="clickEffect" fill="hold">
                      <p:stCondLst>
                        <p:cond delay="indefinite"/>
                      </p:stCondLst>
                      <p:childTnLst>
                        <p:par>
                          <p:cTn id="4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38" dur="500"/>
                                        <p:tgtEl>
                                          <p:spTgt spid="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41" dur="500"/>
                                        <p:tgtEl>
                                          <p:spTgt spid="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44" dur="500"/>
                                        <p:tgtEl>
                                          <p:spTgt spid="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47" dur="500"/>
                                        <p:tgtEl>
                                          <p:spTgt spid="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50" dur="500"/>
                                        <p:tgtEl>
                                          <p:spTgt spid="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  <a:ea typeface="ＭＳ Ｐゴシック"/>
              </a:rPr>
              <a:t>FSM Problems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770760" y="1342800"/>
            <a:ext cx="10650600" cy="48805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Finite State Machines are easy to code and have been very successful in games, but have some problems:</a:t>
            </a:r>
            <a:endParaRPr b="0" lang="en-US" sz="3200" spc="-1" strike="noStrike">
              <a:solidFill>
                <a:schemeClr val="dk1"/>
              </a:solidFill>
              <a:latin typeface="Arial Regular"/>
            </a:endParaRPr>
          </a:p>
          <a:p>
            <a:pPr indent="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Arial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Arial"/>
              </a:rPr>
              <a:t>Not easily scalable</a:t>
            </a:r>
            <a:endParaRPr b="0" lang="en-US" sz="32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Arial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Arial"/>
              </a:rPr>
              <a:t>No memory of past events</a:t>
            </a:r>
            <a:endParaRPr b="0" lang="en-US" sz="32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Arial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Arial"/>
              </a:rPr>
              <a:t>Purely reactive – no plans/goals</a:t>
            </a:r>
            <a:endParaRPr b="0" lang="en-US" sz="32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Arial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Arial"/>
              </a:rPr>
              <a:t>Can be too predictable</a:t>
            </a:r>
            <a:br>
              <a:rPr sz="1600"/>
            </a:b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 </a:t>
            </a:r>
            <a:endParaRPr b="0" lang="en-US" sz="1600" spc="-1" strike="noStrike">
              <a:solidFill>
                <a:schemeClr val="dk1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Scaling can be handled to some degree with Hierarchical FSMs (HFSMs), and predictability can be addressed with probabilities – but there is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a cost!</a:t>
            </a:r>
            <a:endParaRPr b="0" lang="en-US" sz="3200" spc="-1" strike="noStrike">
              <a:solidFill>
                <a:schemeClr val="dk1"/>
              </a:solidFill>
              <a:latin typeface="Arial Regular"/>
            </a:endParaRPr>
          </a:p>
        </p:txBody>
      </p:sp>
      <p:pic>
        <p:nvPicPr>
          <p:cNvPr id="92" name="Picture 6" descr=""/>
          <p:cNvPicPr/>
          <p:nvPr/>
        </p:nvPicPr>
        <p:blipFill>
          <a:blip r:embed="rId1"/>
          <a:stretch/>
        </p:blipFill>
        <p:spPr>
          <a:xfrm>
            <a:off x="8037360" y="2362320"/>
            <a:ext cx="2133360" cy="21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Decision Trees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56440" y="1386000"/>
            <a:ext cx="8714520" cy="5220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algn="just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Decision trees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help agents make decisions (behavior) by branching based on aspects of the world (knowledge).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  <a:ea typeface="ＭＳ Ｐゴシック"/>
              </a:rPr>
              <a:t>Decision Trees…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Ask some question about world / agent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Branch according to possible answers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Terminate in decisions (leaf nodes)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Decision trees can use machine learning (ID3)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br>
              <a:rPr sz="1600"/>
            </a:b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Decision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tree models are simple but have limited flexibility.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</p:txBody>
      </p:sp>
      <p:sp>
        <p:nvSpPr>
          <p:cNvPr id="95" name="Diamond 27"/>
          <p:cNvSpPr/>
          <p:nvPr/>
        </p:nvSpPr>
        <p:spPr>
          <a:xfrm>
            <a:off x="9759960" y="1853640"/>
            <a:ext cx="753840" cy="755280"/>
          </a:xfrm>
          <a:prstGeom prst="diamond">
            <a:avLst/>
          </a:prstGeom>
          <a:noFill/>
          <a:ln w="3810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96" name="TextBox 27"/>
          <p:cNvSpPr/>
          <p:nvPr/>
        </p:nvSpPr>
        <p:spPr>
          <a:xfrm>
            <a:off x="9696600" y="1539360"/>
            <a:ext cx="10695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Zombie?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7" name="Straight Connector 29"/>
          <p:cNvCxnSpPr/>
          <p:nvPr/>
        </p:nvCxnSpPr>
        <p:spPr>
          <a:xfrm flipH="1">
            <a:off x="9443880" y="2420280"/>
            <a:ext cx="505080" cy="567000"/>
          </a:xfrm>
          <a:prstGeom prst="straightConnector1">
            <a:avLst/>
          </a:prstGeom>
          <a:ln w="38100">
            <a:solidFill>
              <a:srgbClr val="ffffff"/>
            </a:solidFill>
            <a:round/>
          </a:ln>
        </p:spPr>
      </p:cxnSp>
      <p:cxnSp>
        <p:nvCxnSpPr>
          <p:cNvPr id="98" name="Straight Connector 30"/>
          <p:cNvCxnSpPr/>
          <p:nvPr/>
        </p:nvCxnSpPr>
        <p:spPr>
          <a:xfrm>
            <a:off x="10326600" y="2420280"/>
            <a:ext cx="439920" cy="567000"/>
          </a:xfrm>
          <a:prstGeom prst="straightConnector1">
            <a:avLst/>
          </a:prstGeom>
          <a:ln w="38100">
            <a:solidFill>
              <a:srgbClr val="ffffff"/>
            </a:solidFill>
            <a:round/>
          </a:ln>
        </p:spPr>
      </p:cxnSp>
      <p:sp>
        <p:nvSpPr>
          <p:cNvPr id="99" name="TextBox 30"/>
          <p:cNvSpPr/>
          <p:nvPr/>
        </p:nvSpPr>
        <p:spPr>
          <a:xfrm>
            <a:off x="9405000" y="2260440"/>
            <a:ext cx="56628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Yes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31"/>
          <p:cNvSpPr/>
          <p:nvPr/>
        </p:nvSpPr>
        <p:spPr>
          <a:xfrm>
            <a:off x="10388520" y="2260440"/>
            <a:ext cx="75528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No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Diamond 37"/>
          <p:cNvSpPr/>
          <p:nvPr/>
        </p:nvSpPr>
        <p:spPr>
          <a:xfrm>
            <a:off x="8879040" y="2798280"/>
            <a:ext cx="753840" cy="755280"/>
          </a:xfrm>
          <a:prstGeom prst="diamond">
            <a:avLst/>
          </a:prstGeom>
          <a:noFill/>
          <a:ln w="3810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02" name="TextBox 36"/>
          <p:cNvSpPr/>
          <p:nvPr/>
        </p:nvSpPr>
        <p:spPr>
          <a:xfrm>
            <a:off x="8626320" y="2483640"/>
            <a:ext cx="10695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Hungry?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ectangle 39"/>
          <p:cNvSpPr/>
          <p:nvPr/>
        </p:nvSpPr>
        <p:spPr>
          <a:xfrm>
            <a:off x="10514160" y="2986920"/>
            <a:ext cx="566280" cy="566280"/>
          </a:xfrm>
          <a:prstGeom prst="rect">
            <a:avLst/>
          </a:prstGeom>
          <a:noFill/>
          <a:ln w="3810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04" name="TextBox 41"/>
          <p:cNvSpPr/>
          <p:nvPr/>
        </p:nvSpPr>
        <p:spPr>
          <a:xfrm>
            <a:off x="10514160" y="3112560"/>
            <a:ext cx="63000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Hide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5" name="Straight Connector 41"/>
          <p:cNvCxnSpPr/>
          <p:nvPr/>
        </p:nvCxnSpPr>
        <p:spPr>
          <a:xfrm flipH="1">
            <a:off x="8562960" y="3364560"/>
            <a:ext cx="503280" cy="567360"/>
          </a:xfrm>
          <a:prstGeom prst="straightConnector1">
            <a:avLst/>
          </a:prstGeom>
          <a:ln w="38100">
            <a:solidFill>
              <a:srgbClr val="ffffff"/>
            </a:solidFill>
            <a:round/>
          </a:ln>
        </p:spPr>
      </p:cxnSp>
      <p:cxnSp>
        <p:nvCxnSpPr>
          <p:cNvPr id="106" name="Straight Connector 42"/>
          <p:cNvCxnSpPr/>
          <p:nvPr/>
        </p:nvCxnSpPr>
        <p:spPr>
          <a:xfrm>
            <a:off x="9443880" y="3364560"/>
            <a:ext cx="441720" cy="567360"/>
          </a:xfrm>
          <a:prstGeom prst="straightConnector1">
            <a:avLst/>
          </a:prstGeom>
          <a:ln w="38100">
            <a:solidFill>
              <a:srgbClr val="ffffff"/>
            </a:solidFill>
            <a:round/>
          </a:ln>
        </p:spPr>
      </p:cxnSp>
      <p:sp>
        <p:nvSpPr>
          <p:cNvPr id="107" name="Rectangle 43"/>
          <p:cNvSpPr/>
          <p:nvPr/>
        </p:nvSpPr>
        <p:spPr>
          <a:xfrm>
            <a:off x="8312040" y="3931560"/>
            <a:ext cx="691920" cy="566280"/>
          </a:xfrm>
          <a:prstGeom prst="rect">
            <a:avLst/>
          </a:prstGeom>
          <a:noFill/>
          <a:ln w="3810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08" name="Rectangle 44"/>
          <p:cNvSpPr/>
          <p:nvPr/>
        </p:nvSpPr>
        <p:spPr>
          <a:xfrm>
            <a:off x="9570960" y="3931560"/>
            <a:ext cx="566280" cy="566280"/>
          </a:xfrm>
          <a:prstGeom prst="rect">
            <a:avLst/>
          </a:prstGeom>
          <a:noFill/>
          <a:ln w="3810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09" name="TextBox 46"/>
          <p:cNvSpPr/>
          <p:nvPr/>
        </p:nvSpPr>
        <p:spPr>
          <a:xfrm>
            <a:off x="8505720" y="3239280"/>
            <a:ext cx="56628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Yes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Box 47"/>
          <p:cNvSpPr/>
          <p:nvPr/>
        </p:nvSpPr>
        <p:spPr>
          <a:xfrm>
            <a:off x="9507600" y="3239280"/>
            <a:ext cx="75528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No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Box 48"/>
          <p:cNvSpPr/>
          <p:nvPr/>
        </p:nvSpPr>
        <p:spPr>
          <a:xfrm>
            <a:off x="8274960" y="3935520"/>
            <a:ext cx="817200" cy="577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Eat Brains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49"/>
          <p:cNvSpPr/>
          <p:nvPr/>
        </p:nvSpPr>
        <p:spPr>
          <a:xfrm>
            <a:off x="9507600" y="4056840"/>
            <a:ext cx="69192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Moan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3" name="Picture 31" descr="C:\Users\Jeremiah Blanchard\AppData\Local\Microsoft\Windows\Temporary Internet Files\Content.IE5\15OSIHYH\MP900442485[1].jpg"/>
          <p:cNvPicPr/>
          <p:nvPr/>
        </p:nvPicPr>
        <p:blipFill>
          <a:blip r:embed="rId1"/>
          <a:stretch/>
        </p:blipFill>
        <p:spPr>
          <a:xfrm>
            <a:off x="8462160" y="4671000"/>
            <a:ext cx="2555640" cy="1703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1" dur="indefinite" restart="never" nodeType="tmRoot">
          <p:childTnLst>
            <p:seq>
              <p:cTn id="452" dur="indefinite" nodeType="mainSeq">
                <p:childTnLst>
                  <p:par>
                    <p:cTn id="453" nodeType="clickEffect" fill="hold">
                      <p:stCondLst>
                        <p:cond delay="indefinite"/>
                      </p:stCondLst>
                      <p:childTnLst>
                        <p:par>
                          <p:cTn id="4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7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nodeType="clickEffect" fill="hold">
                      <p:stCondLst>
                        <p:cond delay="indefinite"/>
                      </p:stCondLst>
                      <p:childTnLst>
                        <p:par>
                          <p:cTn id="4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62" dur="500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nodeType="clickEffect" fill="hold">
                      <p:stCondLst>
                        <p:cond delay="indefinite"/>
                      </p:stCondLst>
                      <p:childTnLst>
                        <p:par>
                          <p:cTn id="4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67" dur="500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nodeType="clickEffect" fill="hold">
                      <p:stCondLst>
                        <p:cond delay="indefinite"/>
                      </p:stCondLst>
                      <p:childTnLst>
                        <p:par>
                          <p:cTn id="4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3" dur="500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nodeType="clickEffect" fill="hold">
                      <p:stCondLst>
                        <p:cond delay="indefinite"/>
                      </p:stCondLst>
                      <p:childTnLst>
                        <p:par>
                          <p:cTn id="4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2" dur="500"/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nodeType="clickEffect" fill="hold">
                      <p:stCondLst>
                        <p:cond delay="indefinite"/>
                      </p:stCondLst>
                      <p:childTnLst>
                        <p:par>
                          <p:cTn id="5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1" dur="500"/>
                                        <p:tgtEl>
                                          <p:spTgt spid="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2" fill="hold">
                      <p:stCondLst>
                        <p:cond delay="indefinite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id="55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6" dur="500"/>
                                        <p:tgtEl>
                                          <p:spTgt spid="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981080" y="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  <a:ea typeface="ＭＳ Ｐゴシック"/>
              </a:rPr>
              <a:t>Behavior Trees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1789560" y="1020600"/>
            <a:ext cx="10069560" cy="5247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6666"/>
          </a:bodyPr>
          <a:p>
            <a:pPr indent="0" algn="ctr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To model more complex agent behaviors, we can use </a:t>
            </a:r>
            <a:r>
              <a:rPr b="1" lang="en-US" sz="2400" spc="-1" strike="noStrike">
                <a:solidFill>
                  <a:srgbClr val="00ff00"/>
                </a:solidFill>
                <a:latin typeface="Garamond"/>
              </a:rPr>
              <a:t>Behavior Trees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.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marL="251640" indent="-3430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Primitives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Conditions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Actions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marL="251640" indent="-3430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Decorators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Loop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Invert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marL="251640" indent="-3430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Composites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Sequences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Selectors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Parallels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pic>
        <p:nvPicPr>
          <p:cNvPr id="116" name="Picture 25" descr="C:\Users\Mister J\AppData\Local\Microsoft\Windows\Temporary Internet Files\Content.IE5\B0XK5IAQ\MCPE01590_0000[1].wmf"/>
          <p:cNvPicPr/>
          <p:nvPr/>
        </p:nvPicPr>
        <p:blipFill>
          <a:blip r:embed="rId1"/>
          <a:stretch/>
        </p:blipFill>
        <p:spPr>
          <a:xfrm>
            <a:off x="4806720" y="1665360"/>
            <a:ext cx="3232440" cy="2693880"/>
          </a:xfrm>
          <a:prstGeom prst="rect">
            <a:avLst/>
          </a:prstGeom>
          <a:ln w="0">
            <a:noFill/>
          </a:ln>
        </p:spPr>
      </p:pic>
      <p:sp>
        <p:nvSpPr>
          <p:cNvPr id="117" name="Content Placeholder 2"/>
          <p:cNvSpPr/>
          <p:nvPr/>
        </p:nvSpPr>
        <p:spPr>
          <a:xfrm>
            <a:off x="5292360" y="4527000"/>
            <a:ext cx="6144840" cy="17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rm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After a behavior runs, it returns a </a:t>
            </a:r>
            <a:r>
              <a:rPr b="1" lang="en-US" sz="2400" spc="-1" strike="noStrike">
                <a:solidFill>
                  <a:srgbClr val="00ff00"/>
                </a:solidFill>
                <a:latin typeface="Garamond"/>
                <a:ea typeface="ＭＳ Ｐゴシック"/>
              </a:rPr>
              <a:t>status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51640" indent="-343080" defTabSz="914400">
              <a:lnSpc>
                <a:spcPct val="10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Success (completed)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51640" indent="-343080" defTabSz="914400">
              <a:lnSpc>
                <a:spcPct val="10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Failure (did not complete)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51640" indent="-343080" defTabSz="914400">
              <a:lnSpc>
                <a:spcPct val="10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Running (suspended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to return later)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8" name="Group 3"/>
          <p:cNvGrpSpPr/>
          <p:nvPr/>
        </p:nvGrpSpPr>
        <p:grpSpPr>
          <a:xfrm>
            <a:off x="8009280" y="1561680"/>
            <a:ext cx="2503800" cy="2985480"/>
            <a:chOff x="8009280" y="1561680"/>
            <a:chExt cx="2503800" cy="2985480"/>
          </a:xfrm>
        </p:grpSpPr>
        <p:grpSp>
          <p:nvGrpSpPr>
            <p:cNvPr id="119" name="Group 4"/>
            <p:cNvGrpSpPr/>
            <p:nvPr/>
          </p:nvGrpSpPr>
          <p:grpSpPr>
            <a:xfrm>
              <a:off x="8009280" y="1561680"/>
              <a:ext cx="2503800" cy="2985480"/>
              <a:chOff x="8009280" y="1561680"/>
              <a:chExt cx="2503800" cy="2985480"/>
            </a:xfrm>
          </p:grpSpPr>
          <p:pic>
            <p:nvPicPr>
              <p:cNvPr id="120" name="Picture 5" descr="MPj04372940000.png"/>
              <p:cNvPicPr/>
              <p:nvPr/>
            </p:nvPicPr>
            <p:blipFill>
              <a:blip r:embed="rId2"/>
              <a:stretch/>
            </p:blipFill>
            <p:spPr>
              <a:xfrm>
                <a:off x="8009280" y="1561680"/>
                <a:ext cx="2503800" cy="298548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21" name="Oval 10"/>
              <p:cNvSpPr/>
              <p:nvPr/>
            </p:nvSpPr>
            <p:spPr>
              <a:xfrm>
                <a:off x="9068760" y="2043360"/>
                <a:ext cx="384840" cy="2404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Garamond"/>
                </a:endParaRPr>
              </a:p>
            </p:txBody>
          </p:sp>
          <p:sp>
            <p:nvSpPr>
              <p:cNvPr id="122" name="Oval 11"/>
              <p:cNvSpPr/>
              <p:nvPr/>
            </p:nvSpPr>
            <p:spPr>
              <a:xfrm>
                <a:off x="8538840" y="2428560"/>
                <a:ext cx="384840" cy="2404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Garamond"/>
                </a:endParaRPr>
              </a:p>
            </p:txBody>
          </p:sp>
          <p:sp>
            <p:nvSpPr>
              <p:cNvPr id="123" name="Oval 12"/>
              <p:cNvSpPr/>
              <p:nvPr/>
            </p:nvSpPr>
            <p:spPr>
              <a:xfrm>
                <a:off x="9068760" y="2428560"/>
                <a:ext cx="384840" cy="2404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Garamond"/>
                </a:endParaRPr>
              </a:p>
            </p:txBody>
          </p:sp>
          <p:sp>
            <p:nvSpPr>
              <p:cNvPr id="124" name="Oval 13"/>
              <p:cNvSpPr/>
              <p:nvPr/>
            </p:nvSpPr>
            <p:spPr>
              <a:xfrm>
                <a:off x="9598320" y="2428560"/>
                <a:ext cx="384840" cy="2404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Garamond"/>
                </a:endParaRPr>
              </a:p>
            </p:txBody>
          </p:sp>
          <p:cxnSp>
            <p:nvCxnSpPr>
              <p:cNvPr id="125" name="Straight Connector 14"/>
              <p:cNvCxnSpPr/>
              <p:nvPr/>
            </p:nvCxnSpPr>
            <p:spPr>
              <a:xfrm flipH="1">
                <a:off x="8867880" y="2235960"/>
                <a:ext cx="249120" cy="227880"/>
              </a:xfrm>
              <a:prstGeom prst="straightConnector1">
                <a:avLst/>
              </a:prstGeom>
              <a:ln w="25400">
                <a:solidFill>
                  <a:srgbClr val="000000"/>
                </a:solidFill>
                <a:round/>
              </a:ln>
            </p:spPr>
          </p:cxnSp>
          <p:cxnSp>
            <p:nvCxnSpPr>
              <p:cNvPr id="126" name="Straight Connector 15"/>
              <p:cNvCxnSpPr/>
              <p:nvPr/>
            </p:nvCxnSpPr>
            <p:spPr>
              <a:xfrm>
                <a:off x="9261360" y="2283840"/>
                <a:ext cx="360" cy="145080"/>
              </a:xfrm>
              <a:prstGeom prst="straightConnector1">
                <a:avLst/>
              </a:prstGeom>
              <a:ln w="25400">
                <a:solidFill>
                  <a:srgbClr val="000000"/>
                </a:solidFill>
                <a:round/>
              </a:ln>
            </p:spPr>
          </p:cxnSp>
          <p:cxnSp>
            <p:nvCxnSpPr>
              <p:cNvPr id="127" name="Straight Connector 16"/>
              <p:cNvCxnSpPr/>
              <p:nvPr/>
            </p:nvCxnSpPr>
            <p:spPr>
              <a:xfrm flipH="1" flipV="1">
                <a:off x="9397800" y="2248920"/>
                <a:ext cx="257040" cy="214920"/>
              </a:xfrm>
              <a:prstGeom prst="straightConnector1">
                <a:avLst/>
              </a:prstGeom>
              <a:ln w="25400">
                <a:solidFill>
                  <a:srgbClr val="000000"/>
                </a:solidFill>
                <a:round/>
              </a:ln>
            </p:spPr>
          </p:cxnSp>
          <p:sp>
            <p:nvSpPr>
              <p:cNvPr id="128" name="Oval 17"/>
              <p:cNvSpPr/>
              <p:nvPr/>
            </p:nvSpPr>
            <p:spPr>
              <a:xfrm>
                <a:off x="8538840" y="2813760"/>
                <a:ext cx="384840" cy="2404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Garamond"/>
                </a:endParaRPr>
              </a:p>
            </p:txBody>
          </p:sp>
          <p:sp>
            <p:nvSpPr>
              <p:cNvPr id="129" name="Oval 18"/>
              <p:cNvSpPr/>
              <p:nvPr/>
            </p:nvSpPr>
            <p:spPr>
              <a:xfrm>
                <a:off x="9068760" y="2813760"/>
                <a:ext cx="384840" cy="2404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Garamond"/>
                </a:endParaRPr>
              </a:p>
            </p:txBody>
          </p:sp>
          <p:cxnSp>
            <p:nvCxnSpPr>
              <p:cNvPr id="130" name="Straight Connector 20"/>
              <p:cNvCxnSpPr/>
              <p:nvPr/>
            </p:nvCxnSpPr>
            <p:spPr>
              <a:xfrm flipH="1">
                <a:off x="8867880" y="2621160"/>
                <a:ext cx="249120" cy="227880"/>
              </a:xfrm>
              <a:prstGeom prst="straightConnector1">
                <a:avLst/>
              </a:prstGeom>
              <a:ln w="25400">
                <a:solidFill>
                  <a:srgbClr val="000000"/>
                </a:solidFill>
                <a:round/>
              </a:ln>
            </p:spPr>
          </p:cxnSp>
          <p:cxnSp>
            <p:nvCxnSpPr>
              <p:cNvPr id="131" name="Straight Connector 21"/>
              <p:cNvCxnSpPr/>
              <p:nvPr/>
            </p:nvCxnSpPr>
            <p:spPr>
              <a:xfrm>
                <a:off x="9261360" y="2669040"/>
                <a:ext cx="360" cy="145080"/>
              </a:xfrm>
              <a:prstGeom prst="straightConnector1">
                <a:avLst/>
              </a:prstGeom>
              <a:ln w="25400">
                <a:solidFill>
                  <a:srgbClr val="000000"/>
                </a:solidFill>
                <a:round/>
              </a:ln>
            </p:spPr>
          </p:cxnSp>
        </p:grpSp>
        <p:sp>
          <p:nvSpPr>
            <p:cNvPr id="132" name="Oval 7"/>
            <p:cNvSpPr/>
            <p:nvPr/>
          </p:nvSpPr>
          <p:spPr>
            <a:xfrm>
              <a:off x="9598320" y="2813760"/>
              <a:ext cx="384840" cy="2404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Garamond"/>
              </a:endParaRPr>
            </a:p>
          </p:txBody>
        </p:sp>
        <p:cxnSp>
          <p:nvCxnSpPr>
            <p:cNvPr id="133" name="Straight Connector 8"/>
            <p:cNvCxnSpPr>
              <a:endCxn id="132" idx="0"/>
            </p:cNvCxnSpPr>
            <p:nvPr/>
          </p:nvCxnSpPr>
          <p:spPr>
            <a:xfrm>
              <a:off x="9790920" y="2669040"/>
              <a:ext cx="360" cy="14508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7" dur="indefinite" restart="never" nodeType="tmRoot">
          <p:childTnLst>
            <p:seq>
              <p:cTn id="558" dur="indefinite" nodeType="mainSeq">
                <p:childTnLst>
                  <p:par>
                    <p:cTn id="559" nodeType="clickEffect" fill="hold">
                      <p:stCondLst>
                        <p:cond delay="indefinite"/>
                      </p:stCondLst>
                      <p:childTnLst>
                        <p:par>
                          <p:cTn id="5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3" dur="500"/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nodeType="clickEffect" fill="hold">
                      <p:stCondLst>
                        <p:cond delay="indefinite"/>
                      </p:stCondLst>
                      <p:childTnLst>
                        <p:par>
                          <p:cTn id="5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8" dur="500"/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nodeType="clickEffect" fill="hold">
                      <p:stCondLst>
                        <p:cond delay="indefinite"/>
                      </p:stCondLst>
                      <p:childTnLst>
                        <p:par>
                          <p:cTn id="5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3" dur="500"/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nodeType="clickEffect" fill="hold">
                      <p:stCondLst>
                        <p:cond delay="indefinite"/>
                      </p:stCondLst>
                      <p:childTnLst>
                        <p:par>
                          <p:cTn id="5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8" dur="500"/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9" fill="hold">
                      <p:stCondLst>
                        <p:cond delay="indefinite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3" dur="500"/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>
                      <p:stCondLst>
                        <p:cond delay="indefinite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id="58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8" dur="500"/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nodeType="clickEffect" fill="hold">
                      <p:stCondLst>
                        <p:cond delay="indefinite"/>
                      </p:stCondLst>
                      <p:childTnLst>
                        <p:par>
                          <p:cTn id="5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3" dur="500"/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fill="hold">
                      <p:stCondLst>
                        <p:cond delay="indefinite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8" dur="500"/>
                                        <p:tgtEl>
                                          <p:spTgt spid="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3" dur="500"/>
                                        <p:tgtEl>
                                          <p:spTgt spid="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fill="hold">
                      <p:stCondLst>
                        <p:cond delay="indefinite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id="60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8" dur="500"/>
                                        <p:tgtEl>
                                          <p:spTgt spid="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28160" y="2943000"/>
            <a:ext cx="1193544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000" spc="199" strike="noStrike">
                <a:solidFill>
                  <a:schemeClr val="lt1"/>
                </a:solidFill>
                <a:latin typeface="Arial"/>
              </a:rPr>
              <a:t>Fin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</Template>
  <TotalTime>757</TotalTime>
  <Application>LibreOffice/24.2.7.2$Linux_X86_64 LibreOffice_project/420$Build-2</Application>
  <AppVersion>15.0000</AppVersion>
  <Words>534</Words>
  <Paragraphs>148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2018-09-23T01:33:33Z</dcterms:created>
  <dc:creator>Jeremiah Blanchard</dc:creator>
  <dc:description/>
  <dc:language>ja-JP</dc:language>
  <cp:lastModifiedBy>Jeremiah Blanchard</cp:lastModifiedBy>
  <dcterms:modified xsi:type="dcterms:W3CDTF">2025-11-04T09:01:19Z</dcterms:modified>
  <cp:revision>126</cp:revision>
  <dc:subject/>
  <dc:title>Fundamentals of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MMClips">
    <vt:i4>4</vt:i4>
  </property>
  <property fmtid="{D5CDD505-2E9C-101B-9397-08002B2CF9AE}" pid="8" name="Notes">
    <vt:i4>9</vt:i4>
  </property>
  <property fmtid="{D5CDD505-2E9C-101B-9397-08002B2CF9AE}" pid="9" name="PresentationFormat">
    <vt:lpwstr>Widescreen</vt:lpwstr>
  </property>
  <property fmtid="{D5CDD505-2E9C-101B-9397-08002B2CF9AE}" pid="10" name="Slides">
    <vt:i4>11</vt:i4>
  </property>
</Properties>
</file>