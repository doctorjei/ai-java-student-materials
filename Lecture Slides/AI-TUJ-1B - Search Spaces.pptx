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9.png" ContentType="image/png"/>
  <Override PartName="/ppt/media/image12.png" ContentType="image/png"/>
  <Override PartName="/ppt/media/image3.png" ContentType="image/png"/>
  <Override PartName="/ppt/media/image17.svg" ContentType="image/svg"/>
  <Override PartName="/ppt/media/image16.png" ContentType="image/png"/>
  <Override PartName="/ppt/media/image15.svg" ContentType="image/svg"/>
  <Override PartName="/ppt/media/image4.svg" ContentType="image/svg"/>
  <Override PartName="/ppt/media/image11.png" ContentType="image/png"/>
  <Override PartName="/ppt/media/image2.png" ContentType="image/png"/>
  <Override PartName="/ppt/media/image7.svg" ContentType="image/svg"/>
  <Override PartName="/ppt/media/image14.png" ContentType="image/png"/>
  <Override PartName="/ppt/media/image5.png" ContentType="image/png"/>
  <Override PartName="/ppt/media/image6.png" ContentType="image/png"/>
  <Override PartName="/ppt/media/image1.png" ContentType="image/png"/>
  <Override PartName="/ppt/media/image10.png" ContentType="image/png"/>
  <Override PartName="/ppt/media/image8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7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C41B4E1-59B1-45EA-8B43-41EF73A0CBB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7AEC57-5AF7-4820-8E9F-6CA48AEFB478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3BBAA2-B8D3-4AFA-ACA0-169E5D96C3C1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sv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879120" y="4998960"/>
            <a:ext cx="10432440" cy="46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What We Know and How We Know It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36200" y="1526760"/>
            <a:ext cx="10718280" cy="79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89" strike="noStrike">
                <a:solidFill>
                  <a:schemeClr val="lt1"/>
                </a:solidFill>
                <a:latin typeface="Garamond"/>
              </a:rPr>
              <a:t>Search Spaces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Graphic 9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371600" y="2440080"/>
            <a:ext cx="8941320" cy="223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740160" y="1727280"/>
            <a:ext cx="10710000" cy="42732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The </a:t>
            </a:r>
            <a:r>
              <a:rPr b="1" lang="en-US" sz="3600" spc="-1" strike="noStrike">
                <a:solidFill>
                  <a:srgbClr val="00b050"/>
                </a:solidFill>
                <a:latin typeface="Garamond"/>
              </a:rPr>
              <a:t>search space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(also called the </a:t>
            </a:r>
            <a:r>
              <a:rPr b="1" lang="en-US" sz="3600" spc="-1" strike="noStrike">
                <a:solidFill>
                  <a:srgbClr val="00b050"/>
                </a:solidFill>
                <a:latin typeface="Garamond"/>
              </a:rPr>
              <a:t>state space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) is the set of all possible problem states. Search spaces can be…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1" lang="en-US" sz="3200" spc="-1" strike="noStrike">
                <a:solidFill>
                  <a:srgbClr val="00b050"/>
                </a:solidFill>
                <a:latin typeface="Garamond"/>
              </a:rPr>
              <a:t>Discrete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or </a:t>
            </a:r>
            <a:r>
              <a:rPr b="1" lang="en-US" sz="3200" spc="-1" strike="noStrike">
                <a:solidFill>
                  <a:srgbClr val="00b050"/>
                </a:solidFill>
                <a:latin typeface="Garamond"/>
              </a:rPr>
              <a:t>Continuous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1" lang="en-US" sz="3200" spc="-1" strike="noStrike">
                <a:solidFill>
                  <a:srgbClr val="00b050"/>
                </a:solidFill>
                <a:latin typeface="Garamond"/>
              </a:rPr>
              <a:t>Known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or </a:t>
            </a:r>
            <a:r>
              <a:rPr b="1" lang="en-US" sz="3200" spc="-1" strike="noStrike">
                <a:solidFill>
                  <a:srgbClr val="00b050"/>
                </a:solidFill>
                <a:latin typeface="Garamond"/>
              </a:rPr>
              <a:t>Unknown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1" lang="en-US" sz="3200" spc="-1" strike="noStrike">
                <a:solidFill>
                  <a:srgbClr val="00b050"/>
                </a:solidFill>
                <a:latin typeface="Garamond"/>
              </a:rPr>
              <a:t>Static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or </a:t>
            </a:r>
            <a:r>
              <a:rPr b="1" lang="en-US" sz="3200" spc="-1" strike="noStrike">
                <a:solidFill>
                  <a:srgbClr val="00b050"/>
                </a:solidFill>
                <a:latin typeface="Garamond"/>
              </a:rPr>
              <a:t>Dynamic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468720" y="559440"/>
            <a:ext cx="1125324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Representing a Search Space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Picture 6" descr=""/>
          <p:cNvPicPr/>
          <p:nvPr/>
        </p:nvPicPr>
        <p:blipFill>
          <a:blip r:embed="rId1"/>
          <a:stretch/>
        </p:blipFill>
        <p:spPr>
          <a:xfrm>
            <a:off x="5435640" y="3057480"/>
            <a:ext cx="6755040" cy="379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/>
          </p:nvPr>
        </p:nvSpPr>
        <p:spPr>
          <a:xfrm>
            <a:off x="468720" y="1180440"/>
            <a:ext cx="11253240" cy="9932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75000"/>
          </a:bodyPr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If a state space is </a:t>
            </a:r>
            <a:r>
              <a:rPr b="1" i="1" lang="en-US" sz="36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Garamond"/>
              </a:rPr>
              <a:t>known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, we can build a </a:t>
            </a:r>
            <a:r>
              <a:rPr b="1" lang="en-US" sz="3600" spc="-1" strike="noStrike">
                <a:solidFill>
                  <a:srgbClr val="00b050"/>
                </a:solidFill>
                <a:latin typeface="Garamond"/>
              </a:rPr>
              <a:t>search graph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to represent the search space (which is </a:t>
            </a:r>
            <a:r>
              <a:rPr b="1" i="1" lang="en-US" sz="36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Garamond"/>
              </a:rPr>
              <a:t>discrete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) and improve search time.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468720" y="431640"/>
            <a:ext cx="11253240" cy="69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Search Graphs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ectangle 3"/>
          <p:cNvSpPr/>
          <p:nvPr/>
        </p:nvSpPr>
        <p:spPr>
          <a:xfrm>
            <a:off x="2918880" y="2584800"/>
            <a:ext cx="2741760" cy="274176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1" name="Rectangle 4"/>
          <p:cNvSpPr/>
          <p:nvPr/>
        </p:nvSpPr>
        <p:spPr>
          <a:xfrm>
            <a:off x="4016160" y="3682080"/>
            <a:ext cx="164592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2" name="Rectangle 8"/>
          <p:cNvSpPr/>
          <p:nvPr/>
        </p:nvSpPr>
        <p:spPr>
          <a:xfrm>
            <a:off x="3467520" y="2584800"/>
            <a:ext cx="54720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3" name="Rectangle 10"/>
          <p:cNvSpPr/>
          <p:nvPr/>
        </p:nvSpPr>
        <p:spPr>
          <a:xfrm>
            <a:off x="5113440" y="4230720"/>
            <a:ext cx="54720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4" name="Rectangle 11"/>
          <p:cNvSpPr/>
          <p:nvPr/>
        </p:nvSpPr>
        <p:spPr>
          <a:xfrm>
            <a:off x="4016160" y="4779360"/>
            <a:ext cx="1095840" cy="54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5" name="Rectangle 5"/>
          <p:cNvSpPr/>
          <p:nvPr/>
        </p:nvSpPr>
        <p:spPr>
          <a:xfrm>
            <a:off x="4564800" y="4230720"/>
            <a:ext cx="544680" cy="54720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6" name="Rectangle 12"/>
          <p:cNvSpPr/>
          <p:nvPr/>
        </p:nvSpPr>
        <p:spPr>
          <a:xfrm>
            <a:off x="4016160" y="2584800"/>
            <a:ext cx="1644120" cy="1089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7" name="Rectangle 13"/>
          <p:cNvSpPr/>
          <p:nvPr/>
        </p:nvSpPr>
        <p:spPr>
          <a:xfrm>
            <a:off x="4564800" y="4779360"/>
            <a:ext cx="544680" cy="54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06000" y="2584800"/>
            <a:ext cx="684360" cy="684360"/>
          </a:xfrm>
          <a:prstGeom prst="rect">
            <a:avLst/>
          </a:prstGeom>
          <a:solidFill>
            <a:srgbClr val="00b0f0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103480" y="3270600"/>
            <a:ext cx="684360" cy="684360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106000" y="3956400"/>
            <a:ext cx="684360" cy="684360"/>
          </a:xfrm>
          <a:prstGeom prst="rect">
            <a:avLst/>
          </a:prstGeom>
          <a:solidFill>
            <a:srgbClr val="002060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1" name="Straight Arrow Connector 39"/>
          <p:cNvCxnSpPr/>
          <p:nvPr/>
        </p:nvCxnSpPr>
        <p:spPr>
          <a:xfrm>
            <a:off x="7019640" y="2791440"/>
            <a:ext cx="1440" cy="458640"/>
          </a:xfrm>
          <a:prstGeom prst="straightConnector1">
            <a:avLst/>
          </a:prstGeom>
          <a:ln w="25400">
            <a:solidFill>
              <a:srgbClr val="00ff00"/>
            </a:solidFill>
            <a:round/>
            <a:tailEnd len="lg" type="stealth" w="lg"/>
          </a:ln>
        </p:spPr>
      </p:cxnSp>
      <p:cxnSp>
        <p:nvCxnSpPr>
          <p:cNvPr id="32" name="Straight Arrow Connector 40"/>
          <p:cNvCxnSpPr/>
          <p:nvPr/>
        </p:nvCxnSpPr>
        <p:spPr>
          <a:xfrm>
            <a:off x="7019640" y="3340080"/>
            <a:ext cx="1440" cy="458640"/>
          </a:xfrm>
          <a:prstGeom prst="straightConnector1">
            <a:avLst/>
          </a:prstGeom>
          <a:ln w="25400">
            <a:solidFill>
              <a:srgbClr val="00ff00"/>
            </a:solidFill>
            <a:round/>
            <a:tailEnd len="lg" type="stealth" w="lg"/>
          </a:ln>
        </p:spPr>
      </p:cxnSp>
      <p:cxnSp>
        <p:nvCxnSpPr>
          <p:cNvPr id="33" name="Straight Arrow Connector 41"/>
          <p:cNvCxnSpPr/>
          <p:nvPr/>
        </p:nvCxnSpPr>
        <p:spPr>
          <a:xfrm>
            <a:off x="7019640" y="3888720"/>
            <a:ext cx="1440" cy="458640"/>
          </a:xfrm>
          <a:prstGeom prst="straightConnector1">
            <a:avLst/>
          </a:prstGeom>
          <a:ln w="25400">
            <a:solidFill>
              <a:srgbClr val="00ff00"/>
            </a:solidFill>
            <a:round/>
            <a:tailEnd len="lg" type="stealth" w="lg"/>
          </a:ln>
        </p:spPr>
      </p:cxnSp>
      <p:cxnSp>
        <p:nvCxnSpPr>
          <p:cNvPr id="34" name="Straight Arrow Connector 43"/>
          <p:cNvCxnSpPr/>
          <p:nvPr/>
        </p:nvCxnSpPr>
        <p:spPr>
          <a:xfrm>
            <a:off x="8071200" y="5351760"/>
            <a:ext cx="458640" cy="1440"/>
          </a:xfrm>
          <a:prstGeom prst="straightConnector1">
            <a:avLst/>
          </a:prstGeom>
          <a:ln w="25400">
            <a:solidFill>
              <a:srgbClr val="00ff00"/>
            </a:solidFill>
            <a:round/>
            <a:tailEnd len="lg" type="stealth" w="lg"/>
          </a:ln>
        </p:spPr>
      </p:cxnSp>
      <p:cxnSp>
        <p:nvCxnSpPr>
          <p:cNvPr id="35" name="Straight Arrow Connector 44"/>
          <p:cNvCxnSpPr/>
          <p:nvPr/>
        </p:nvCxnSpPr>
        <p:spPr>
          <a:xfrm>
            <a:off x="8619840" y="5351760"/>
            <a:ext cx="458640" cy="1440"/>
          </a:xfrm>
          <a:prstGeom prst="straightConnector1">
            <a:avLst/>
          </a:prstGeom>
          <a:ln w="25400">
            <a:solidFill>
              <a:srgbClr val="00ff00"/>
            </a:solidFill>
            <a:round/>
            <a:tailEnd len="lg" type="stealth" w="lg"/>
          </a:ln>
        </p:spPr>
      </p:cxnSp>
      <p:cxnSp>
        <p:nvCxnSpPr>
          <p:cNvPr id="36" name="Straight Arrow Connector 45"/>
          <p:cNvCxnSpPr/>
          <p:nvPr/>
        </p:nvCxnSpPr>
        <p:spPr>
          <a:xfrm>
            <a:off x="9168480" y="5351760"/>
            <a:ext cx="458640" cy="1440"/>
          </a:xfrm>
          <a:prstGeom prst="straightConnector1">
            <a:avLst/>
          </a:prstGeom>
          <a:ln w="25400">
            <a:solidFill>
              <a:srgbClr val="00ff00"/>
            </a:solidFill>
            <a:round/>
            <a:tailEnd len="lg" type="stealth" w="lg"/>
          </a:ln>
        </p:spPr>
      </p:cxnSp>
      <p:sp>
        <p:nvSpPr>
          <p:cNvPr id="37" name="Rectangle 46"/>
          <p:cNvSpPr/>
          <p:nvPr/>
        </p:nvSpPr>
        <p:spPr>
          <a:xfrm>
            <a:off x="2106000" y="4642200"/>
            <a:ext cx="684360" cy="68436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X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Rectangle 47"/>
          <p:cNvSpPr/>
          <p:nvPr/>
        </p:nvSpPr>
        <p:spPr>
          <a:xfrm>
            <a:off x="7358400" y="2626920"/>
            <a:ext cx="227160" cy="227160"/>
          </a:xfrm>
          <a:prstGeom prst="rect">
            <a:avLst/>
          </a:prstGeom>
          <a:solidFill>
            <a:srgbClr val="00b0f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9" name="Rectangle 48"/>
          <p:cNvSpPr/>
          <p:nvPr/>
        </p:nvSpPr>
        <p:spPr>
          <a:xfrm>
            <a:off x="9004320" y="4821480"/>
            <a:ext cx="227160" cy="22716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0" name="Rectangle 49"/>
          <p:cNvSpPr/>
          <p:nvPr/>
        </p:nvSpPr>
        <p:spPr>
          <a:xfrm>
            <a:off x="7903080" y="4275720"/>
            <a:ext cx="227160" cy="2271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1" name="Rectangle 50"/>
          <p:cNvSpPr/>
          <p:nvPr/>
        </p:nvSpPr>
        <p:spPr>
          <a:xfrm>
            <a:off x="8455680" y="4821480"/>
            <a:ext cx="227160" cy="227160"/>
          </a:xfrm>
          <a:prstGeom prst="rect">
            <a:avLst/>
          </a:prstGeom>
          <a:solidFill>
            <a:srgbClr val="0070c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2" name="Rectangle 51"/>
          <p:cNvSpPr/>
          <p:nvPr/>
        </p:nvSpPr>
        <p:spPr>
          <a:xfrm>
            <a:off x="7355520" y="3175560"/>
            <a:ext cx="227160" cy="227160"/>
          </a:xfrm>
          <a:prstGeom prst="rect">
            <a:avLst/>
          </a:prstGeom>
          <a:solidFill>
            <a:srgbClr val="00b0f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3" name="Rectangle 52"/>
          <p:cNvSpPr/>
          <p:nvPr/>
        </p:nvSpPr>
        <p:spPr>
          <a:xfrm>
            <a:off x="7358400" y="3722400"/>
            <a:ext cx="227160" cy="227160"/>
          </a:xfrm>
          <a:prstGeom prst="rect">
            <a:avLst/>
          </a:prstGeom>
          <a:solidFill>
            <a:srgbClr val="00b0f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4" name="Rectangle 53"/>
          <p:cNvSpPr/>
          <p:nvPr/>
        </p:nvSpPr>
        <p:spPr>
          <a:xfrm>
            <a:off x="7358400" y="4272840"/>
            <a:ext cx="227160" cy="227160"/>
          </a:xfrm>
          <a:prstGeom prst="rect">
            <a:avLst/>
          </a:prstGeom>
          <a:solidFill>
            <a:srgbClr val="00b0f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5" name="Rectangle 54"/>
          <p:cNvSpPr/>
          <p:nvPr/>
        </p:nvSpPr>
        <p:spPr>
          <a:xfrm>
            <a:off x="7358400" y="4821480"/>
            <a:ext cx="227160" cy="227160"/>
          </a:xfrm>
          <a:prstGeom prst="rect">
            <a:avLst/>
          </a:prstGeom>
          <a:solidFill>
            <a:srgbClr val="00b0f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6" name="Rectangle 55"/>
          <p:cNvSpPr/>
          <p:nvPr/>
        </p:nvSpPr>
        <p:spPr>
          <a:xfrm>
            <a:off x="7907040" y="4821480"/>
            <a:ext cx="227160" cy="227160"/>
          </a:xfrm>
          <a:prstGeom prst="rect">
            <a:avLst/>
          </a:prstGeom>
          <a:solidFill>
            <a:srgbClr val="00b0f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7" name="Rectangle 56"/>
          <p:cNvSpPr/>
          <p:nvPr/>
        </p:nvSpPr>
        <p:spPr>
          <a:xfrm>
            <a:off x="9552960" y="4821480"/>
            <a:ext cx="227160" cy="227160"/>
          </a:xfrm>
          <a:prstGeom prst="rect">
            <a:avLst/>
          </a:prstGeom>
          <a:solidFill>
            <a:srgbClr val="00b0f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8" name="Rectangle 57"/>
          <p:cNvSpPr/>
          <p:nvPr/>
        </p:nvSpPr>
        <p:spPr>
          <a:xfrm>
            <a:off x="4014720" y="3133440"/>
            <a:ext cx="1094400" cy="109584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9" name="Rectangle 59"/>
          <p:cNvSpPr/>
          <p:nvPr/>
        </p:nvSpPr>
        <p:spPr>
          <a:xfrm>
            <a:off x="8455680" y="4272840"/>
            <a:ext cx="227160" cy="227160"/>
          </a:xfrm>
          <a:prstGeom prst="rect">
            <a:avLst/>
          </a:prstGeom>
          <a:solidFill>
            <a:srgbClr val="00b0f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0" name="Rectangle 60"/>
          <p:cNvSpPr/>
          <p:nvPr/>
        </p:nvSpPr>
        <p:spPr>
          <a:xfrm>
            <a:off x="9552960" y="4272840"/>
            <a:ext cx="227160" cy="227160"/>
          </a:xfrm>
          <a:prstGeom prst="rect">
            <a:avLst/>
          </a:prstGeom>
          <a:solidFill>
            <a:srgbClr val="0070c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1" name="Rectangle 61"/>
          <p:cNvSpPr/>
          <p:nvPr/>
        </p:nvSpPr>
        <p:spPr>
          <a:xfrm>
            <a:off x="9552960" y="3725280"/>
            <a:ext cx="227160" cy="227160"/>
          </a:xfrm>
          <a:prstGeom prst="rect">
            <a:avLst/>
          </a:prstGeom>
          <a:solidFill>
            <a:srgbClr val="0070c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2" name="Rectangle 62"/>
          <p:cNvSpPr/>
          <p:nvPr/>
        </p:nvSpPr>
        <p:spPr>
          <a:xfrm>
            <a:off x="7903080" y="3171240"/>
            <a:ext cx="227160" cy="2271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3" name="Rectangle 63"/>
          <p:cNvSpPr/>
          <p:nvPr/>
        </p:nvSpPr>
        <p:spPr>
          <a:xfrm>
            <a:off x="7903080" y="2626920"/>
            <a:ext cx="227160" cy="227160"/>
          </a:xfrm>
          <a:prstGeom prst="rect">
            <a:avLst/>
          </a:prstGeom>
          <a:solidFill>
            <a:srgbClr val="0070c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4" name="Rectangle 64"/>
          <p:cNvSpPr/>
          <p:nvPr/>
        </p:nvSpPr>
        <p:spPr>
          <a:xfrm>
            <a:off x="8455680" y="2626920"/>
            <a:ext cx="227160" cy="22716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5" name="Rectangle 65"/>
          <p:cNvSpPr/>
          <p:nvPr/>
        </p:nvSpPr>
        <p:spPr>
          <a:xfrm>
            <a:off x="9004320" y="2626920"/>
            <a:ext cx="227160" cy="22716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6" name="Rectangle 66"/>
          <p:cNvSpPr/>
          <p:nvPr/>
        </p:nvSpPr>
        <p:spPr>
          <a:xfrm>
            <a:off x="9548640" y="2626920"/>
            <a:ext cx="227160" cy="22716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7" name="Rectangle 67"/>
          <p:cNvSpPr/>
          <p:nvPr/>
        </p:nvSpPr>
        <p:spPr>
          <a:xfrm>
            <a:off x="9548640" y="3171240"/>
            <a:ext cx="227160" cy="22716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8" name="Rectangle 68"/>
          <p:cNvSpPr/>
          <p:nvPr/>
        </p:nvSpPr>
        <p:spPr>
          <a:xfrm>
            <a:off x="7903080" y="3722400"/>
            <a:ext cx="227160" cy="2271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9" name="Rectangle 69"/>
          <p:cNvSpPr/>
          <p:nvPr/>
        </p:nvSpPr>
        <p:spPr>
          <a:xfrm>
            <a:off x="8451000" y="3722400"/>
            <a:ext cx="227160" cy="2271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0" name="Rectangle 70"/>
          <p:cNvSpPr/>
          <p:nvPr/>
        </p:nvSpPr>
        <p:spPr>
          <a:xfrm>
            <a:off x="8450640" y="3171240"/>
            <a:ext cx="227160" cy="2271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1" name="Rectangle 71"/>
          <p:cNvSpPr/>
          <p:nvPr/>
        </p:nvSpPr>
        <p:spPr>
          <a:xfrm>
            <a:off x="9004320" y="3175560"/>
            <a:ext cx="227160" cy="2271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2" name="Rectangle 72"/>
          <p:cNvSpPr/>
          <p:nvPr/>
        </p:nvSpPr>
        <p:spPr>
          <a:xfrm>
            <a:off x="9005760" y="3726720"/>
            <a:ext cx="227160" cy="2271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3" name="Rectangle 73"/>
          <p:cNvSpPr/>
          <p:nvPr/>
        </p:nvSpPr>
        <p:spPr>
          <a:xfrm>
            <a:off x="9004320" y="4268880"/>
            <a:ext cx="227160" cy="2271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4" name="Oval 74"/>
          <p:cNvSpPr/>
          <p:nvPr/>
        </p:nvSpPr>
        <p:spPr>
          <a:xfrm>
            <a:off x="7248600" y="251352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5" name="Oval 75"/>
          <p:cNvSpPr/>
          <p:nvPr/>
        </p:nvSpPr>
        <p:spPr>
          <a:xfrm>
            <a:off x="7248600" y="306576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6" name="Oval 76"/>
          <p:cNvSpPr/>
          <p:nvPr/>
        </p:nvSpPr>
        <p:spPr>
          <a:xfrm>
            <a:off x="7248600" y="361188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7" name="Oval 77"/>
          <p:cNvSpPr/>
          <p:nvPr/>
        </p:nvSpPr>
        <p:spPr>
          <a:xfrm>
            <a:off x="7248600" y="416304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8" name="Oval 78"/>
          <p:cNvSpPr/>
          <p:nvPr/>
        </p:nvSpPr>
        <p:spPr>
          <a:xfrm>
            <a:off x="7248600" y="471168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9" name="Oval 79"/>
          <p:cNvSpPr/>
          <p:nvPr/>
        </p:nvSpPr>
        <p:spPr>
          <a:xfrm>
            <a:off x="7797240" y="471168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0" name="Oval 80"/>
          <p:cNvSpPr/>
          <p:nvPr/>
        </p:nvSpPr>
        <p:spPr>
          <a:xfrm>
            <a:off x="8345880" y="471168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1" name="Oval 81"/>
          <p:cNvSpPr/>
          <p:nvPr/>
        </p:nvSpPr>
        <p:spPr>
          <a:xfrm>
            <a:off x="8894520" y="471168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2" name="Oval 82"/>
          <p:cNvSpPr/>
          <p:nvPr/>
        </p:nvSpPr>
        <p:spPr>
          <a:xfrm>
            <a:off x="9443160" y="470736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3" name="Oval 83"/>
          <p:cNvSpPr/>
          <p:nvPr/>
        </p:nvSpPr>
        <p:spPr>
          <a:xfrm>
            <a:off x="8345880" y="416304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4" name="Oval 84"/>
          <p:cNvSpPr/>
          <p:nvPr/>
        </p:nvSpPr>
        <p:spPr>
          <a:xfrm>
            <a:off x="7797240" y="251712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5" name="Oval 86"/>
          <p:cNvSpPr/>
          <p:nvPr/>
        </p:nvSpPr>
        <p:spPr>
          <a:xfrm>
            <a:off x="8345880" y="251712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6" name="Oval 87"/>
          <p:cNvSpPr/>
          <p:nvPr/>
        </p:nvSpPr>
        <p:spPr>
          <a:xfrm>
            <a:off x="8894520" y="251820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7" name="Oval 88"/>
          <p:cNvSpPr/>
          <p:nvPr/>
        </p:nvSpPr>
        <p:spPr>
          <a:xfrm>
            <a:off x="9446760" y="251280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8" name="Oval 89"/>
          <p:cNvSpPr/>
          <p:nvPr/>
        </p:nvSpPr>
        <p:spPr>
          <a:xfrm>
            <a:off x="9443160" y="306900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9" name="Oval 90"/>
          <p:cNvSpPr/>
          <p:nvPr/>
        </p:nvSpPr>
        <p:spPr>
          <a:xfrm>
            <a:off x="9443160" y="361656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80" name="Oval 91"/>
          <p:cNvSpPr/>
          <p:nvPr/>
        </p:nvSpPr>
        <p:spPr>
          <a:xfrm>
            <a:off x="9446040" y="4163040"/>
            <a:ext cx="455760" cy="455760"/>
          </a:xfrm>
          <a:prstGeom prst="ellipse">
            <a:avLst/>
          </a:prstGeom>
          <a:noFill/>
          <a:ln>
            <a:solidFill>
              <a:srgbClr val="ff66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cxnSp>
        <p:nvCxnSpPr>
          <p:cNvPr id="81" name="Straight Arrow Connector 92"/>
          <p:cNvCxnSpPr/>
          <p:nvPr/>
        </p:nvCxnSpPr>
        <p:spPr>
          <a:xfrm>
            <a:off x="7373160" y="2955240"/>
            <a:ext cx="1440" cy="138600"/>
          </a:xfrm>
          <a:prstGeom prst="straightConnector1">
            <a:avLst/>
          </a:prstGeom>
          <a:ln w="12700">
            <a:solidFill>
              <a:srgbClr val="ff66ff"/>
            </a:solidFill>
            <a:round/>
            <a:tailEnd len="med" type="triangle" w="med"/>
          </a:ln>
        </p:spPr>
      </p:cxnSp>
      <p:cxnSp>
        <p:nvCxnSpPr>
          <p:cNvPr id="82" name="Straight Arrow Connector 98"/>
          <p:cNvCxnSpPr/>
          <p:nvPr/>
        </p:nvCxnSpPr>
        <p:spPr>
          <a:xfrm flipV="1">
            <a:off x="7577640" y="2955960"/>
            <a:ext cx="1440" cy="138600"/>
          </a:xfrm>
          <a:prstGeom prst="straightConnector1">
            <a:avLst/>
          </a:prstGeom>
          <a:ln w="12700">
            <a:solidFill>
              <a:srgbClr val="ff66ff"/>
            </a:solidFill>
            <a:round/>
            <a:tailEnd len="med" type="triangle" w="med"/>
          </a:ln>
        </p:spPr>
      </p:cxnSp>
      <p:grpSp>
        <p:nvGrpSpPr>
          <p:cNvPr id="83" name="Group 105"/>
          <p:cNvGrpSpPr/>
          <p:nvPr/>
        </p:nvGrpSpPr>
        <p:grpSpPr>
          <a:xfrm>
            <a:off x="7367400" y="3504960"/>
            <a:ext cx="205200" cy="138600"/>
            <a:chOff x="7367400" y="3504960"/>
            <a:chExt cx="205200" cy="138600"/>
          </a:xfrm>
        </p:grpSpPr>
        <p:cxnSp>
          <p:nvCxnSpPr>
            <p:cNvPr id="84" name="Straight Arrow Connector 103"/>
            <p:cNvCxnSpPr/>
            <p:nvPr/>
          </p:nvCxnSpPr>
          <p:spPr>
            <a:xfrm>
              <a:off x="7367400" y="350496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85" name="Straight Arrow Connector 104"/>
            <p:cNvCxnSpPr/>
            <p:nvPr/>
          </p:nvCxnSpPr>
          <p:spPr>
            <a:xfrm flipV="1">
              <a:off x="7571520" y="350532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cxnSp>
        <p:nvCxnSpPr>
          <p:cNvPr id="86" name="Straight Arrow Connector 106"/>
          <p:cNvCxnSpPr/>
          <p:nvPr/>
        </p:nvCxnSpPr>
        <p:spPr>
          <a:xfrm>
            <a:off x="7367400" y="4048200"/>
            <a:ext cx="1440" cy="138600"/>
          </a:xfrm>
          <a:prstGeom prst="straightConnector1">
            <a:avLst/>
          </a:prstGeom>
          <a:ln w="12700">
            <a:solidFill>
              <a:srgbClr val="ff66ff"/>
            </a:solidFill>
            <a:round/>
            <a:tailEnd len="med" type="triangle" w="med"/>
          </a:ln>
        </p:spPr>
      </p:cxnSp>
      <p:cxnSp>
        <p:nvCxnSpPr>
          <p:cNvPr id="87" name="Straight Arrow Connector 107"/>
          <p:cNvCxnSpPr/>
          <p:nvPr/>
        </p:nvCxnSpPr>
        <p:spPr>
          <a:xfrm flipV="1">
            <a:off x="7571520" y="4048560"/>
            <a:ext cx="1440" cy="138600"/>
          </a:xfrm>
          <a:prstGeom prst="straightConnector1">
            <a:avLst/>
          </a:prstGeom>
          <a:ln w="12700">
            <a:solidFill>
              <a:srgbClr val="ff66ff"/>
            </a:solidFill>
            <a:round/>
            <a:tailEnd len="med" type="triangle" w="med"/>
          </a:ln>
        </p:spPr>
      </p:cxnSp>
      <p:grpSp>
        <p:nvGrpSpPr>
          <p:cNvPr id="88" name="Group 110"/>
          <p:cNvGrpSpPr/>
          <p:nvPr/>
        </p:nvGrpSpPr>
        <p:grpSpPr>
          <a:xfrm>
            <a:off x="7379640" y="4596840"/>
            <a:ext cx="205200" cy="138960"/>
            <a:chOff x="7379640" y="4596840"/>
            <a:chExt cx="205200" cy="138960"/>
          </a:xfrm>
        </p:grpSpPr>
        <p:cxnSp>
          <p:nvCxnSpPr>
            <p:cNvPr id="89" name="Straight Arrow Connector 111"/>
            <p:cNvCxnSpPr/>
            <p:nvPr/>
          </p:nvCxnSpPr>
          <p:spPr>
            <a:xfrm>
              <a:off x="7379640" y="459684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90" name="Straight Arrow Connector 112"/>
            <p:cNvCxnSpPr/>
            <p:nvPr/>
          </p:nvCxnSpPr>
          <p:spPr>
            <a:xfrm flipV="1">
              <a:off x="7583760" y="459756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91" name="Group 113"/>
          <p:cNvGrpSpPr/>
          <p:nvPr/>
        </p:nvGrpSpPr>
        <p:grpSpPr>
          <a:xfrm>
            <a:off x="8481240" y="4591440"/>
            <a:ext cx="205200" cy="138600"/>
            <a:chOff x="8481240" y="4591440"/>
            <a:chExt cx="205200" cy="138600"/>
          </a:xfrm>
        </p:grpSpPr>
        <p:cxnSp>
          <p:nvCxnSpPr>
            <p:cNvPr id="92" name="Straight Arrow Connector 114"/>
            <p:cNvCxnSpPr/>
            <p:nvPr/>
          </p:nvCxnSpPr>
          <p:spPr>
            <a:xfrm>
              <a:off x="8481240" y="459144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93" name="Straight Arrow Connector 115"/>
            <p:cNvCxnSpPr/>
            <p:nvPr/>
          </p:nvCxnSpPr>
          <p:spPr>
            <a:xfrm flipV="1">
              <a:off x="8685360" y="459180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94" name="Group 116"/>
          <p:cNvGrpSpPr/>
          <p:nvPr/>
        </p:nvGrpSpPr>
        <p:grpSpPr>
          <a:xfrm>
            <a:off x="9569520" y="4595760"/>
            <a:ext cx="205200" cy="138600"/>
            <a:chOff x="9569520" y="4595760"/>
            <a:chExt cx="205200" cy="138600"/>
          </a:xfrm>
        </p:grpSpPr>
        <p:cxnSp>
          <p:nvCxnSpPr>
            <p:cNvPr id="95" name="Straight Arrow Connector 117"/>
            <p:cNvCxnSpPr/>
            <p:nvPr/>
          </p:nvCxnSpPr>
          <p:spPr>
            <a:xfrm>
              <a:off x="9569520" y="459576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96" name="Straight Arrow Connector 118"/>
            <p:cNvCxnSpPr/>
            <p:nvPr/>
          </p:nvCxnSpPr>
          <p:spPr>
            <a:xfrm flipV="1">
              <a:off x="9773640" y="459612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97" name="Group 119"/>
          <p:cNvGrpSpPr/>
          <p:nvPr/>
        </p:nvGrpSpPr>
        <p:grpSpPr>
          <a:xfrm>
            <a:off x="9548280" y="4047840"/>
            <a:ext cx="205560" cy="138960"/>
            <a:chOff x="9548280" y="4047840"/>
            <a:chExt cx="205560" cy="138960"/>
          </a:xfrm>
        </p:grpSpPr>
        <p:cxnSp>
          <p:nvCxnSpPr>
            <p:cNvPr id="98" name="Straight Arrow Connector 120"/>
            <p:cNvCxnSpPr/>
            <p:nvPr/>
          </p:nvCxnSpPr>
          <p:spPr>
            <a:xfrm>
              <a:off x="9548280" y="404784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99" name="Straight Arrow Connector 121"/>
            <p:cNvCxnSpPr/>
            <p:nvPr/>
          </p:nvCxnSpPr>
          <p:spPr>
            <a:xfrm flipV="1">
              <a:off x="9752760" y="404856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100" name="Group 122"/>
          <p:cNvGrpSpPr/>
          <p:nvPr/>
        </p:nvGrpSpPr>
        <p:grpSpPr>
          <a:xfrm>
            <a:off x="9577080" y="3504240"/>
            <a:ext cx="205200" cy="138960"/>
            <a:chOff x="9577080" y="3504240"/>
            <a:chExt cx="205200" cy="138960"/>
          </a:xfrm>
        </p:grpSpPr>
        <p:cxnSp>
          <p:nvCxnSpPr>
            <p:cNvPr id="101" name="Straight Arrow Connector 123"/>
            <p:cNvCxnSpPr/>
            <p:nvPr/>
          </p:nvCxnSpPr>
          <p:spPr>
            <a:xfrm>
              <a:off x="9577080" y="350424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02" name="Straight Arrow Connector 124"/>
            <p:cNvCxnSpPr/>
            <p:nvPr/>
          </p:nvCxnSpPr>
          <p:spPr>
            <a:xfrm flipV="1">
              <a:off x="9781200" y="350496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103" name="Group 125"/>
          <p:cNvGrpSpPr/>
          <p:nvPr/>
        </p:nvGrpSpPr>
        <p:grpSpPr>
          <a:xfrm>
            <a:off x="9561960" y="2952360"/>
            <a:ext cx="205200" cy="138960"/>
            <a:chOff x="9561960" y="2952360"/>
            <a:chExt cx="205200" cy="138960"/>
          </a:xfrm>
        </p:grpSpPr>
        <p:cxnSp>
          <p:nvCxnSpPr>
            <p:cNvPr id="104" name="Straight Arrow Connector 126"/>
            <p:cNvCxnSpPr/>
            <p:nvPr/>
          </p:nvCxnSpPr>
          <p:spPr>
            <a:xfrm>
              <a:off x="9561960" y="295236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05" name="Straight Arrow Connector 127"/>
            <p:cNvCxnSpPr/>
            <p:nvPr/>
          </p:nvCxnSpPr>
          <p:spPr>
            <a:xfrm flipV="1">
              <a:off x="9766080" y="2953080"/>
              <a:ext cx="1440" cy="13860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106" name="Group 131"/>
          <p:cNvGrpSpPr/>
          <p:nvPr/>
        </p:nvGrpSpPr>
        <p:grpSpPr>
          <a:xfrm>
            <a:off x="7692480" y="2638800"/>
            <a:ext cx="138600" cy="205560"/>
            <a:chOff x="7692480" y="2638800"/>
            <a:chExt cx="138600" cy="205560"/>
          </a:xfrm>
        </p:grpSpPr>
        <p:cxnSp>
          <p:nvCxnSpPr>
            <p:cNvPr id="107" name="Straight Arrow Connector 132"/>
            <p:cNvCxnSpPr/>
            <p:nvPr/>
          </p:nvCxnSpPr>
          <p:spPr>
            <a:xfrm flipH="1">
              <a:off x="7692840" y="263880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08" name="Straight Arrow Connector 133"/>
            <p:cNvCxnSpPr/>
            <p:nvPr/>
          </p:nvCxnSpPr>
          <p:spPr>
            <a:xfrm>
              <a:off x="7692480" y="284328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109" name="Group 137"/>
          <p:cNvGrpSpPr/>
          <p:nvPr/>
        </p:nvGrpSpPr>
        <p:grpSpPr>
          <a:xfrm>
            <a:off x="8226000" y="2626920"/>
            <a:ext cx="138600" cy="205200"/>
            <a:chOff x="8226000" y="2626920"/>
            <a:chExt cx="138600" cy="205200"/>
          </a:xfrm>
        </p:grpSpPr>
        <p:cxnSp>
          <p:nvCxnSpPr>
            <p:cNvPr id="110" name="Straight Arrow Connector 138"/>
            <p:cNvCxnSpPr/>
            <p:nvPr/>
          </p:nvCxnSpPr>
          <p:spPr>
            <a:xfrm flipH="1">
              <a:off x="8226360" y="262692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11" name="Straight Arrow Connector 139"/>
            <p:cNvCxnSpPr/>
            <p:nvPr/>
          </p:nvCxnSpPr>
          <p:spPr>
            <a:xfrm>
              <a:off x="8226000" y="283104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112" name="Group 140"/>
          <p:cNvGrpSpPr/>
          <p:nvPr/>
        </p:nvGrpSpPr>
        <p:grpSpPr>
          <a:xfrm>
            <a:off x="8781480" y="2626920"/>
            <a:ext cx="138960" cy="205200"/>
            <a:chOff x="8781480" y="2626920"/>
            <a:chExt cx="138960" cy="205200"/>
          </a:xfrm>
        </p:grpSpPr>
        <p:cxnSp>
          <p:nvCxnSpPr>
            <p:cNvPr id="113" name="Straight Arrow Connector 141"/>
            <p:cNvCxnSpPr/>
            <p:nvPr/>
          </p:nvCxnSpPr>
          <p:spPr>
            <a:xfrm flipH="1">
              <a:off x="8782200" y="262692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14" name="Straight Arrow Connector 142"/>
            <p:cNvCxnSpPr/>
            <p:nvPr/>
          </p:nvCxnSpPr>
          <p:spPr>
            <a:xfrm>
              <a:off x="8781480" y="283104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115" name="Group 143"/>
          <p:cNvGrpSpPr/>
          <p:nvPr/>
        </p:nvGrpSpPr>
        <p:grpSpPr>
          <a:xfrm>
            <a:off x="9334440" y="2633400"/>
            <a:ext cx="138600" cy="205200"/>
            <a:chOff x="9334440" y="2633400"/>
            <a:chExt cx="138600" cy="205200"/>
          </a:xfrm>
        </p:grpSpPr>
        <p:cxnSp>
          <p:nvCxnSpPr>
            <p:cNvPr id="116" name="Straight Arrow Connector 144"/>
            <p:cNvCxnSpPr/>
            <p:nvPr/>
          </p:nvCxnSpPr>
          <p:spPr>
            <a:xfrm flipH="1">
              <a:off x="9334800" y="263340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17" name="Straight Arrow Connector 145"/>
            <p:cNvCxnSpPr/>
            <p:nvPr/>
          </p:nvCxnSpPr>
          <p:spPr>
            <a:xfrm>
              <a:off x="9334440" y="283752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118" name="Group 146"/>
          <p:cNvGrpSpPr/>
          <p:nvPr/>
        </p:nvGrpSpPr>
        <p:grpSpPr>
          <a:xfrm>
            <a:off x="7682400" y="4829760"/>
            <a:ext cx="138960" cy="205200"/>
            <a:chOff x="7682400" y="4829760"/>
            <a:chExt cx="138960" cy="205200"/>
          </a:xfrm>
        </p:grpSpPr>
        <p:cxnSp>
          <p:nvCxnSpPr>
            <p:cNvPr id="119" name="Straight Arrow Connector 147"/>
            <p:cNvCxnSpPr/>
            <p:nvPr/>
          </p:nvCxnSpPr>
          <p:spPr>
            <a:xfrm flipH="1">
              <a:off x="7683120" y="482976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20" name="Straight Arrow Connector 148"/>
            <p:cNvCxnSpPr/>
            <p:nvPr/>
          </p:nvCxnSpPr>
          <p:spPr>
            <a:xfrm>
              <a:off x="7682400" y="503388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121" name="Group 149"/>
          <p:cNvGrpSpPr/>
          <p:nvPr/>
        </p:nvGrpSpPr>
        <p:grpSpPr>
          <a:xfrm>
            <a:off x="8244720" y="4829760"/>
            <a:ext cx="138960" cy="205200"/>
            <a:chOff x="8244720" y="4829760"/>
            <a:chExt cx="138960" cy="205200"/>
          </a:xfrm>
        </p:grpSpPr>
        <p:cxnSp>
          <p:nvCxnSpPr>
            <p:cNvPr id="122" name="Straight Arrow Connector 150"/>
            <p:cNvCxnSpPr/>
            <p:nvPr/>
          </p:nvCxnSpPr>
          <p:spPr>
            <a:xfrm flipH="1">
              <a:off x="8245440" y="482976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23" name="Straight Arrow Connector 151"/>
            <p:cNvCxnSpPr/>
            <p:nvPr/>
          </p:nvCxnSpPr>
          <p:spPr>
            <a:xfrm>
              <a:off x="8244720" y="503388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124" name="Group 152"/>
          <p:cNvGrpSpPr/>
          <p:nvPr/>
        </p:nvGrpSpPr>
        <p:grpSpPr>
          <a:xfrm>
            <a:off x="8774640" y="4845600"/>
            <a:ext cx="138960" cy="205560"/>
            <a:chOff x="8774640" y="4845600"/>
            <a:chExt cx="138960" cy="205560"/>
          </a:xfrm>
        </p:grpSpPr>
        <p:cxnSp>
          <p:nvCxnSpPr>
            <p:cNvPr id="125" name="Straight Arrow Connector 153"/>
            <p:cNvCxnSpPr/>
            <p:nvPr/>
          </p:nvCxnSpPr>
          <p:spPr>
            <a:xfrm flipH="1">
              <a:off x="8775360" y="484560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26" name="Straight Arrow Connector 154"/>
            <p:cNvCxnSpPr/>
            <p:nvPr/>
          </p:nvCxnSpPr>
          <p:spPr>
            <a:xfrm>
              <a:off x="8774640" y="505008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127" name="Group 155"/>
          <p:cNvGrpSpPr/>
          <p:nvPr/>
        </p:nvGrpSpPr>
        <p:grpSpPr>
          <a:xfrm>
            <a:off x="9342000" y="4833360"/>
            <a:ext cx="138960" cy="205560"/>
            <a:chOff x="9342000" y="4833360"/>
            <a:chExt cx="138960" cy="205560"/>
          </a:xfrm>
        </p:grpSpPr>
        <p:cxnSp>
          <p:nvCxnSpPr>
            <p:cNvPr id="128" name="Straight Arrow Connector 156"/>
            <p:cNvCxnSpPr/>
            <p:nvPr/>
          </p:nvCxnSpPr>
          <p:spPr>
            <a:xfrm flipH="1">
              <a:off x="9342720" y="483336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29" name="Straight Arrow Connector 157"/>
            <p:cNvCxnSpPr/>
            <p:nvPr/>
          </p:nvCxnSpPr>
          <p:spPr>
            <a:xfrm>
              <a:off x="9342000" y="5037840"/>
              <a:ext cx="138600" cy="14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sp>
        <p:nvSpPr>
          <p:cNvPr id="130" name="Rectangle 7"/>
          <p:cNvSpPr/>
          <p:nvPr/>
        </p:nvSpPr>
        <p:spPr>
          <a:xfrm>
            <a:off x="3467520" y="3133440"/>
            <a:ext cx="547200" cy="164448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cxnSp>
        <p:nvCxnSpPr>
          <p:cNvPr id="131" name="Straight Arrow Connector 159"/>
          <p:cNvCxnSpPr/>
          <p:nvPr/>
        </p:nvCxnSpPr>
        <p:spPr>
          <a:xfrm flipV="1">
            <a:off x="7601760" y="2880360"/>
            <a:ext cx="230040" cy="230040"/>
          </a:xfrm>
          <a:prstGeom prst="straightConnector1">
            <a:avLst/>
          </a:prstGeom>
          <a:ln w="12700">
            <a:solidFill>
              <a:srgbClr val="ff66ff"/>
            </a:solidFill>
            <a:round/>
            <a:tailEnd len="med" type="triangle" w="med"/>
          </a:ln>
        </p:spPr>
      </p:cxnSp>
      <p:cxnSp>
        <p:nvCxnSpPr>
          <p:cNvPr id="132" name="Straight Arrow Connector 162"/>
          <p:cNvCxnSpPr/>
          <p:nvPr/>
        </p:nvCxnSpPr>
        <p:spPr>
          <a:xfrm flipH="1">
            <a:off x="7645320" y="2935440"/>
            <a:ext cx="230040" cy="230040"/>
          </a:xfrm>
          <a:prstGeom prst="straightConnector1">
            <a:avLst/>
          </a:prstGeom>
          <a:ln w="12700">
            <a:solidFill>
              <a:srgbClr val="ff66ff"/>
            </a:solidFill>
            <a:round/>
            <a:tailEnd len="med" type="triangle" w="med"/>
          </a:ln>
        </p:spPr>
      </p:cxnSp>
      <p:grpSp>
        <p:nvGrpSpPr>
          <p:cNvPr id="133" name="Group 166"/>
          <p:cNvGrpSpPr/>
          <p:nvPr/>
        </p:nvGrpSpPr>
        <p:grpSpPr>
          <a:xfrm>
            <a:off x="9216000" y="4488480"/>
            <a:ext cx="273240" cy="285120"/>
            <a:chOff x="9216000" y="4488480"/>
            <a:chExt cx="273240" cy="285120"/>
          </a:xfrm>
        </p:grpSpPr>
        <p:cxnSp>
          <p:nvCxnSpPr>
            <p:cNvPr id="134" name="Straight Arrow Connector 164"/>
            <p:cNvCxnSpPr/>
            <p:nvPr/>
          </p:nvCxnSpPr>
          <p:spPr>
            <a:xfrm flipV="1">
              <a:off x="9216000" y="4488480"/>
              <a:ext cx="230040" cy="2300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35" name="Straight Arrow Connector 165"/>
            <p:cNvCxnSpPr/>
            <p:nvPr/>
          </p:nvCxnSpPr>
          <p:spPr>
            <a:xfrm flipH="1">
              <a:off x="9259560" y="4543920"/>
              <a:ext cx="230040" cy="2300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cxnSp>
        <p:nvCxnSpPr>
          <p:cNvPr id="136" name="Straight Arrow Connector 167"/>
          <p:cNvCxnSpPr/>
          <p:nvPr/>
        </p:nvCxnSpPr>
        <p:spPr>
          <a:xfrm flipV="1">
            <a:off x="8144640" y="4496400"/>
            <a:ext cx="230040" cy="230040"/>
          </a:xfrm>
          <a:prstGeom prst="straightConnector1">
            <a:avLst/>
          </a:prstGeom>
          <a:ln w="12700">
            <a:solidFill>
              <a:srgbClr val="ff66ff"/>
            </a:solidFill>
            <a:round/>
            <a:tailEnd len="med" type="triangle" w="med"/>
          </a:ln>
        </p:spPr>
      </p:cxnSp>
      <p:cxnSp>
        <p:nvCxnSpPr>
          <p:cNvPr id="137" name="Straight Arrow Connector 168"/>
          <p:cNvCxnSpPr/>
          <p:nvPr/>
        </p:nvCxnSpPr>
        <p:spPr>
          <a:xfrm flipH="1">
            <a:off x="8188200" y="4551480"/>
            <a:ext cx="230040" cy="230040"/>
          </a:xfrm>
          <a:prstGeom prst="straightConnector1">
            <a:avLst/>
          </a:prstGeom>
          <a:ln w="12700">
            <a:solidFill>
              <a:srgbClr val="ff66ff"/>
            </a:solidFill>
            <a:round/>
            <a:tailEnd len="med" type="triangle" w="med"/>
          </a:ln>
        </p:spPr>
      </p:cxnSp>
      <p:grpSp>
        <p:nvGrpSpPr>
          <p:cNvPr id="138" name="Group 173"/>
          <p:cNvGrpSpPr/>
          <p:nvPr/>
        </p:nvGrpSpPr>
        <p:grpSpPr>
          <a:xfrm>
            <a:off x="7665120" y="4488480"/>
            <a:ext cx="284760" cy="273240"/>
            <a:chOff x="7665120" y="4488480"/>
            <a:chExt cx="284760" cy="273240"/>
          </a:xfrm>
        </p:grpSpPr>
        <p:cxnSp>
          <p:nvCxnSpPr>
            <p:cNvPr id="139" name="Straight Arrow Connector 171"/>
            <p:cNvCxnSpPr/>
            <p:nvPr/>
          </p:nvCxnSpPr>
          <p:spPr>
            <a:xfrm>
              <a:off x="7720200" y="4488480"/>
              <a:ext cx="230040" cy="2300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40" name="Straight Arrow Connector 172"/>
            <p:cNvCxnSpPr/>
            <p:nvPr/>
          </p:nvCxnSpPr>
          <p:spPr>
            <a:xfrm flipH="1" flipV="1">
              <a:off x="7665120" y="4532040"/>
              <a:ext cx="230040" cy="2300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141" name="Group 174"/>
          <p:cNvGrpSpPr/>
          <p:nvPr/>
        </p:nvGrpSpPr>
        <p:grpSpPr>
          <a:xfrm>
            <a:off x="8751240" y="4480920"/>
            <a:ext cx="285120" cy="273240"/>
            <a:chOff x="8751240" y="4480920"/>
            <a:chExt cx="285120" cy="273240"/>
          </a:xfrm>
        </p:grpSpPr>
        <p:cxnSp>
          <p:nvCxnSpPr>
            <p:cNvPr id="142" name="Straight Arrow Connector 175"/>
            <p:cNvCxnSpPr/>
            <p:nvPr/>
          </p:nvCxnSpPr>
          <p:spPr>
            <a:xfrm>
              <a:off x="8806680" y="4480920"/>
              <a:ext cx="230040" cy="2300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43" name="Straight Arrow Connector 176"/>
            <p:cNvCxnSpPr/>
            <p:nvPr/>
          </p:nvCxnSpPr>
          <p:spPr>
            <a:xfrm flipH="1" flipV="1">
              <a:off x="8751240" y="4524480"/>
              <a:ext cx="230040" cy="2300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grpSp>
        <p:nvGrpSpPr>
          <p:cNvPr id="144" name="Group 177"/>
          <p:cNvGrpSpPr/>
          <p:nvPr/>
        </p:nvGrpSpPr>
        <p:grpSpPr>
          <a:xfrm>
            <a:off x="9215640" y="2924640"/>
            <a:ext cx="285120" cy="273240"/>
            <a:chOff x="9215640" y="2924640"/>
            <a:chExt cx="285120" cy="273240"/>
          </a:xfrm>
        </p:grpSpPr>
        <p:cxnSp>
          <p:nvCxnSpPr>
            <p:cNvPr id="145" name="Straight Arrow Connector 178"/>
            <p:cNvCxnSpPr/>
            <p:nvPr/>
          </p:nvCxnSpPr>
          <p:spPr>
            <a:xfrm>
              <a:off x="9271080" y="2924640"/>
              <a:ext cx="230040" cy="2300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  <p:cxnSp>
          <p:nvCxnSpPr>
            <p:cNvPr id="146" name="Straight Arrow Connector 179"/>
            <p:cNvCxnSpPr/>
            <p:nvPr/>
          </p:nvCxnSpPr>
          <p:spPr>
            <a:xfrm flipH="1" flipV="1">
              <a:off x="9215640" y="2968200"/>
              <a:ext cx="230040" cy="230040"/>
            </a:xfrm>
            <a:prstGeom prst="straightConnector1">
              <a:avLst/>
            </a:prstGeom>
            <a:ln w="12700">
              <a:solidFill>
                <a:srgbClr val="ff66ff"/>
              </a:solidFill>
              <a:round/>
              <a:tailEnd len="med" type="triangle" w="med"/>
            </a:ln>
          </p:spPr>
        </p:cxnSp>
      </p:grpSp>
      <p:cxnSp>
        <p:nvCxnSpPr>
          <p:cNvPr id="147" name="Straight Arrow Connector 42"/>
          <p:cNvCxnSpPr/>
          <p:nvPr/>
        </p:nvCxnSpPr>
        <p:spPr>
          <a:xfrm>
            <a:off x="7024680" y="4423680"/>
            <a:ext cx="915840" cy="915840"/>
          </a:xfrm>
          <a:prstGeom prst="straightConnector1">
            <a:avLst/>
          </a:prstGeom>
          <a:ln w="25400">
            <a:solidFill>
              <a:srgbClr val="00ff00"/>
            </a:solidFill>
            <a:round/>
            <a:tailEnd len="lg" type="stealth" w="lg"/>
          </a:ln>
        </p:spPr>
      </p:cxnSp>
      <p:sp>
        <p:nvSpPr>
          <p:cNvPr id="148" name="TextBox 56"/>
          <p:cNvSpPr/>
          <p:nvPr/>
        </p:nvSpPr>
        <p:spPr>
          <a:xfrm>
            <a:off x="6460200" y="2791440"/>
            <a:ext cx="608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00ff00"/>
                </a:solidFill>
                <a:latin typeface="Arial"/>
              </a:rPr>
              <a:t>1∙1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Box 56"/>
          <p:cNvSpPr/>
          <p:nvPr/>
        </p:nvSpPr>
        <p:spPr>
          <a:xfrm>
            <a:off x="6460200" y="3326400"/>
            <a:ext cx="608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00ff00"/>
                </a:solidFill>
                <a:latin typeface="Arial"/>
              </a:rPr>
              <a:t>1∙1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56"/>
          <p:cNvSpPr/>
          <p:nvPr/>
        </p:nvSpPr>
        <p:spPr>
          <a:xfrm>
            <a:off x="6463800" y="3888720"/>
            <a:ext cx="608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00ff00"/>
                </a:solidFill>
                <a:latin typeface="Arial"/>
              </a:rPr>
              <a:t>1∙1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56"/>
          <p:cNvSpPr/>
          <p:nvPr/>
        </p:nvSpPr>
        <p:spPr>
          <a:xfrm>
            <a:off x="6558120" y="4936680"/>
            <a:ext cx="82908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00ff00"/>
                </a:solidFill>
                <a:latin typeface="Arial"/>
              </a:rPr>
              <a:t>1∙1.4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Box 56"/>
          <p:cNvSpPr/>
          <p:nvPr/>
        </p:nvSpPr>
        <p:spPr>
          <a:xfrm>
            <a:off x="8010360" y="5365080"/>
            <a:ext cx="608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00ff00"/>
                </a:solidFill>
                <a:latin typeface="Arial"/>
              </a:rPr>
              <a:t>1∙2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56"/>
          <p:cNvSpPr/>
          <p:nvPr/>
        </p:nvSpPr>
        <p:spPr>
          <a:xfrm>
            <a:off x="8548200" y="5373000"/>
            <a:ext cx="608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00ff00"/>
                </a:solidFill>
                <a:latin typeface="Arial"/>
              </a:rPr>
              <a:t>1∙3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Box 56"/>
          <p:cNvSpPr/>
          <p:nvPr/>
        </p:nvSpPr>
        <p:spPr>
          <a:xfrm>
            <a:off x="9099000" y="5375160"/>
            <a:ext cx="6080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00ff00"/>
                </a:solidFill>
                <a:latin typeface="Arial"/>
              </a:rPr>
              <a:t>1∙1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Oval 158"/>
          <p:cNvSpPr/>
          <p:nvPr/>
        </p:nvSpPr>
        <p:spPr>
          <a:xfrm>
            <a:off x="3010320" y="2675880"/>
            <a:ext cx="364320" cy="364320"/>
          </a:xfrm>
          <a:prstGeom prst="ellipse">
            <a:avLst/>
          </a:prstGeom>
          <a:gradFill rotWithShape="0">
            <a:gsLst>
              <a:gs pos="0">
                <a:srgbClr val="008000"/>
              </a:gs>
              <a:gs pos="20000">
                <a:srgbClr val="33cc33"/>
              </a:gs>
              <a:gs pos="100000">
                <a:srgbClr val="00ff00"/>
              </a:gs>
            </a:gsLst>
            <a:lin ang="5400000"/>
          </a:gradFill>
          <a:ln w="38100">
            <a:solidFill>
              <a:srgbClr val="006600"/>
            </a:solidFill>
            <a:round/>
          </a:ln>
          <a:effectLst>
            <a:outerShdw blurRad="39960"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Garamond"/>
              <a:ea typeface="ＭＳ Ｐゴシック"/>
            </a:endParaRPr>
          </a:p>
        </p:txBody>
      </p:sp>
      <p:sp>
        <p:nvSpPr>
          <p:cNvPr id="156" name="Oval 160"/>
          <p:cNvSpPr/>
          <p:nvPr/>
        </p:nvSpPr>
        <p:spPr>
          <a:xfrm>
            <a:off x="5209560" y="4883760"/>
            <a:ext cx="364320" cy="364320"/>
          </a:xfrm>
          <a:prstGeom prst="ellipse">
            <a:avLst/>
          </a:prstGeom>
          <a:gradFill rotWithShape="0">
            <a:gsLst>
              <a:gs pos="0">
                <a:srgbClr val="800000"/>
              </a:gs>
              <a:gs pos="20000">
                <a:srgbClr val="ff0000"/>
              </a:gs>
              <a:gs pos="100000">
                <a:srgbClr val="ff0200"/>
              </a:gs>
            </a:gsLst>
            <a:lin ang="5400000"/>
          </a:gradFill>
          <a:ln w="38100">
            <a:solidFill>
              <a:srgbClr val="800000"/>
            </a:solidFill>
            <a:round/>
          </a:ln>
          <a:effectLst>
            <a:outerShdw blurRad="39960"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Garamond"/>
              <a:ea typeface="ＭＳ Ｐゴシック"/>
            </a:endParaRPr>
          </a:p>
        </p:txBody>
      </p:sp>
      <p:cxnSp>
        <p:nvCxnSpPr>
          <p:cNvPr id="157" name="Straight Arrow Connector 161"/>
          <p:cNvCxnSpPr/>
          <p:nvPr/>
        </p:nvCxnSpPr>
        <p:spPr>
          <a:xfrm>
            <a:off x="3200400" y="2855520"/>
            <a:ext cx="1440" cy="55008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158" name="Straight Arrow Connector 170"/>
          <p:cNvCxnSpPr/>
          <p:nvPr/>
        </p:nvCxnSpPr>
        <p:spPr>
          <a:xfrm>
            <a:off x="3200400" y="3407040"/>
            <a:ext cx="1440" cy="55008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159" name="Straight Arrow Connector 187"/>
          <p:cNvCxnSpPr/>
          <p:nvPr/>
        </p:nvCxnSpPr>
        <p:spPr>
          <a:xfrm>
            <a:off x="3189240" y="4503960"/>
            <a:ext cx="553680" cy="56376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160" name="Straight Arrow Connector 188"/>
          <p:cNvCxnSpPr/>
          <p:nvPr/>
        </p:nvCxnSpPr>
        <p:spPr>
          <a:xfrm>
            <a:off x="3740400" y="5066280"/>
            <a:ext cx="550080" cy="144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161" name="Straight Arrow Connector 189"/>
          <p:cNvCxnSpPr/>
          <p:nvPr/>
        </p:nvCxnSpPr>
        <p:spPr>
          <a:xfrm>
            <a:off x="3200400" y="3955680"/>
            <a:ext cx="1440" cy="55008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162" name="Straight Arrow Connector 190"/>
          <p:cNvCxnSpPr/>
          <p:nvPr/>
        </p:nvCxnSpPr>
        <p:spPr>
          <a:xfrm>
            <a:off x="4288320" y="5066280"/>
            <a:ext cx="550080" cy="144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cxnSp>
        <p:nvCxnSpPr>
          <p:cNvPr id="163" name="Straight Arrow Connector 191"/>
          <p:cNvCxnSpPr/>
          <p:nvPr/>
        </p:nvCxnSpPr>
        <p:spPr>
          <a:xfrm>
            <a:off x="4836240" y="5073480"/>
            <a:ext cx="550080" cy="1440"/>
          </a:xfrm>
          <a:prstGeom prst="straightConnector1">
            <a:avLst/>
          </a:prstGeom>
          <a:ln w="76200">
            <a:solidFill>
              <a:srgbClr val="ffa200"/>
            </a:solidFill>
            <a:round/>
            <a:tailEnd len="med" type="diamond" w="med"/>
          </a:ln>
        </p:spPr>
      </p:cxnSp>
      <p:sp>
        <p:nvSpPr>
          <p:cNvPr id="164" name="Content Placeholder 1"/>
          <p:cNvSpPr/>
          <p:nvPr/>
        </p:nvSpPr>
        <p:spPr>
          <a:xfrm>
            <a:off x="532800" y="5918400"/>
            <a:ext cx="1112472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rmAutofit fontScale="71666"/>
          </a:bodyPr>
          <a:p>
            <a:pPr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For </a:t>
            </a:r>
            <a:r>
              <a:rPr b="1" i="1" lang="en-US" sz="36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Garamond"/>
              </a:rPr>
              <a:t>dynamic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 state spaces, we’ll need to update the graph over time. 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6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8" dur="500"/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3"/>
          <p:cNvGrpSpPr/>
          <p:nvPr/>
        </p:nvGrpSpPr>
        <p:grpSpPr>
          <a:xfrm>
            <a:off x="8540280" y="5107320"/>
            <a:ext cx="1260720" cy="1539720"/>
            <a:chOff x="8540280" y="5107320"/>
            <a:chExt cx="1260720" cy="1539720"/>
          </a:xfrm>
        </p:grpSpPr>
        <p:grpSp>
          <p:nvGrpSpPr>
            <p:cNvPr id="166" name="Group 4"/>
            <p:cNvGrpSpPr/>
            <p:nvPr/>
          </p:nvGrpSpPr>
          <p:grpSpPr>
            <a:xfrm>
              <a:off x="8540280" y="5107320"/>
              <a:ext cx="1260720" cy="1539720"/>
              <a:chOff x="8540280" y="5107320"/>
              <a:chExt cx="1260720" cy="1539720"/>
            </a:xfrm>
          </p:grpSpPr>
          <p:sp>
            <p:nvSpPr>
              <p:cNvPr id="167" name="Oval 8"/>
              <p:cNvSpPr/>
              <p:nvPr/>
            </p:nvSpPr>
            <p:spPr>
              <a:xfrm>
                <a:off x="8682840" y="5107320"/>
                <a:ext cx="715320" cy="1249920"/>
              </a:xfrm>
              <a:prstGeom prst="ellipse">
                <a:avLst/>
              </a:prstGeom>
              <a:solidFill>
                <a:srgbClr val="00c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68" name="Oval 9"/>
              <p:cNvSpPr/>
              <p:nvPr/>
            </p:nvSpPr>
            <p:spPr>
              <a:xfrm rot="2620800">
                <a:off x="8676360" y="5624280"/>
                <a:ext cx="988200" cy="790560"/>
              </a:xfrm>
              <a:prstGeom prst="ellipse">
                <a:avLst/>
              </a:prstGeom>
              <a:solidFill>
                <a:srgbClr val="00c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</p:grpSp>
        <p:grpSp>
          <p:nvGrpSpPr>
            <p:cNvPr id="169" name="Group 5"/>
            <p:cNvGrpSpPr/>
            <p:nvPr/>
          </p:nvGrpSpPr>
          <p:grpSpPr>
            <a:xfrm>
              <a:off x="8565480" y="5146920"/>
              <a:ext cx="1189440" cy="1452600"/>
              <a:chOff x="8565480" y="5146920"/>
              <a:chExt cx="1189440" cy="1452600"/>
            </a:xfrm>
          </p:grpSpPr>
          <p:sp>
            <p:nvSpPr>
              <p:cNvPr id="170" name="Oval 6"/>
              <p:cNvSpPr/>
              <p:nvPr/>
            </p:nvSpPr>
            <p:spPr>
              <a:xfrm>
                <a:off x="8700120" y="5146920"/>
                <a:ext cx="675000" cy="117936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71" name="Oval 7"/>
              <p:cNvSpPr/>
              <p:nvPr/>
            </p:nvSpPr>
            <p:spPr>
              <a:xfrm rot="2620800">
                <a:off x="8694000" y="5634720"/>
                <a:ext cx="932400" cy="74592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</p:grpSp>
      </p:grpSp>
      <p:cxnSp>
        <p:nvCxnSpPr>
          <p:cNvPr id="172" name="Straight Arrow Connector 69"/>
          <p:cNvCxnSpPr/>
          <p:nvPr/>
        </p:nvCxnSpPr>
        <p:spPr>
          <a:xfrm>
            <a:off x="8482320" y="6020280"/>
            <a:ext cx="1338480" cy="1440"/>
          </a:xfrm>
          <a:prstGeom prst="straightConnector1">
            <a:avLst/>
          </a:prstGeom>
          <a:ln w="0">
            <a:solidFill>
              <a:srgbClr val="ffffff"/>
            </a:solidFill>
            <a:tailEnd len="med" type="triangle" w="med"/>
          </a:ln>
        </p:spPr>
      </p:cxnSp>
      <p:cxnSp>
        <p:nvCxnSpPr>
          <p:cNvPr id="173" name="Straight Arrow Connector 74"/>
          <p:cNvCxnSpPr/>
          <p:nvPr/>
        </p:nvCxnSpPr>
        <p:spPr>
          <a:xfrm flipH="1">
            <a:off x="8475480" y="5945040"/>
            <a:ext cx="1338480" cy="1440"/>
          </a:xfrm>
          <a:prstGeom prst="straightConnector1">
            <a:avLst/>
          </a:prstGeom>
          <a:ln w="0">
            <a:solidFill>
              <a:srgbClr val="ffffff"/>
            </a:solidFill>
            <a:tailEnd len="med" type="triangle" w="med"/>
          </a:ln>
        </p:spPr>
      </p:cxnSp>
      <p:cxnSp>
        <p:nvCxnSpPr>
          <p:cNvPr id="174" name="Straight Arrow Connector 67"/>
          <p:cNvCxnSpPr/>
          <p:nvPr/>
        </p:nvCxnSpPr>
        <p:spPr>
          <a:xfrm>
            <a:off x="9242280" y="4570920"/>
            <a:ext cx="680040" cy="1220040"/>
          </a:xfrm>
          <a:prstGeom prst="straightConnector1">
            <a:avLst/>
          </a:prstGeom>
          <a:ln w="0">
            <a:solidFill>
              <a:srgbClr val="ffffff"/>
            </a:solidFill>
            <a:tailEnd len="med" type="triangle" w="med"/>
          </a:ln>
        </p:spPr>
      </p:cxnSp>
      <p:cxnSp>
        <p:nvCxnSpPr>
          <p:cNvPr id="175" name="Straight Arrow Connector 68"/>
          <p:cNvCxnSpPr/>
          <p:nvPr/>
        </p:nvCxnSpPr>
        <p:spPr>
          <a:xfrm flipH="1" flipV="1">
            <a:off x="9321120" y="4561920"/>
            <a:ext cx="679680" cy="1220400"/>
          </a:xfrm>
          <a:prstGeom prst="straightConnector1">
            <a:avLst/>
          </a:prstGeom>
          <a:ln w="0">
            <a:solidFill>
              <a:srgbClr val="ffffff"/>
            </a:solidFill>
            <a:tailEnd len="med" type="triangle" w="med"/>
          </a:ln>
        </p:spPr>
      </p:cxnSp>
      <p:cxnSp>
        <p:nvCxnSpPr>
          <p:cNvPr id="176" name="Straight Arrow Connector 66"/>
          <p:cNvCxnSpPr/>
          <p:nvPr/>
        </p:nvCxnSpPr>
        <p:spPr>
          <a:xfrm flipH="1">
            <a:off x="8377920" y="4587120"/>
            <a:ext cx="680040" cy="1220400"/>
          </a:xfrm>
          <a:prstGeom prst="straightConnector1">
            <a:avLst/>
          </a:prstGeom>
          <a:ln w="0">
            <a:solidFill>
              <a:srgbClr val="ffffff"/>
            </a:solidFill>
            <a:tailEnd len="med" type="triangle" w="med"/>
          </a:ln>
        </p:spPr>
      </p:cxnSp>
      <p:cxnSp>
        <p:nvCxnSpPr>
          <p:cNvPr id="177" name="Straight Arrow Connector 60"/>
          <p:cNvCxnSpPr/>
          <p:nvPr/>
        </p:nvCxnSpPr>
        <p:spPr>
          <a:xfrm flipV="1">
            <a:off x="8297640" y="4578480"/>
            <a:ext cx="679680" cy="1220400"/>
          </a:xfrm>
          <a:prstGeom prst="straightConnector1">
            <a:avLst/>
          </a:prstGeom>
          <a:ln w="0">
            <a:solidFill>
              <a:srgbClr val="ffffff"/>
            </a:solidFill>
            <a:tailEnd len="med" type="triangle" w="med"/>
          </a:ln>
        </p:spPr>
      </p:cxnSp>
      <p:sp>
        <p:nvSpPr>
          <p:cNvPr id="178" name="PlaceHolder 1"/>
          <p:cNvSpPr>
            <a:spLocks noGrp="1"/>
          </p:cNvSpPr>
          <p:nvPr>
            <p:ph/>
          </p:nvPr>
        </p:nvSpPr>
        <p:spPr>
          <a:xfrm>
            <a:off x="740160" y="1171080"/>
            <a:ext cx="10710000" cy="557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9999"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The way we represent information impacts agent behavior.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title"/>
          </p:nvPr>
        </p:nvSpPr>
        <p:spPr>
          <a:xfrm>
            <a:off x="468720" y="387720"/>
            <a:ext cx="11253240" cy="69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Graph Representation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80" name="Group 13"/>
          <p:cNvGrpSpPr/>
          <p:nvPr/>
        </p:nvGrpSpPr>
        <p:grpSpPr>
          <a:xfrm>
            <a:off x="8534520" y="2622600"/>
            <a:ext cx="1260720" cy="1539720"/>
            <a:chOff x="8534520" y="2622600"/>
            <a:chExt cx="1260720" cy="1539720"/>
          </a:xfrm>
        </p:grpSpPr>
        <p:grpSp>
          <p:nvGrpSpPr>
            <p:cNvPr id="181" name="Group 14"/>
            <p:cNvGrpSpPr/>
            <p:nvPr/>
          </p:nvGrpSpPr>
          <p:grpSpPr>
            <a:xfrm>
              <a:off x="8534520" y="2622600"/>
              <a:ext cx="1260720" cy="1539720"/>
              <a:chOff x="8534520" y="2622600"/>
              <a:chExt cx="1260720" cy="1539720"/>
            </a:xfrm>
          </p:grpSpPr>
          <p:sp>
            <p:nvSpPr>
              <p:cNvPr id="182" name="Oval 18"/>
              <p:cNvSpPr/>
              <p:nvPr/>
            </p:nvSpPr>
            <p:spPr>
              <a:xfrm>
                <a:off x="8677080" y="2622600"/>
                <a:ext cx="715320" cy="1249920"/>
              </a:xfrm>
              <a:prstGeom prst="ellipse">
                <a:avLst/>
              </a:prstGeom>
              <a:solidFill>
                <a:srgbClr val="00c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83" name="Oval 19"/>
              <p:cNvSpPr/>
              <p:nvPr/>
            </p:nvSpPr>
            <p:spPr>
              <a:xfrm rot="2620800">
                <a:off x="8670600" y="3139560"/>
                <a:ext cx="988200" cy="790560"/>
              </a:xfrm>
              <a:prstGeom prst="ellipse">
                <a:avLst/>
              </a:prstGeom>
              <a:solidFill>
                <a:srgbClr val="00c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</p:grpSp>
        <p:grpSp>
          <p:nvGrpSpPr>
            <p:cNvPr id="184" name="Group 15"/>
            <p:cNvGrpSpPr/>
            <p:nvPr/>
          </p:nvGrpSpPr>
          <p:grpSpPr>
            <a:xfrm>
              <a:off x="8559720" y="2662200"/>
              <a:ext cx="1189440" cy="1452600"/>
              <a:chOff x="8559720" y="2662200"/>
              <a:chExt cx="1189440" cy="1452600"/>
            </a:xfrm>
          </p:grpSpPr>
          <p:sp>
            <p:nvSpPr>
              <p:cNvPr id="185" name="Oval 16"/>
              <p:cNvSpPr/>
              <p:nvPr/>
            </p:nvSpPr>
            <p:spPr>
              <a:xfrm>
                <a:off x="8694360" y="2662200"/>
                <a:ext cx="675000" cy="117936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186" name="Oval 17"/>
              <p:cNvSpPr/>
              <p:nvPr/>
            </p:nvSpPr>
            <p:spPr>
              <a:xfrm rot="2620800">
                <a:off x="8688240" y="3150000"/>
                <a:ext cx="932400" cy="74592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</a:endParaRPr>
              </a:p>
            </p:txBody>
          </p:sp>
        </p:grpSp>
      </p:grpSp>
      <p:sp>
        <p:nvSpPr>
          <p:cNvPr id="187" name="Rectangle 123"/>
          <p:cNvSpPr/>
          <p:nvPr/>
        </p:nvSpPr>
        <p:spPr>
          <a:xfrm>
            <a:off x="1672200" y="2222280"/>
            <a:ext cx="3016800" cy="1269360"/>
          </a:xfrm>
          <a:prstGeom prst="rect">
            <a:avLst/>
          </a:prstGeom>
          <a:solidFill>
            <a:srgbClr val="00206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class SearchNode: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search_state = None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terrain_weight = 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neighbors = []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Rectangle 123"/>
          <p:cNvSpPr/>
          <p:nvPr/>
        </p:nvSpPr>
        <p:spPr>
          <a:xfrm>
            <a:off x="1672200" y="4227480"/>
            <a:ext cx="3016800" cy="2087640"/>
          </a:xfrm>
          <a:prstGeom prst="rect">
            <a:avLst/>
          </a:prstGeom>
          <a:solidFill>
            <a:srgbClr val="00206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class SearchNode: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search_state = None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edges = []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class Edge: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	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endpoint = None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	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cost = 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ectangle 3"/>
          <p:cNvSpPr/>
          <p:nvPr/>
        </p:nvSpPr>
        <p:spPr>
          <a:xfrm>
            <a:off x="5072760" y="2549520"/>
            <a:ext cx="2624760" cy="58428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80000"/>
              </a:lnSpc>
              <a:spcBef>
                <a:spcPts val="400"/>
              </a:spcBef>
            </a:pP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A-B-C:</a:t>
            </a: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2∙1+2∙1 = 4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80000"/>
              </a:lnSpc>
              <a:spcBef>
                <a:spcPts val="400"/>
              </a:spcBef>
            </a:pP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A-C:</a:t>
            </a: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3∙1 = 3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Rectangle 3"/>
          <p:cNvSpPr/>
          <p:nvPr/>
        </p:nvSpPr>
        <p:spPr>
          <a:xfrm>
            <a:off x="5074920" y="4542120"/>
            <a:ext cx="2630160" cy="58428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80000"/>
              </a:lnSpc>
              <a:spcBef>
                <a:spcPts val="400"/>
              </a:spcBef>
            </a:pP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A-B-C:</a:t>
            </a: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2+2 = 4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80000"/>
              </a:lnSpc>
              <a:spcBef>
                <a:spcPts val="400"/>
              </a:spcBef>
            </a:pP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A-C:</a:t>
            </a: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30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Flowchart: Process 24"/>
          <p:cNvSpPr/>
          <p:nvPr/>
        </p:nvSpPr>
        <p:spPr>
          <a:xfrm>
            <a:off x="8179200" y="3526920"/>
            <a:ext cx="1730520" cy="2232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1240" bIns="-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92" name="Flowchart: Process 25"/>
          <p:cNvSpPr/>
          <p:nvPr/>
        </p:nvSpPr>
        <p:spPr>
          <a:xfrm rot="3670200">
            <a:off x="8813160" y="2721240"/>
            <a:ext cx="1603440" cy="2232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1240" bIns="-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93" name="Flowchart: Process 26"/>
          <p:cNvSpPr/>
          <p:nvPr/>
        </p:nvSpPr>
        <p:spPr>
          <a:xfrm flipH="1" rot="17929800">
            <a:off x="7886880" y="2721240"/>
            <a:ext cx="1603440" cy="22680"/>
          </a:xfrm>
          <a:prstGeom prst="flowChartProcess">
            <a:avLst/>
          </a:prstGeom>
          <a:solidFill>
            <a:schemeClr val="bg1"/>
          </a:solidFill>
          <a:ln w="12700"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1240" bIns="-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cxnSp>
        <p:nvCxnSpPr>
          <p:cNvPr id="194" name="Straight Arrow Connector 27"/>
          <p:cNvCxnSpPr/>
          <p:nvPr/>
        </p:nvCxnSpPr>
        <p:spPr>
          <a:xfrm>
            <a:off x="9371520" y="1910520"/>
            <a:ext cx="887040" cy="1541160"/>
          </a:xfrm>
          <a:prstGeom prst="straightConnector1">
            <a:avLst/>
          </a:prstGeom>
          <a:ln w="0">
            <a:solidFill>
              <a:srgbClr val="fafd59"/>
            </a:solidFill>
            <a:headEnd len="med" type="diamond" w="med"/>
            <a:tailEnd len="med" type="diamond" w="med"/>
          </a:ln>
        </p:spPr>
      </p:cxnSp>
      <p:cxnSp>
        <p:nvCxnSpPr>
          <p:cNvPr id="195" name="Straight Arrow Connector 28"/>
          <p:cNvCxnSpPr/>
          <p:nvPr/>
        </p:nvCxnSpPr>
        <p:spPr>
          <a:xfrm flipH="1">
            <a:off x="8025120" y="1910520"/>
            <a:ext cx="925560" cy="1579320"/>
          </a:xfrm>
          <a:prstGeom prst="straightConnector1">
            <a:avLst/>
          </a:prstGeom>
          <a:ln w="0">
            <a:solidFill>
              <a:srgbClr val="fafd59"/>
            </a:solidFill>
            <a:headEnd len="med" type="diamond" w="med"/>
            <a:tailEnd len="med" type="diamond" w="med"/>
          </a:ln>
        </p:spPr>
      </p:cxnSp>
      <p:cxnSp>
        <p:nvCxnSpPr>
          <p:cNvPr id="196" name="Straight Arrow Connector 29"/>
          <p:cNvCxnSpPr/>
          <p:nvPr/>
        </p:nvCxnSpPr>
        <p:spPr>
          <a:xfrm flipH="1">
            <a:off x="8217360" y="3758400"/>
            <a:ext cx="1811160" cy="1440"/>
          </a:xfrm>
          <a:prstGeom prst="straightConnector1">
            <a:avLst/>
          </a:prstGeom>
          <a:ln w="0">
            <a:solidFill>
              <a:srgbClr val="fafd59"/>
            </a:solidFill>
            <a:headEnd len="med" type="diamond" w="med"/>
            <a:tailEnd len="med" type="diamond" w="med"/>
          </a:ln>
        </p:spPr>
      </p:cxnSp>
      <p:sp>
        <p:nvSpPr>
          <p:cNvPr id="197" name="TextBox 56"/>
          <p:cNvSpPr/>
          <p:nvPr/>
        </p:nvSpPr>
        <p:spPr>
          <a:xfrm>
            <a:off x="8177760" y="2442600"/>
            <a:ext cx="303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Box 57"/>
          <p:cNvSpPr/>
          <p:nvPr/>
        </p:nvSpPr>
        <p:spPr>
          <a:xfrm>
            <a:off x="9777600" y="2442600"/>
            <a:ext cx="303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Box 58"/>
          <p:cNvSpPr/>
          <p:nvPr/>
        </p:nvSpPr>
        <p:spPr>
          <a:xfrm>
            <a:off x="8330040" y="3737880"/>
            <a:ext cx="152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3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Box 58"/>
          <p:cNvSpPr/>
          <p:nvPr/>
        </p:nvSpPr>
        <p:spPr>
          <a:xfrm>
            <a:off x="8629200" y="3701880"/>
            <a:ext cx="248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lt2"/>
                </a:solidFill>
                <a:latin typeface="Arial"/>
              </a:rPr>
              <a:t>3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Rectangle 3"/>
          <p:cNvSpPr/>
          <p:nvPr/>
        </p:nvSpPr>
        <p:spPr>
          <a:xfrm>
            <a:off x="5074920" y="5456520"/>
            <a:ext cx="2630160" cy="584280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80000"/>
              </a:lnSpc>
              <a:spcBef>
                <a:spcPts val="400"/>
              </a:spcBef>
            </a:pP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A-B-C:</a:t>
            </a: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2+2 = 4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80000"/>
              </a:lnSpc>
              <a:spcBef>
                <a:spcPts val="400"/>
              </a:spcBef>
            </a:pP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A-C:</a:t>
            </a: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21 (1∙1+2∙10)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Box 35"/>
          <p:cNvSpPr/>
          <p:nvPr/>
        </p:nvSpPr>
        <p:spPr>
          <a:xfrm>
            <a:off x="5895360" y="5104800"/>
            <a:ext cx="684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800" spc="-1" strike="noStrike">
                <a:solidFill>
                  <a:schemeClr val="lt2"/>
                </a:solidFill>
                <a:latin typeface="Arial"/>
              </a:rPr>
              <a:t>Or…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Rectangle: Rounded Corners 36"/>
          <p:cNvSpPr/>
          <p:nvPr/>
        </p:nvSpPr>
        <p:spPr>
          <a:xfrm>
            <a:off x="8973000" y="1838880"/>
            <a:ext cx="344520" cy="344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90d850"/>
              </a:gs>
            </a:gsLst>
            <a:path path="circle">
              <a:fillToRect l="50000" t="0" r="50000" b="100000"/>
            </a:path>
          </a:gradFill>
          <a:ln>
            <a:solidFill>
              <a:srgbClr val="000000"/>
            </a:solidFill>
            <a:rou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ectangle: Rounded Corners 37"/>
          <p:cNvSpPr/>
          <p:nvPr/>
        </p:nvSpPr>
        <p:spPr>
          <a:xfrm>
            <a:off x="8120160" y="3381120"/>
            <a:ext cx="344520" cy="344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90d850"/>
              </a:gs>
            </a:gsLst>
            <a:path path="circle">
              <a:fillToRect l="50000" t="0" r="50000" b="100000"/>
            </a:path>
          </a:gradFill>
          <a:ln>
            <a:solidFill>
              <a:srgbClr val="000000"/>
            </a:solidFill>
            <a:rou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ectangle: Rounded Corners 38"/>
          <p:cNvSpPr/>
          <p:nvPr/>
        </p:nvSpPr>
        <p:spPr>
          <a:xfrm>
            <a:off x="9827280" y="3365640"/>
            <a:ext cx="344520" cy="344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90d850"/>
              </a:gs>
            </a:gsLst>
            <a:path path="circle">
              <a:fillToRect l="50000" t="0" r="50000" b="100000"/>
            </a:path>
          </a:gradFill>
          <a:ln>
            <a:solidFill>
              <a:srgbClr val="000000"/>
            </a:solidFill>
            <a:rou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Oval 39"/>
          <p:cNvSpPr/>
          <p:nvPr/>
        </p:nvSpPr>
        <p:spPr>
          <a:xfrm>
            <a:off x="8924040" y="3170520"/>
            <a:ext cx="470160" cy="308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Oval 40"/>
          <p:cNvSpPr/>
          <p:nvPr/>
        </p:nvSpPr>
        <p:spPr>
          <a:xfrm>
            <a:off x="10066320" y="3588120"/>
            <a:ext cx="227160" cy="22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Oval 41"/>
          <p:cNvSpPr/>
          <p:nvPr/>
        </p:nvSpPr>
        <p:spPr>
          <a:xfrm>
            <a:off x="7986240" y="3597480"/>
            <a:ext cx="227160" cy="22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Oval 42"/>
          <p:cNvSpPr/>
          <p:nvPr/>
        </p:nvSpPr>
        <p:spPr>
          <a:xfrm>
            <a:off x="9027000" y="2120760"/>
            <a:ext cx="227160" cy="22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0" name="Straight Arrow Connector 46"/>
          <p:cNvCxnSpPr/>
          <p:nvPr/>
        </p:nvCxnSpPr>
        <p:spPr>
          <a:xfrm>
            <a:off x="9371520" y="4339800"/>
            <a:ext cx="887040" cy="1541520"/>
          </a:xfrm>
          <a:prstGeom prst="straightConnector1">
            <a:avLst/>
          </a:prstGeom>
          <a:ln w="0">
            <a:solidFill>
              <a:srgbClr val="fafd59"/>
            </a:solidFill>
            <a:headEnd len="med" type="diamond" w="med"/>
            <a:tailEnd len="med" type="diamond" w="med"/>
          </a:ln>
        </p:spPr>
      </p:cxnSp>
      <p:cxnSp>
        <p:nvCxnSpPr>
          <p:cNvPr id="211" name="Straight Arrow Connector 47"/>
          <p:cNvCxnSpPr/>
          <p:nvPr/>
        </p:nvCxnSpPr>
        <p:spPr>
          <a:xfrm flipH="1">
            <a:off x="8025120" y="4339800"/>
            <a:ext cx="925560" cy="1579320"/>
          </a:xfrm>
          <a:prstGeom prst="straightConnector1">
            <a:avLst/>
          </a:prstGeom>
          <a:ln w="0">
            <a:solidFill>
              <a:srgbClr val="fafd59"/>
            </a:solidFill>
            <a:headEnd len="med" type="diamond" w="med"/>
            <a:tailEnd len="med" type="diamond" w="med"/>
          </a:ln>
        </p:spPr>
      </p:cxnSp>
      <p:cxnSp>
        <p:nvCxnSpPr>
          <p:cNvPr id="212" name="Straight Arrow Connector 48"/>
          <p:cNvCxnSpPr/>
          <p:nvPr/>
        </p:nvCxnSpPr>
        <p:spPr>
          <a:xfrm flipH="1">
            <a:off x="8217360" y="6187680"/>
            <a:ext cx="1811160" cy="1440"/>
          </a:xfrm>
          <a:prstGeom prst="straightConnector1">
            <a:avLst/>
          </a:prstGeom>
          <a:ln w="0">
            <a:solidFill>
              <a:srgbClr val="fafd59"/>
            </a:solidFill>
            <a:headEnd len="med" type="diamond" w="med"/>
            <a:tailEnd len="med" type="diamond" w="med"/>
          </a:ln>
        </p:spPr>
      </p:cxnSp>
      <p:sp>
        <p:nvSpPr>
          <p:cNvPr id="213" name="TextBox 56"/>
          <p:cNvSpPr/>
          <p:nvPr/>
        </p:nvSpPr>
        <p:spPr>
          <a:xfrm>
            <a:off x="8177760" y="4871880"/>
            <a:ext cx="303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Box 57"/>
          <p:cNvSpPr/>
          <p:nvPr/>
        </p:nvSpPr>
        <p:spPr>
          <a:xfrm>
            <a:off x="9777600" y="4871880"/>
            <a:ext cx="303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Arial"/>
              </a:rPr>
              <a:t>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Box 58"/>
          <p:cNvSpPr/>
          <p:nvPr/>
        </p:nvSpPr>
        <p:spPr>
          <a:xfrm>
            <a:off x="8583120" y="6124680"/>
            <a:ext cx="281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lt2"/>
                </a:solidFill>
                <a:latin typeface="Arial"/>
              </a:rPr>
              <a:t>3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Rectangle: Rounded Corners 52"/>
          <p:cNvSpPr/>
          <p:nvPr/>
        </p:nvSpPr>
        <p:spPr>
          <a:xfrm>
            <a:off x="8973000" y="4268160"/>
            <a:ext cx="344520" cy="344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90d850"/>
              </a:gs>
            </a:gsLst>
            <a:path path="circle">
              <a:fillToRect l="50000" t="0" r="50000" b="100000"/>
            </a:path>
          </a:gradFill>
          <a:ln>
            <a:solidFill>
              <a:srgbClr val="000000"/>
            </a:solidFill>
            <a:rou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ectangle: Rounded Corners 53"/>
          <p:cNvSpPr/>
          <p:nvPr/>
        </p:nvSpPr>
        <p:spPr>
          <a:xfrm>
            <a:off x="8120160" y="5810760"/>
            <a:ext cx="344520" cy="344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90d850"/>
              </a:gs>
            </a:gsLst>
            <a:path path="circle">
              <a:fillToRect l="50000" t="0" r="50000" b="100000"/>
            </a:path>
          </a:gradFill>
          <a:ln>
            <a:solidFill>
              <a:srgbClr val="000000"/>
            </a:solidFill>
            <a:rou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ectangle: Rounded Corners 54"/>
          <p:cNvSpPr/>
          <p:nvPr/>
        </p:nvSpPr>
        <p:spPr>
          <a:xfrm>
            <a:off x="9827280" y="5794920"/>
            <a:ext cx="344520" cy="344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90d850"/>
              </a:gs>
            </a:gsLst>
            <a:path path="circle">
              <a:fillToRect l="50000" t="0" r="50000" b="100000"/>
            </a:path>
          </a:gradFill>
          <a:ln>
            <a:solidFill>
              <a:srgbClr val="000000"/>
            </a:solidFill>
            <a:rou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Oval 55"/>
          <p:cNvSpPr/>
          <p:nvPr/>
        </p:nvSpPr>
        <p:spPr>
          <a:xfrm>
            <a:off x="8966880" y="5816520"/>
            <a:ext cx="470160" cy="308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Oval 56"/>
          <p:cNvSpPr/>
          <p:nvPr/>
        </p:nvSpPr>
        <p:spPr>
          <a:xfrm>
            <a:off x="8568720" y="5071680"/>
            <a:ext cx="227160" cy="22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Oval 57"/>
          <p:cNvSpPr/>
          <p:nvPr/>
        </p:nvSpPr>
        <p:spPr>
          <a:xfrm>
            <a:off x="9503640" y="5061240"/>
            <a:ext cx="227160" cy="2271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2" name="Straight Arrow Connector 58"/>
          <p:cNvCxnSpPr/>
          <p:nvPr/>
        </p:nvCxnSpPr>
        <p:spPr>
          <a:xfrm flipH="1">
            <a:off x="9596880" y="5884560"/>
            <a:ext cx="201240" cy="1440"/>
          </a:xfrm>
          <a:prstGeom prst="straightConnector1">
            <a:avLst/>
          </a:prstGeom>
          <a:ln w="0">
            <a:solidFill>
              <a:srgbClr val="fafd59"/>
            </a:solidFill>
            <a:headEnd len="med" type="diamond" w="med"/>
            <a:tailEnd len="med" type="diamond" w="med"/>
          </a:ln>
        </p:spPr>
      </p:cxnSp>
      <p:cxnSp>
        <p:nvCxnSpPr>
          <p:cNvPr id="223" name="Straight Arrow Connector 62"/>
          <p:cNvCxnSpPr/>
          <p:nvPr/>
        </p:nvCxnSpPr>
        <p:spPr>
          <a:xfrm flipH="1">
            <a:off x="8476920" y="5879880"/>
            <a:ext cx="201240" cy="1440"/>
          </a:xfrm>
          <a:prstGeom prst="straightConnector1">
            <a:avLst/>
          </a:prstGeom>
          <a:ln w="0">
            <a:solidFill>
              <a:srgbClr val="fafd59"/>
            </a:solidFill>
            <a:headEnd len="med" type="diamond" w="med"/>
            <a:tailEnd len="med" type="diamond" w="med"/>
          </a:ln>
        </p:spPr>
      </p:cxnSp>
      <p:sp>
        <p:nvSpPr>
          <p:cNvPr id="224" name="TextBox 58"/>
          <p:cNvSpPr/>
          <p:nvPr/>
        </p:nvSpPr>
        <p:spPr>
          <a:xfrm>
            <a:off x="8408520" y="5590440"/>
            <a:ext cx="431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2"/>
                </a:solidFill>
                <a:latin typeface="Arial"/>
              </a:rPr>
              <a:t>.5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Box 58"/>
          <p:cNvSpPr/>
          <p:nvPr/>
        </p:nvSpPr>
        <p:spPr>
          <a:xfrm>
            <a:off x="9519840" y="5601960"/>
            <a:ext cx="431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lt2"/>
                </a:solidFill>
                <a:latin typeface="Arial"/>
              </a:rPr>
              <a:t>.5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9" dur="indefinite" restart="never" nodeType="tmRoot">
          <p:childTnLst>
            <p:seq>
              <p:cTn id="380" dur="indefinite" nodeType="mainSeq">
                <p:childTnLst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0" dur="500"/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5" dur="500"/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0" dur="500"/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5" dur="500"/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5" dur="500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0" dur="500"/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5" dur="500"/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0" dur="500"/>
                                        <p:tgtEl>
                                          <p:spTgt spid="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5" dur="500"/>
                                        <p:tgtEl>
                                          <p:spTgt spid="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0" dur="500"/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0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3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indefinite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>
                      <p:stCondLst>
                        <p:cond delay="indefinite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3" dur="500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indefinite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8" dur="500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8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4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3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6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9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indefinite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3" fill="hold">
                      <p:stCondLst>
                        <p:cond delay="indefinite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fill="hold">
                      <p:stCondLst>
                        <p:cond delay="indefinite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3" dur="500"/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fill="hold">
                      <p:stCondLst>
                        <p:cond delay="indefinite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id="6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8" dur="500"/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3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4" fill="hold">
                      <p:stCondLst>
                        <p:cond delay="indefinite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fill="hold">
                      <p:stCondLst>
                        <p:cond delay="indefinite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3" dur="500"/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fill="hold">
                      <p:stCondLst>
                        <p:cond delay="indefinite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8" dur="500"/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433520" y="255600"/>
            <a:ext cx="932364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Example: Search Graph for Tiles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1734120" y="1837080"/>
            <a:ext cx="9694800" cy="3652560"/>
          </a:xfrm>
          <a:prstGeom prst="rect">
            <a:avLst/>
          </a:prstGeom>
          <a:solidFill>
            <a:srgbClr val="002060"/>
          </a:solidFill>
          <a:ln w="0">
            <a:solidFill>
              <a:schemeClr val="lt1"/>
            </a:solidFill>
          </a:ln>
        </p:spPr>
        <p:txBody>
          <a:bodyPr lIns="45720" rIns="45720" tIns="45720" bIns="45720" anchor="t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def buildGraph(tileMap):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nodes = dict()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for tile in tileMap: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nodes[tile] = SearchNode(tile)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# Go through the nodes dictionary for each key-value (tile-node) pair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for tile, node in nodes: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for neighbor in tilesAdjacentTo(tile):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# Calculate the cost between the tile and its neighbor; add edge.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cost = calculateCost(tile, neighbor)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            </a:t>
            </a:r>
            <a:r>
              <a:rPr b="0" lang="en-US" sz="1600" spc="-1" strike="noStrike">
                <a:solidFill>
                  <a:schemeClr val="lt1"/>
                </a:solidFill>
                <a:latin typeface="Consolas"/>
              </a:rPr>
              <a:t>node.edges.append(Edge(neighbor, cost))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8" name="Graphic 3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 flipH="1">
            <a:off x="8652960" y="1901160"/>
            <a:ext cx="1857960" cy="176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9" dur="indefinite" restart="never" nodeType="tmRoot">
          <p:childTnLst>
            <p:seq>
              <p:cTn id="630" dur="indefinite" nodeType="mainSeq">
                <p:childTnLst>
                  <p:par>
                    <p:cTn id="631" fill="hold">
                      <p:stCondLst>
                        <p:cond delay="indefinite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5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8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indefinite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3" dur="500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4" fill="hold">
                      <p:stCondLst>
                        <p:cond delay="indefinite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8" dur="500"/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>
                      <p:stCondLst>
                        <p:cond delay="indefinite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id="6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3" dur="500"/>
                                        <p:tgtEl>
                                          <p:spTgt spid="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4" fill="hold">
                      <p:stCondLst>
                        <p:cond delay="indefinite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id="6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8" dur="500"/>
                                        <p:tgtEl>
                                          <p:spTgt spid="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9" fill="hold">
                      <p:stCondLst>
                        <p:cond delay="indefinite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3" dur="500"/>
                                        <p:tgtEl>
                                          <p:spTgt spid="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6" dur="500"/>
                                        <p:tgtEl>
                                          <p:spTgt spid="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7" fill="hold">
                      <p:stCondLst>
                        <p:cond delay="indefinite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id="6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1" dur="500"/>
                                        <p:tgtEl>
                                          <p:spTgt spid="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2" fill="hold">
                      <p:stCondLst>
                        <p:cond delay="indefinite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6" dur="500"/>
                                        <p:tgtEl>
                                          <p:spTgt spid="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9" dur="500"/>
                                        <p:tgtEl>
                                          <p:spTgt spid="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0" fill="hold">
                      <p:stCondLst>
                        <p:cond delay="indefinite"/>
                      </p:stCondLst>
                      <p:childTnLst>
                        <p:par>
                          <p:cTn id="681" fill="hold">
                            <p:stCondLst>
                              <p:cond delay="0"/>
                            </p:stCondLst>
                            <p:childTnLst>
                              <p:par>
                                <p:cTn id="6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4" dur="500"/>
                                        <p:tgtEl>
                                          <p:spTgt spid="2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/>
          </p:nvPr>
        </p:nvSpPr>
        <p:spPr>
          <a:xfrm>
            <a:off x="757800" y="1682280"/>
            <a:ext cx="10972080" cy="4618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Often a solution to a problem can be broken into a series of steps.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Some of these are also well-defined problems.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A well defined problem has these features: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Initial state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Set of goal states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State space (reachable states)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1+ Operators (a finite set of steps/actions)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In a well-define problem, we can systematically approach the problem space.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title"/>
          </p:nvPr>
        </p:nvSpPr>
        <p:spPr>
          <a:xfrm>
            <a:off x="468720" y="559440"/>
            <a:ext cx="1125324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Well-Defined Problems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68720" y="559440"/>
            <a:ext cx="1125324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Search: The 8-Puzzle (Example)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1752480" y="1295280"/>
            <a:ext cx="8685360" cy="6080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chemeClr val="dk1"/>
                </a:solidFill>
                <a:uFillTx/>
                <a:latin typeface="Arial Regular"/>
              </a:rPr>
              <a:t>Example: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Line 64"/>
          <p:cNvSpPr/>
          <p:nvPr/>
        </p:nvSpPr>
        <p:spPr>
          <a:xfrm>
            <a:off x="6781680" y="3352680"/>
            <a:ext cx="838080" cy="22860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4" name="Line 65"/>
          <p:cNvSpPr/>
          <p:nvPr/>
        </p:nvSpPr>
        <p:spPr>
          <a:xfrm flipH="1">
            <a:off x="6172200" y="5029200"/>
            <a:ext cx="838080" cy="22860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5" name="Line 66"/>
          <p:cNvSpPr/>
          <p:nvPr/>
        </p:nvSpPr>
        <p:spPr>
          <a:xfrm flipH="1">
            <a:off x="4495680" y="3352680"/>
            <a:ext cx="838080" cy="22860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6" name="Line 67"/>
          <p:cNvSpPr/>
          <p:nvPr/>
        </p:nvSpPr>
        <p:spPr>
          <a:xfrm>
            <a:off x="8458200" y="5029200"/>
            <a:ext cx="838080" cy="22860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7" name="Line 68"/>
          <p:cNvSpPr/>
          <p:nvPr/>
        </p:nvSpPr>
        <p:spPr>
          <a:xfrm>
            <a:off x="7702200" y="5029200"/>
            <a:ext cx="360" cy="23544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38" name="Picture 8" descr=""/>
          <p:cNvPicPr/>
          <p:nvPr/>
        </p:nvPicPr>
        <p:blipFill>
          <a:blip r:embed="rId1"/>
          <a:stretch/>
        </p:blipFill>
        <p:spPr>
          <a:xfrm>
            <a:off x="3659760" y="3581280"/>
            <a:ext cx="1448280" cy="1448280"/>
          </a:xfrm>
          <a:prstGeom prst="rect">
            <a:avLst/>
          </a:prstGeom>
          <a:ln w="0">
            <a:noFill/>
          </a:ln>
        </p:spPr>
      </p:pic>
      <p:pic>
        <p:nvPicPr>
          <p:cNvPr id="239" name="Picture 10" descr=""/>
          <p:cNvPicPr/>
          <p:nvPr/>
        </p:nvPicPr>
        <p:blipFill>
          <a:blip r:embed="rId2"/>
          <a:stretch/>
        </p:blipFill>
        <p:spPr>
          <a:xfrm>
            <a:off x="5334120" y="1909800"/>
            <a:ext cx="1448280" cy="1448280"/>
          </a:xfrm>
          <a:prstGeom prst="rect">
            <a:avLst/>
          </a:prstGeom>
          <a:ln w="0">
            <a:noFill/>
          </a:ln>
        </p:spPr>
      </p:pic>
      <p:pic>
        <p:nvPicPr>
          <p:cNvPr id="240" name="Picture 11" descr=""/>
          <p:cNvPicPr/>
          <p:nvPr/>
        </p:nvPicPr>
        <p:blipFill>
          <a:blip r:embed="rId3"/>
          <a:stretch/>
        </p:blipFill>
        <p:spPr>
          <a:xfrm>
            <a:off x="7008480" y="3581280"/>
            <a:ext cx="1448280" cy="1448280"/>
          </a:xfrm>
          <a:prstGeom prst="rect">
            <a:avLst/>
          </a:prstGeom>
          <a:ln w="0">
            <a:noFill/>
          </a:ln>
        </p:spPr>
      </p:pic>
      <p:pic>
        <p:nvPicPr>
          <p:cNvPr id="241" name="Picture 73" descr=""/>
          <p:cNvPicPr/>
          <p:nvPr/>
        </p:nvPicPr>
        <p:blipFill>
          <a:blip r:embed="rId4"/>
          <a:stretch/>
        </p:blipFill>
        <p:spPr>
          <a:xfrm>
            <a:off x="8825400" y="5265000"/>
            <a:ext cx="1448280" cy="1448280"/>
          </a:xfrm>
          <a:prstGeom prst="rect">
            <a:avLst/>
          </a:prstGeom>
          <a:ln w="0">
            <a:noFill/>
          </a:ln>
        </p:spPr>
      </p:pic>
      <p:pic>
        <p:nvPicPr>
          <p:cNvPr id="242" name="Picture 12" descr=""/>
          <p:cNvPicPr/>
          <p:nvPr/>
        </p:nvPicPr>
        <p:blipFill>
          <a:blip r:embed="rId5"/>
          <a:stretch/>
        </p:blipFill>
        <p:spPr>
          <a:xfrm>
            <a:off x="7007040" y="5265000"/>
            <a:ext cx="1449720" cy="1448280"/>
          </a:xfrm>
          <a:prstGeom prst="rect">
            <a:avLst/>
          </a:prstGeom>
          <a:ln w="0">
            <a:noFill/>
          </a:ln>
        </p:spPr>
      </p:pic>
      <p:pic>
        <p:nvPicPr>
          <p:cNvPr id="243" name="Picture 13" descr=""/>
          <p:cNvPicPr/>
          <p:nvPr/>
        </p:nvPicPr>
        <p:blipFill>
          <a:blip r:embed="rId6"/>
          <a:stretch/>
        </p:blipFill>
        <p:spPr>
          <a:xfrm>
            <a:off x="5185440" y="5263200"/>
            <a:ext cx="1452960" cy="1451160"/>
          </a:xfrm>
          <a:prstGeom prst="rect">
            <a:avLst/>
          </a:prstGeom>
          <a:ln w="0">
            <a:noFill/>
          </a:ln>
        </p:spPr>
      </p:pic>
      <p:sp>
        <p:nvSpPr>
          <p:cNvPr id="244" name="Line 66"/>
          <p:cNvSpPr/>
          <p:nvPr/>
        </p:nvSpPr>
        <p:spPr>
          <a:xfrm>
            <a:off x="3351600" y="2626560"/>
            <a:ext cx="1982160" cy="1116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3840" bIns="-3384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45" name="Picture 2" descr=""/>
          <p:cNvPicPr/>
          <p:nvPr/>
        </p:nvPicPr>
        <p:blipFill>
          <a:blip r:embed="rId7"/>
          <a:stretch/>
        </p:blipFill>
        <p:spPr>
          <a:xfrm>
            <a:off x="1902240" y="1905120"/>
            <a:ext cx="1452960" cy="145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5" dur="indefinite" restart="never" nodeType="tmRoot">
          <p:childTnLst>
            <p:seq>
              <p:cTn id="686" dur="indefinite" nodeType="mainSeq">
                <p:childTnLst>
                  <p:par>
                    <p:cTn id="687" fill="hold">
                      <p:stCondLst>
                        <p:cond delay="indefinite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1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2" fill="hold">
                      <p:stCondLst>
                        <p:cond delay="indefinite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id="6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6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indefinite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2" nodeType="clickEffect" fill="hold">
                      <p:stCondLst>
                        <p:cond delay="indefinite"/>
                      </p:stCondLst>
                      <p:childTnLst>
                        <p:par>
                          <p:cTn id="7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9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0" fill="hold">
                      <p:stCondLst>
                        <p:cond delay="indefinite"/>
                      </p:stCondLst>
                      <p:childTnLst>
                        <p:par>
                          <p:cTn id="711" fill="hold">
                            <p:stCondLst>
                              <p:cond delay="0"/>
                            </p:stCondLst>
                            <p:childTnLst>
                              <p:par>
                                <p:cTn id="7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4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8" fill="hold">
                      <p:stCondLst>
                        <p:cond delay="indefinite"/>
                      </p:stCondLst>
                      <p:childTnLst>
                        <p:par>
                          <p:cTn id="719" fill="hold">
                            <p:stCondLst>
                              <p:cond delay="0"/>
                            </p:stCondLst>
                            <p:childTnLst>
                              <p:par>
                                <p:cTn id="7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2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5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6" fill="hold">
                      <p:stCondLst>
                        <p:cond delay="indefinite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id="7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0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3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4" fill="hold">
                      <p:stCondLst>
                        <p:cond delay="indefinite"/>
                      </p:stCondLst>
                      <p:childTnLst>
                        <p:par>
                          <p:cTn id="735" fill="hold">
                            <p:stCondLst>
                              <p:cond delay="0"/>
                            </p:stCondLst>
                            <p:childTnLst>
                              <p:par>
                                <p:cTn id="7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8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/>
          </p:nvPr>
        </p:nvSpPr>
        <p:spPr>
          <a:xfrm>
            <a:off x="371160" y="1515960"/>
            <a:ext cx="11350440" cy="34315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75000"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It turns out that a naïve, brute-force approach has some issues.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	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Number of Search Nodes, 10-Ply: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	</a:t>
            </a:r>
            <a:r>
              <a:rPr b="1" lang="en-US" sz="3600" spc="-1" strike="noStrike">
                <a:solidFill>
                  <a:srgbClr val="ffff00"/>
                </a:solidFill>
                <a:latin typeface="Garamond"/>
              </a:rPr>
              <a:t>4</a:t>
            </a:r>
            <a:r>
              <a:rPr b="1" lang="en-US" sz="3600" spc="-1" strike="noStrike" baseline="30000">
                <a:solidFill>
                  <a:srgbClr val="ffff00"/>
                </a:solidFill>
                <a:latin typeface="Garamond"/>
              </a:rPr>
              <a:t>10</a:t>
            </a:r>
            <a:r>
              <a:rPr b="1" lang="en-US" sz="3600" spc="-1" strike="noStrike">
                <a:solidFill>
                  <a:srgbClr val="ffff00"/>
                </a:solidFill>
                <a:latin typeface="Garamond"/>
              </a:rPr>
              <a:t> = 1,048,576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	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Number of Search Nodes, 55-Ply: 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	</a:t>
            </a:r>
            <a:r>
              <a:rPr b="1" lang="en-US" sz="3600" spc="-1" strike="noStrike">
                <a:solidFill>
                  <a:schemeClr val="accent4">
                    <a:lumMod val="60000"/>
                    <a:lumOff val="40000"/>
                  </a:schemeClr>
                </a:solidFill>
                <a:latin typeface="Garamond"/>
              </a:rPr>
              <a:t>4</a:t>
            </a:r>
            <a:r>
              <a:rPr b="1" lang="en-US" sz="3600" spc="-1" strike="noStrike" baseline="30000">
                <a:solidFill>
                  <a:schemeClr val="accent4">
                    <a:lumMod val="60000"/>
                    <a:lumOff val="40000"/>
                  </a:schemeClr>
                </a:solidFill>
                <a:latin typeface="Garamond"/>
              </a:rPr>
              <a:t>55</a:t>
            </a:r>
            <a:r>
              <a:rPr b="1" lang="en-US" sz="3600" spc="-1" strike="noStrike">
                <a:solidFill>
                  <a:schemeClr val="accent4">
                    <a:lumMod val="60000"/>
                    <a:lumOff val="40000"/>
                  </a:schemeClr>
                </a:solidFill>
                <a:latin typeface="Garamond"/>
              </a:rPr>
              <a:t> = 1.3 </a:t>
            </a:r>
            <a:r>
              <a:rPr b="1" lang="en-US" sz="3600" spc="-1" strike="noStrike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</a:rPr>
              <a:t>·</a:t>
            </a:r>
            <a:r>
              <a:rPr b="1" lang="en-US" sz="3600" spc="-1" strike="noStrike">
                <a:solidFill>
                  <a:schemeClr val="accent4">
                    <a:lumMod val="60000"/>
                    <a:lumOff val="40000"/>
                  </a:schemeClr>
                </a:solidFill>
                <a:latin typeface="Garamond"/>
              </a:rPr>
              <a:t> 10</a:t>
            </a:r>
            <a:r>
              <a:rPr b="1" lang="en-US" sz="3600" spc="-1" strike="noStrike" baseline="30000">
                <a:solidFill>
                  <a:schemeClr val="accent4">
                    <a:lumMod val="60000"/>
                    <a:lumOff val="40000"/>
                  </a:schemeClr>
                </a:solidFill>
                <a:latin typeface="Garamond"/>
              </a:rPr>
              <a:t>33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	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Possible Board Configurations: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	</a:t>
            </a: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	</a:t>
            </a:r>
            <a:r>
              <a:rPr b="1" lang="en-US" sz="3600" spc="-1" strike="noStrike">
                <a:solidFill>
                  <a:srgbClr val="00ff00"/>
                </a:solidFill>
                <a:latin typeface="Garamond"/>
              </a:rPr>
              <a:t>9! = 362,880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Why are there more search nodes than board configurations?!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title"/>
          </p:nvPr>
        </p:nvSpPr>
        <p:spPr>
          <a:xfrm>
            <a:off x="468720" y="559440"/>
            <a:ext cx="1125324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Search Challenges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8" name="Graphic 10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 rot="183600">
            <a:off x="5079600" y="4950360"/>
            <a:ext cx="2813760" cy="173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42" dur="indefinite" restart="never" nodeType="tmRoot">
          <p:childTnLst>
            <p:seq>
              <p:cTn id="743" dur="indefinite" nodeType="mainSeq">
                <p:childTnLst>
                  <p:par>
                    <p:cTn id="744" fill="hold">
                      <p:stCondLst>
                        <p:cond delay="indefinite"/>
                      </p:stCondLst>
                      <p:childTnLst>
                        <p:par>
                          <p:cTn id="745" fill="hold">
                            <p:stCondLst>
                              <p:cond delay="0"/>
                            </p:stCondLst>
                            <p:childTnLst>
                              <p:par>
                                <p:cTn id="7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8" dur="500"/>
                                        <p:tgtEl>
                                          <p:spTgt spid="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9" fill="hold">
                      <p:stCondLst>
                        <p:cond delay="indefinite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3" dur="500"/>
                                        <p:tgtEl>
                                          <p:spTgt spid="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4" fill="hold">
                      <p:stCondLst>
                        <p:cond delay="indefinite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id="7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8" dur="500"/>
                                        <p:tgtEl>
                                          <p:spTgt spid="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fill="hold">
                      <p:stCondLst>
                        <p:cond delay="indefinite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3" dur="500"/>
                                        <p:tgtEl>
                                          <p:spTgt spid="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4" fill="hold">
                      <p:stCondLst>
                        <p:cond delay="indefinite"/>
                      </p:stCondLst>
                      <p:childTnLst>
                        <p:par>
                          <p:cTn id="765" fill="hold">
                            <p:stCondLst>
                              <p:cond delay="0"/>
                            </p:stCondLst>
                            <p:childTnLst>
                              <p:par>
                                <p:cTn id="7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8" dur="500"/>
                                        <p:tgtEl>
                                          <p:spTgt spid="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468720" y="375120"/>
            <a:ext cx="1125324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Search Challenges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1752480" y="1111320"/>
            <a:ext cx="8685360" cy="6080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chemeClr val="dk1"/>
                </a:solidFill>
                <a:uFillTx/>
                <a:latin typeface="Arial Regular"/>
              </a:rPr>
              <a:t>Example: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Line 64"/>
          <p:cNvSpPr/>
          <p:nvPr/>
        </p:nvSpPr>
        <p:spPr>
          <a:xfrm>
            <a:off x="6781680" y="3168360"/>
            <a:ext cx="838080" cy="22860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2" name="Line 65"/>
          <p:cNvSpPr/>
          <p:nvPr/>
        </p:nvSpPr>
        <p:spPr>
          <a:xfrm flipH="1">
            <a:off x="6172200" y="4844880"/>
            <a:ext cx="838080" cy="22860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3" name="Line 66"/>
          <p:cNvSpPr/>
          <p:nvPr/>
        </p:nvSpPr>
        <p:spPr>
          <a:xfrm flipH="1">
            <a:off x="4495680" y="3168360"/>
            <a:ext cx="838080" cy="22860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4" name="Line 67"/>
          <p:cNvSpPr/>
          <p:nvPr/>
        </p:nvSpPr>
        <p:spPr>
          <a:xfrm>
            <a:off x="8458200" y="4844880"/>
            <a:ext cx="838080" cy="22860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5" name="Line 68"/>
          <p:cNvSpPr/>
          <p:nvPr/>
        </p:nvSpPr>
        <p:spPr>
          <a:xfrm>
            <a:off x="7702200" y="4844880"/>
            <a:ext cx="360" cy="235440"/>
          </a:xfrm>
          <a:prstGeom prst="line">
            <a:avLst/>
          </a:prstGeom>
          <a:ln w="9525">
            <a:solidFill>
              <a:srgbClr val="00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56" name="Picture 8" descr=""/>
          <p:cNvPicPr/>
          <p:nvPr/>
        </p:nvPicPr>
        <p:blipFill>
          <a:blip r:embed="rId1"/>
          <a:stretch/>
        </p:blipFill>
        <p:spPr>
          <a:xfrm>
            <a:off x="3659760" y="3397320"/>
            <a:ext cx="1448280" cy="1448280"/>
          </a:xfrm>
          <a:prstGeom prst="rect">
            <a:avLst/>
          </a:prstGeom>
          <a:ln w="0">
            <a:noFill/>
          </a:ln>
        </p:spPr>
      </p:pic>
      <p:pic>
        <p:nvPicPr>
          <p:cNvPr id="257" name="Picture 10" descr=""/>
          <p:cNvPicPr/>
          <p:nvPr/>
        </p:nvPicPr>
        <p:blipFill>
          <a:blip r:embed="rId2"/>
          <a:stretch/>
        </p:blipFill>
        <p:spPr>
          <a:xfrm>
            <a:off x="5334120" y="1725480"/>
            <a:ext cx="1448280" cy="1448280"/>
          </a:xfrm>
          <a:prstGeom prst="rect">
            <a:avLst/>
          </a:prstGeom>
          <a:ln w="0">
            <a:noFill/>
          </a:ln>
        </p:spPr>
      </p:pic>
      <p:pic>
        <p:nvPicPr>
          <p:cNvPr id="258" name="Picture 11" descr=""/>
          <p:cNvPicPr/>
          <p:nvPr/>
        </p:nvPicPr>
        <p:blipFill>
          <a:blip r:embed="rId3"/>
          <a:stretch/>
        </p:blipFill>
        <p:spPr>
          <a:xfrm>
            <a:off x="7008480" y="3397320"/>
            <a:ext cx="1448280" cy="1448280"/>
          </a:xfrm>
          <a:prstGeom prst="rect">
            <a:avLst/>
          </a:prstGeom>
          <a:ln w="0">
            <a:noFill/>
          </a:ln>
        </p:spPr>
      </p:pic>
      <p:pic>
        <p:nvPicPr>
          <p:cNvPr id="259" name="Picture 73" descr=""/>
          <p:cNvPicPr/>
          <p:nvPr/>
        </p:nvPicPr>
        <p:blipFill>
          <a:blip r:embed="rId4"/>
          <a:stretch/>
        </p:blipFill>
        <p:spPr>
          <a:xfrm>
            <a:off x="8825400" y="5080680"/>
            <a:ext cx="1448280" cy="1448280"/>
          </a:xfrm>
          <a:prstGeom prst="rect">
            <a:avLst/>
          </a:prstGeom>
          <a:ln w="0">
            <a:noFill/>
          </a:ln>
        </p:spPr>
      </p:pic>
      <p:pic>
        <p:nvPicPr>
          <p:cNvPr id="260" name="Picture 12" descr=""/>
          <p:cNvPicPr/>
          <p:nvPr/>
        </p:nvPicPr>
        <p:blipFill>
          <a:blip r:embed="rId5"/>
          <a:stretch/>
        </p:blipFill>
        <p:spPr>
          <a:xfrm>
            <a:off x="7007040" y="5080680"/>
            <a:ext cx="1449720" cy="1448280"/>
          </a:xfrm>
          <a:prstGeom prst="rect">
            <a:avLst/>
          </a:prstGeom>
          <a:ln w="0">
            <a:noFill/>
          </a:ln>
        </p:spPr>
      </p:pic>
      <p:pic>
        <p:nvPicPr>
          <p:cNvPr id="261" name="Picture 13" descr=""/>
          <p:cNvPicPr/>
          <p:nvPr/>
        </p:nvPicPr>
        <p:blipFill>
          <a:blip r:embed="rId6"/>
          <a:stretch/>
        </p:blipFill>
        <p:spPr>
          <a:xfrm>
            <a:off x="5185440" y="5079240"/>
            <a:ext cx="1452960" cy="1451160"/>
          </a:xfrm>
          <a:prstGeom prst="rect">
            <a:avLst/>
          </a:prstGeom>
          <a:ln w="0">
            <a:noFill/>
          </a:ln>
        </p:spPr>
      </p:pic>
      <p:cxnSp>
        <p:nvCxnSpPr>
          <p:cNvPr id="262" name="Straight Arrow Connector 4"/>
          <p:cNvCxnSpPr>
            <a:stCxn id="263" idx="1"/>
            <a:endCxn id="257" idx="3"/>
          </p:cNvCxnSpPr>
          <p:nvPr/>
        </p:nvCxnSpPr>
        <p:spPr>
          <a:xfrm flipH="1">
            <a:off x="6782760" y="2441520"/>
            <a:ext cx="1916640" cy="9000"/>
          </a:xfrm>
          <a:prstGeom prst="straightConnector1">
            <a:avLst/>
          </a:prstGeom>
          <a:ln w="0">
            <a:solidFill>
              <a:srgbClr val="00ff00"/>
            </a:solidFill>
            <a:tailEnd len="med" type="triangle" w="med"/>
          </a:ln>
        </p:spPr>
      </p:cxnSp>
      <p:cxnSp>
        <p:nvCxnSpPr>
          <p:cNvPr id="264" name="Straight Arrow Connector 6"/>
          <p:cNvCxnSpPr>
            <a:stCxn id="263" idx="2"/>
            <a:endCxn id="259" idx="0"/>
          </p:cNvCxnSpPr>
          <p:nvPr/>
        </p:nvCxnSpPr>
        <p:spPr>
          <a:xfrm>
            <a:off x="9549720" y="2669400"/>
            <a:ext cx="720" cy="2412000"/>
          </a:xfrm>
          <a:prstGeom prst="straightConnector1">
            <a:avLst/>
          </a:prstGeom>
          <a:ln w="0">
            <a:solidFill>
              <a:srgbClr val="00ff00"/>
            </a:solidFill>
            <a:tailEnd len="med" type="triangle" w="med"/>
          </a:ln>
        </p:spPr>
      </p:cxnSp>
      <p:sp>
        <p:nvSpPr>
          <p:cNvPr id="263" name="TextBox 17"/>
          <p:cNvSpPr/>
          <p:nvPr/>
        </p:nvSpPr>
        <p:spPr>
          <a:xfrm>
            <a:off x="8698680" y="2214000"/>
            <a:ext cx="1702080" cy="455400"/>
          </a:xfrm>
          <a:prstGeom prst="rect">
            <a:avLst/>
          </a:prstGeom>
          <a:solidFill>
            <a:srgbClr val="00206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Duplicates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72" dur="indefinite" restart="never" nodeType="tmRoot">
          <p:childTnLst>
            <p:seq>
              <p:cTn id="773" dur="indefinite" nodeType="mainSeq">
                <p:childTnLst>
                  <p:par>
                    <p:cTn id="774" fill="hold">
                      <p:stCondLst>
                        <p:cond delay="indefinite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id="7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8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1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4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/>
          </p:nvPr>
        </p:nvSpPr>
        <p:spPr>
          <a:xfrm>
            <a:off x="740160" y="1678320"/>
            <a:ext cx="10710000" cy="4618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8333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600" spc="-1" strike="noStrike" u="sng">
                <a:solidFill>
                  <a:schemeClr val="lt1"/>
                </a:solidFill>
                <a:uFillTx/>
                <a:latin typeface="Garamond"/>
              </a:rPr>
              <a:t>So, how do we get duplicates, anyway?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We can “toggle” back and forth between two states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Totally different actions can yield the same result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If we can eliminate duplicates somehow…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We’ll need less memory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We’ll need less CPU time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Scale difference: from </a:t>
            </a:r>
            <a:r>
              <a:rPr b="1" lang="en-US" sz="3200" spc="-1" strike="noStrike">
                <a:solidFill>
                  <a:schemeClr val="accent4">
                    <a:lumMod val="60000"/>
                    <a:lumOff val="40000"/>
                  </a:schemeClr>
                </a:solidFill>
                <a:latin typeface="Garamond"/>
              </a:rPr>
              <a:t>1.3 </a:t>
            </a:r>
            <a:r>
              <a:rPr b="1" lang="en-US" sz="3200" spc="-1" strike="noStrike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</a:rPr>
              <a:t>·</a:t>
            </a:r>
            <a:r>
              <a:rPr b="1" lang="en-US" sz="3200" spc="-1" strike="noStrike">
                <a:solidFill>
                  <a:schemeClr val="accent4">
                    <a:lumMod val="60000"/>
                    <a:lumOff val="40000"/>
                  </a:schemeClr>
                </a:solidFill>
                <a:latin typeface="Garamond"/>
              </a:rPr>
              <a:t> 10</a:t>
            </a:r>
            <a:r>
              <a:rPr b="1" lang="en-US" sz="3200" spc="-1" strike="noStrike" baseline="30000">
                <a:solidFill>
                  <a:schemeClr val="accent4">
                    <a:lumMod val="60000"/>
                    <a:lumOff val="40000"/>
                  </a:schemeClr>
                </a:solidFill>
                <a:latin typeface="Garamond"/>
              </a:rPr>
              <a:t>33 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to </a:t>
            </a:r>
            <a:r>
              <a:rPr b="1" lang="en-US" sz="3200" spc="-1" strike="noStrike">
                <a:solidFill>
                  <a:srgbClr val="00ff00"/>
                </a:solidFill>
                <a:latin typeface="Garamond"/>
              </a:rPr>
              <a:t>3.6</a:t>
            </a:r>
            <a:r>
              <a:rPr b="1" lang="en-US" sz="3200" spc="-1" strike="noStrike">
                <a:solidFill>
                  <a:srgbClr val="00ff00"/>
                </a:solidFill>
                <a:latin typeface="Calibri"/>
              </a:rPr>
              <a:t> ·</a:t>
            </a:r>
            <a:r>
              <a:rPr b="1" lang="en-US" sz="3200" spc="-1" strike="noStrike">
                <a:solidFill>
                  <a:srgbClr val="00ff00"/>
                </a:solidFill>
                <a:latin typeface="Garamond"/>
              </a:rPr>
              <a:t> 10</a:t>
            </a:r>
            <a:r>
              <a:rPr b="1" lang="en-US" sz="3200" spc="-1" strike="noStrike" baseline="30000">
                <a:solidFill>
                  <a:srgbClr val="00ff00"/>
                </a:solidFill>
                <a:latin typeface="Garamond"/>
              </a:rPr>
              <a:t>5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– 28 orders of magnitude!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title"/>
          </p:nvPr>
        </p:nvSpPr>
        <p:spPr>
          <a:xfrm>
            <a:off x="468720" y="559440"/>
            <a:ext cx="1125324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Search Challenges: Duplicate States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7" name="Group 7"/>
          <p:cNvGrpSpPr/>
          <p:nvPr/>
        </p:nvGrpSpPr>
        <p:grpSpPr>
          <a:xfrm>
            <a:off x="8257320" y="2417400"/>
            <a:ext cx="2944440" cy="2968200"/>
            <a:chOff x="8257320" y="2417400"/>
            <a:chExt cx="2944440" cy="2968200"/>
          </a:xfrm>
        </p:grpSpPr>
        <p:pic>
          <p:nvPicPr>
            <p:cNvPr id="268" name="Graphic 4" descr="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/>
          </p:blipFill>
          <p:spPr>
            <a:xfrm>
              <a:off x="9362160" y="2417400"/>
              <a:ext cx="1599480" cy="15994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69" name="Graphic 5" descr="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>
              <a:off x="8257320" y="3200400"/>
              <a:ext cx="1599480" cy="15994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70" name="Graphic 6" descr="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>
              <a:off x="9602280" y="3786120"/>
              <a:ext cx="1599480" cy="159948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5" dur="indefinite" restart="never" nodeType="tmRoot">
          <p:childTnLst>
            <p:seq>
              <p:cTn id="786" dur="indefinite" nodeType="mainSeq">
                <p:childTnLst>
                  <p:par>
                    <p:cTn id="787" fill="hold">
                      <p:stCondLst>
                        <p:cond delay="indefinite"/>
                      </p:stCondLst>
                      <p:childTnLst>
                        <p:par>
                          <p:cTn id="788" fill="hold">
                            <p:stCondLst>
                              <p:cond delay="0"/>
                            </p:stCondLst>
                            <p:childTnLst>
                              <p:par>
                                <p:cTn id="7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1" dur="500"/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2" fill="hold">
                      <p:stCondLst>
                        <p:cond delay="indefinite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id="7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6" dur="500"/>
                                        <p:tgtEl>
                                          <p:spTgt spid="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7" fill="hold">
                      <p:stCondLst>
                        <p:cond delay="indefinite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id="7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1" dur="500"/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2" fill="hold">
                      <p:stCondLst>
                        <p:cond delay="indefinite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id="8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6" dur="500"/>
                                        <p:tgtEl>
                                          <p:spTgt spid="2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7" fill="hold">
                      <p:stCondLst>
                        <p:cond delay="indefinite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1" dur="500"/>
                                        <p:tgtEl>
                                          <p:spTgt spid="2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2" fill="hold">
                      <p:stCondLst>
                        <p:cond delay="indefinite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id="8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6" dur="500"/>
                                        <p:tgtEl>
                                          <p:spTgt spid="2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7" fill="hold">
                      <p:stCondLst>
                        <p:cond delay="indefinite"/>
                      </p:stCondLst>
                      <p:childTnLst>
                        <p:par>
                          <p:cTn id="818" fill="hold">
                            <p:stCondLst>
                              <p:cond delay="0"/>
                            </p:stCondLst>
                            <p:childTnLst>
                              <p:par>
                                <p:cTn id="8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1" dur="500"/>
                                        <p:tgtEl>
                                          <p:spTgt spid="2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68720" y="2861640"/>
            <a:ext cx="11253240" cy="71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191" strike="noStrike">
                <a:solidFill>
                  <a:schemeClr val="lt1"/>
                </a:solidFill>
                <a:latin typeface="Garamond"/>
              </a:rPr>
              <a:t>Fin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cap4053_ppt_template_rev4</Template>
  <TotalTime>1904</TotalTime>
  <Application>LibreOffice/24.2.7.2$Linux_X86_64 LibreOffice_project/420$Build-2</Application>
  <AppVersion>15.0000</AppVersion>
  <Words>582</Words>
  <Paragraphs>115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2018-12-03T19:06:11Z</dcterms:created>
  <dc:creator>Jeremiah Blanchard</dc:creator>
  <dc:description/>
  <dc:language>en-US</dc:language>
  <cp:lastModifiedBy/>
  <dcterms:modified xsi:type="dcterms:W3CDTF">2025-09-10T21:31:00Z</dcterms:modified>
  <cp:revision>17</cp:revision>
  <dc:subject/>
  <dc:title>Search Spaces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Notes">
    <vt:i4>2</vt:i4>
  </property>
  <property fmtid="{D5CDD505-2E9C-101B-9397-08002B2CF9AE}" pid="8" name="PresentationFormat">
    <vt:lpwstr>Widescreen</vt:lpwstr>
  </property>
  <property fmtid="{D5CDD505-2E9C-101B-9397-08002B2CF9AE}" pid="9" name="Slides">
    <vt:i4>11</vt:i4>
  </property>
</Properties>
</file>