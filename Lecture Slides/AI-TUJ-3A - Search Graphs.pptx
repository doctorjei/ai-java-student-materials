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svg" ContentType="image/svg"/>
  <Override PartName="/ppt/media/image5.jpeg" ContentType="image/jpeg"/>
  <Override PartName="/ppt/media/image6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9075BAB-C5FD-40DE-BC4E-79114EC8285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A9AC24-1F1A-444B-9072-062487C9F89A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4248F5-87F7-42A0-8A45-1159CFBD9033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79F2DD-7FB1-439A-97E3-0851FFE73881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B9DF6D-95C4-4767-9207-699A2B70C39C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body"/>
          </p:nvPr>
        </p:nvSpPr>
        <p:spPr>
          <a:xfrm>
            <a:off x="879120" y="3003480"/>
            <a:ext cx="10433520" cy="406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Third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Fourth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Fifth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Sixth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Seventh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736200" y="1939320"/>
            <a:ext cx="10719360" cy="79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7987"/>
          </a:bodyPr>
          <a:p>
            <a:pPr indent="0"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6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573280" y="2431080"/>
            <a:ext cx="7045200" cy="167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000" spc="199" strike="noStrike">
                <a:solidFill>
                  <a:schemeClr val="lt1"/>
                </a:solidFill>
                <a:latin typeface="Arial"/>
              </a:rPr>
              <a:t>You have reached the end of this presentation.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chemeClr val="dk1"/>
                </a:solidFill>
                <a:latin typeface="Arial Regular"/>
              </a:rPr>
              <a:t>Click to edit the outline text format</a:t>
            </a:r>
            <a:endParaRPr b="0" lang="en-US" sz="2200" spc="-1" strike="noStrike">
              <a:solidFill>
                <a:schemeClr val="dk1"/>
              </a:solidFill>
              <a:latin typeface="Arial Regula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Arial Regular"/>
              </a:rPr>
              <a:t>Second Outline Level</a:t>
            </a:r>
            <a:endParaRPr b="0" lang="en-US" sz="1400" spc="-1" strike="noStrike">
              <a:solidFill>
                <a:schemeClr val="dk1"/>
              </a:solidFill>
              <a:latin typeface="Arial Regula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Arial Regular"/>
              </a:rPr>
              <a:t>Third Outline Level</a:t>
            </a:r>
            <a:endParaRPr b="0" lang="en-US" sz="1400" spc="-1" strike="noStrike">
              <a:solidFill>
                <a:schemeClr val="dk1"/>
              </a:solidFill>
              <a:latin typeface="Arial Regula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Arial Regular"/>
              </a:rPr>
              <a:t>Fourth Outline Level</a:t>
            </a:r>
            <a:endParaRPr b="0" lang="en-US" sz="1400" spc="-1" strike="noStrike">
              <a:solidFill>
                <a:schemeClr val="dk1"/>
              </a:solidFill>
              <a:latin typeface="Arial Regula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 Regular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 Regula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 Regular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 Regula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 Regular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 Regula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body"/>
          </p:nvPr>
        </p:nvSpPr>
        <p:spPr>
          <a:xfrm>
            <a:off x="740160" y="1682280"/>
            <a:ext cx="10711080" cy="46198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Edit Master text styles</a:t>
            </a:r>
            <a:endParaRPr b="0" lang="en-US" sz="3600" spc="-1" strike="noStrike">
              <a:solidFill>
                <a:schemeClr val="dk1"/>
              </a:solidFill>
              <a:latin typeface="Arial Regular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Second level</a:t>
            </a:r>
            <a:endParaRPr b="0" lang="en-US" sz="3200" spc="-1" strike="noStrike">
              <a:solidFill>
                <a:schemeClr val="dk1"/>
              </a:solidFill>
              <a:latin typeface="Arial Regular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Arial"/>
              <a:buChar char="◦"/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Wingdings 3" charset="2"/>
              <a:buChar char=""/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Fourth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Calibri"/>
              <a:buChar char="−"/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Fifth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468720" y="555480"/>
            <a:ext cx="11254320" cy="69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/>
          </p:nvPr>
        </p:nvSpPr>
        <p:spPr>
          <a:xfrm>
            <a:off x="879120" y="4998960"/>
            <a:ext cx="10433520" cy="46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Problem Space Representation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title"/>
          </p:nvPr>
        </p:nvSpPr>
        <p:spPr>
          <a:xfrm>
            <a:off x="736200" y="1526760"/>
            <a:ext cx="10719360" cy="79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6818"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6000" spc="97" strike="noStrike">
                <a:solidFill>
                  <a:schemeClr val="lt1"/>
                </a:solidFill>
                <a:latin typeface="Garamond"/>
              </a:rPr>
              <a:t>Search Graphs</a:t>
            </a:r>
            <a:endParaRPr b="0" lang="en-US" sz="60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6" name="Graphic 9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371600" y="2440080"/>
            <a:ext cx="8942400" cy="2235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39600" y="276120"/>
            <a:ext cx="102099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89" strike="noStrike">
                <a:solidFill>
                  <a:schemeClr val="lt1"/>
                </a:solidFill>
                <a:latin typeface="Garamond"/>
              </a:rPr>
              <a:t>Search Graphs: Waypoints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870480" y="1483920"/>
            <a:ext cx="10367280" cy="12333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indent="0" algn="just" defTabSz="91440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Garamond"/>
              </a:rPr>
              <a:t>With tiles, terrain and search topology (search space) are the same – but when our terrain is continuous (non-discrete), we must create a graph to represent the space based on its geometry and dimensionality (e.g.2D or 3D).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Rectangle 4"/>
          <p:cNvSpPr/>
          <p:nvPr/>
        </p:nvSpPr>
        <p:spPr>
          <a:xfrm>
            <a:off x="870480" y="2718000"/>
            <a:ext cx="10828080" cy="3726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15000"/>
              </a:lnSpc>
              <a:spcBef>
                <a:spcPts val="289"/>
              </a:spcBef>
              <a:spcAft>
                <a:spcPts val="289"/>
              </a:spcAft>
              <a:tabLst>
                <a:tab algn="l" pos="0"/>
              </a:tabLst>
            </a:pPr>
            <a:r>
              <a:rPr b="0" lang="en-US" sz="2200" spc="-1" strike="noStrike" u="sng">
                <a:solidFill>
                  <a:schemeClr val="lt1"/>
                </a:solidFill>
                <a:uFillTx/>
                <a:latin typeface="Garamond"/>
              </a:rPr>
              <a:t>Creation Graphs – Approaches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15000"/>
              </a:lnSpc>
              <a:spcBef>
                <a:spcPts val="289"/>
              </a:spcBef>
              <a:buClr>
                <a:srgbClr val="ffc000"/>
              </a:buClr>
              <a:buSzPct val="70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Hand-crafted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15000"/>
              </a:lnSpc>
              <a:spcBef>
                <a:spcPts val="28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Just the way you want, but time consuming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15000"/>
              </a:lnSpc>
              <a:spcBef>
                <a:spcPts val="1440"/>
              </a:spcBef>
              <a:buClr>
                <a:srgbClr val="ffc000"/>
              </a:buClr>
              <a:buSzPct val="70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Automated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15000"/>
              </a:lnSpc>
              <a:spcBef>
                <a:spcPts val="28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Also works well for dynamic terrain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15000"/>
              </a:lnSpc>
              <a:spcBef>
                <a:spcPts val="28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Care needed to avoid edge cases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15000"/>
              </a:lnSpc>
              <a:spcBef>
                <a:spcPts val="289"/>
              </a:spcBef>
              <a:tabLst>
                <a:tab algn="l" pos="0"/>
              </a:tabLst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marL="343080" defTabSz="457200">
              <a:lnSpc>
                <a:spcPct val="115000"/>
              </a:lnSpc>
              <a:spcBef>
                <a:spcPts val="289"/>
              </a:spcBef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Sadly, many graph generation techniques for 3D spaces are trade secrets.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39600" y="276120"/>
            <a:ext cx="102099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89" strike="noStrike">
                <a:solidFill>
                  <a:schemeClr val="lt1"/>
                </a:solidFill>
                <a:latin typeface="Garamond"/>
              </a:rPr>
              <a:t>Search Graphs: Waypoints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870480" y="1483920"/>
            <a:ext cx="10367280" cy="8924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indent="0" algn="just" defTabSz="91440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Garamond"/>
              </a:rPr>
              <a:t>With tiles, terrain and search topology (search space) are the same - but we can also represent the space with a graph based on the geometry (2D or 3D).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" name="Picture 2" descr="NodeMesh"/>
          <p:cNvPicPr/>
          <p:nvPr/>
        </p:nvPicPr>
        <p:blipFill>
          <a:blip r:embed="rId1"/>
          <a:srcRect l="0" t="0" r="0" b="26558"/>
          <a:stretch/>
        </p:blipFill>
        <p:spPr>
          <a:xfrm>
            <a:off x="7247520" y="2605320"/>
            <a:ext cx="3956040" cy="3633840"/>
          </a:xfrm>
          <a:prstGeom prst="rect">
            <a:avLst/>
          </a:prstGeom>
          <a:ln w="0">
            <a:noFill/>
          </a:ln>
        </p:spPr>
      </p:pic>
      <p:sp>
        <p:nvSpPr>
          <p:cNvPr id="23" name="Rectangle 16"/>
          <p:cNvSpPr/>
          <p:nvPr/>
        </p:nvSpPr>
        <p:spPr>
          <a:xfrm>
            <a:off x="829800" y="2516760"/>
            <a:ext cx="6400080" cy="3726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15000"/>
              </a:lnSpc>
              <a:spcBef>
                <a:spcPts val="289"/>
              </a:spcBef>
              <a:tabLst>
                <a:tab algn="l" pos="0"/>
              </a:tabLst>
            </a:pPr>
            <a:r>
              <a:rPr b="0" lang="en-US" sz="2200" spc="-1" strike="noStrike" u="sng">
                <a:solidFill>
                  <a:schemeClr val="lt1"/>
                </a:solidFill>
                <a:uFillTx/>
                <a:latin typeface="Garamond"/>
              </a:rPr>
              <a:t>Waypoint Graphs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15000"/>
              </a:lnSpc>
              <a:spcBef>
                <a:spcPts val="289"/>
              </a:spcBef>
              <a:buClr>
                <a:srgbClr val="ffc000"/>
              </a:buClr>
              <a:buSzPct val="70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Vertices are </a:t>
            </a:r>
            <a:r>
              <a:rPr b="1" i="1" lang="en-US" sz="2200" spc="-1" strike="noStrike">
                <a:solidFill>
                  <a:schemeClr val="lt1"/>
                </a:solidFill>
                <a:latin typeface="Garamond"/>
              </a:rPr>
              <a:t>points in space </a:t>
            </a:r>
            <a:r>
              <a:rPr b="1" lang="en-US" sz="2200" spc="-1" strike="noStrike">
                <a:solidFill>
                  <a:schemeClr val="lt1"/>
                </a:solidFill>
                <a:latin typeface="Garamond"/>
              </a:rPr>
              <a:t>(</a:t>
            </a:r>
            <a:r>
              <a:rPr b="1" lang="en-US" sz="2200" spc="-1" strike="noStrike">
                <a:solidFill>
                  <a:srgbClr val="00ff00"/>
                </a:solidFill>
                <a:latin typeface="Garamond"/>
              </a:rPr>
              <a:t>waypoints</a:t>
            </a:r>
            <a:r>
              <a:rPr b="1" lang="en-US" sz="2200" spc="-1" strike="noStrike">
                <a:solidFill>
                  <a:schemeClr val="lt1"/>
                </a:solidFill>
                <a:latin typeface="Garamond"/>
              </a:rPr>
              <a:t>)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15000"/>
              </a:lnSpc>
              <a:spcBef>
                <a:spcPts val="289"/>
              </a:spcBef>
              <a:buClr>
                <a:srgbClr val="ffc000"/>
              </a:buClr>
              <a:buSzPct val="70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Edges are </a:t>
            </a:r>
            <a:r>
              <a:rPr b="1" i="1" lang="en-US" sz="2200" spc="-1" strike="noStrike">
                <a:solidFill>
                  <a:schemeClr val="lt1"/>
                </a:solidFill>
                <a:latin typeface="Garamond"/>
              </a:rPr>
              <a:t>line segments </a:t>
            </a: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with length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15000"/>
              </a:lnSpc>
              <a:spcBef>
                <a:spcPts val="289"/>
              </a:spcBef>
              <a:buClr>
                <a:srgbClr val="ffc000"/>
              </a:buClr>
              <a:buSzPct val="70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Returns line-based path, point-to-point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289"/>
              </a:spcBef>
              <a:tabLst>
                <a:tab algn="l" pos="0"/>
              </a:tabLst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289"/>
              </a:spcBef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Unfortunately, waypoint graphs often suffer from suboptimal and/or unnatural looking paths due to poor placement or complex geometry (e.g., jutting walls or objects).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82400" y="312120"/>
            <a:ext cx="1127700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89" strike="noStrike">
                <a:solidFill>
                  <a:schemeClr val="lt1"/>
                </a:solidFill>
                <a:latin typeface="Garamond"/>
              </a:rPr>
              <a:t>Search Graphs: Navigation Meshes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906480" y="1555920"/>
            <a:ext cx="10367280" cy="8924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indent="0" algn="just" defTabSz="914400">
              <a:lnSpc>
                <a:spcPct val="10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Garamond"/>
              </a:rPr>
              <a:t>Rather than using points in space (waypoints) for our vertices, we can instead use polygons (usually) to represent out search space (terrain).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Rectangle 1"/>
          <p:cNvSpPr/>
          <p:nvPr/>
        </p:nvSpPr>
        <p:spPr>
          <a:xfrm>
            <a:off x="880920" y="2876760"/>
            <a:ext cx="5861520" cy="22071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15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400" spc="-1" strike="noStrike" u="sng">
                <a:solidFill>
                  <a:schemeClr val="lt1"/>
                </a:solidFill>
                <a:uFillTx/>
                <a:latin typeface="Garamond"/>
              </a:rPr>
              <a:t>Navigation Meshes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15000"/>
              </a:lnSpc>
              <a:spcBef>
                <a:spcPts val="400"/>
              </a:spcBef>
              <a:buClr>
                <a:srgbClr val="ffc000"/>
              </a:buClr>
              <a:buSzPct val="70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Vertices are polygons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15000"/>
              </a:lnSpc>
              <a:spcBef>
                <a:spcPts val="400"/>
              </a:spcBef>
              <a:buClr>
                <a:srgbClr val="ffc000"/>
              </a:buClr>
              <a:buSzPct val="70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Edges are </a:t>
            </a:r>
            <a:r>
              <a:rPr b="1" lang="en-US" sz="2400" spc="-1" strike="noStrike">
                <a:solidFill>
                  <a:srgbClr val="00ff00"/>
                </a:solidFill>
                <a:latin typeface="Garamond"/>
              </a:rPr>
              <a:t>portals</a:t>
            </a: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 between polygons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15000"/>
              </a:lnSpc>
              <a:spcBef>
                <a:spcPts val="400"/>
              </a:spcBef>
              <a:buClr>
                <a:srgbClr val="ffc000"/>
              </a:buClr>
              <a:buSzPct val="70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Returns a polygon </a:t>
            </a:r>
            <a:r>
              <a:rPr b="1" lang="en-US" sz="2400" spc="-1" strike="noStrike">
                <a:solidFill>
                  <a:srgbClr val="00ff00"/>
                </a:solidFill>
                <a:latin typeface="Garamond"/>
              </a:rPr>
              <a:t>channel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Rectangle 17"/>
          <p:cNvSpPr/>
          <p:nvPr/>
        </p:nvSpPr>
        <p:spPr>
          <a:xfrm>
            <a:off x="870480" y="5563800"/>
            <a:ext cx="10548000" cy="621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Navigation meshes usually require additional techniques to develop a path from the channel ( such as funneling.)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8" name=""/>
          <p:cNvGrpSpPr/>
          <p:nvPr/>
        </p:nvGrpSpPr>
        <p:grpSpPr>
          <a:xfrm>
            <a:off x="7191360" y="2804760"/>
            <a:ext cx="4051800" cy="2471760"/>
            <a:chOff x="7191360" y="2804760"/>
            <a:chExt cx="4051800" cy="2471760"/>
          </a:xfrm>
        </p:grpSpPr>
        <p:sp>
          <p:nvSpPr>
            <p:cNvPr id="29" name=""/>
            <p:cNvSpPr/>
            <p:nvPr/>
          </p:nvSpPr>
          <p:spPr>
            <a:xfrm>
              <a:off x="7191360" y="2804760"/>
              <a:ext cx="4051800" cy="2345040"/>
            </a:xfrm>
            <a:prstGeom prst="rect">
              <a:avLst/>
            </a:prstGeom>
            <a:solidFill>
              <a:srgbClr val="666666"/>
            </a:solidFill>
            <a:ln w="0">
              <a:solidFill>
                <a:srgbClr val="dddddd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" name="Isosceles Triangle 10"/>
            <p:cNvSpPr/>
            <p:nvPr/>
          </p:nvSpPr>
          <p:spPr>
            <a:xfrm rot="2896800">
              <a:off x="9690840" y="3126960"/>
              <a:ext cx="836280" cy="804960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>
              <a:solidFill>
                <a:srgbClr val="bfbfb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31" name="Isosceles Triangle 9"/>
            <p:cNvSpPr/>
            <p:nvPr/>
          </p:nvSpPr>
          <p:spPr>
            <a:xfrm rot="20697000">
              <a:off x="9486360" y="3444480"/>
              <a:ext cx="510840" cy="746280"/>
            </a:xfrm>
            <a:prstGeom prst="triangle">
              <a:avLst>
                <a:gd name="adj" fmla="val 25748"/>
              </a:avLst>
            </a:prstGeom>
            <a:solidFill>
              <a:schemeClr val="bg1">
                <a:lumMod val="50000"/>
              </a:schemeClr>
            </a:solidFill>
            <a:ln>
              <a:solidFill>
                <a:srgbClr val="bfbfb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32" name="Isosceles Triangle 55"/>
            <p:cNvSpPr/>
            <p:nvPr/>
          </p:nvSpPr>
          <p:spPr>
            <a:xfrm rot="19196400">
              <a:off x="10268280" y="3734640"/>
              <a:ext cx="806040" cy="814680"/>
            </a:xfrm>
            <a:prstGeom prst="triangle">
              <a:avLst>
                <a:gd name="adj" fmla="val 97317"/>
              </a:avLst>
            </a:prstGeom>
            <a:solidFill>
              <a:schemeClr val="bg1">
                <a:lumMod val="50000"/>
              </a:schemeClr>
            </a:solidFill>
            <a:ln>
              <a:solidFill>
                <a:srgbClr val="bfbfb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33" name="Isosceles Triangle 6"/>
            <p:cNvSpPr/>
            <p:nvPr/>
          </p:nvSpPr>
          <p:spPr>
            <a:xfrm rot="21295800">
              <a:off x="7807680" y="3378960"/>
              <a:ext cx="1739880" cy="934200"/>
            </a:xfrm>
            <a:prstGeom prst="triangle">
              <a:avLst>
                <a:gd name="adj" fmla="val 21277"/>
              </a:avLst>
            </a:prstGeom>
            <a:solidFill>
              <a:schemeClr val="bg1">
                <a:lumMod val="50000"/>
              </a:schemeClr>
            </a:solidFill>
            <a:ln>
              <a:solidFill>
                <a:srgbClr val="bfbfb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34" name="Isosceles Triangle 5"/>
            <p:cNvSpPr/>
            <p:nvPr/>
          </p:nvSpPr>
          <p:spPr>
            <a:xfrm rot="2586600">
              <a:off x="7382160" y="3299400"/>
              <a:ext cx="888480" cy="907560"/>
            </a:xfrm>
            <a:prstGeom prst="triangle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solidFill>
                <a:srgbClr val="bfbfb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lt1"/>
                </a:solidFill>
                <a:latin typeface="Arial"/>
              </a:endParaRPr>
            </a:p>
          </p:txBody>
        </p:sp>
        <p:cxnSp>
          <p:nvCxnSpPr>
            <p:cNvPr id="35" name="Straight Connector 28"/>
            <p:cNvCxnSpPr>
              <a:stCxn id="33" idx="0"/>
              <a:endCxn id="36" idx="4"/>
            </p:cNvCxnSpPr>
            <p:nvPr/>
          </p:nvCxnSpPr>
          <p:spPr>
            <a:xfrm flipH="1">
              <a:off x="7847280" y="3425760"/>
              <a:ext cx="291960" cy="969840"/>
            </a:xfrm>
            <a:prstGeom prst="straightConnector1">
              <a:avLst/>
            </a:prstGeom>
            <a:ln w="38100">
              <a:solidFill>
                <a:srgbClr val="bf00bf"/>
              </a:solidFill>
              <a:round/>
            </a:ln>
          </p:spPr>
        </p:cxnSp>
        <p:cxnSp>
          <p:nvCxnSpPr>
            <p:cNvPr id="37" name="Straight Connector 32"/>
            <p:cNvCxnSpPr>
              <a:stCxn id="31" idx="0"/>
              <a:endCxn id="31" idx="4"/>
            </p:cNvCxnSpPr>
            <p:nvPr/>
          </p:nvCxnSpPr>
          <p:spPr>
            <a:xfrm>
              <a:off x="9525600" y="3489840"/>
              <a:ext cx="560520" cy="622800"/>
            </a:xfrm>
            <a:prstGeom prst="straightConnector1">
              <a:avLst/>
            </a:prstGeom>
            <a:ln w="38100">
              <a:solidFill>
                <a:srgbClr val="bf00bf"/>
              </a:solidFill>
              <a:round/>
            </a:ln>
          </p:spPr>
        </p:cxnSp>
        <p:sp>
          <p:nvSpPr>
            <p:cNvPr id="38" name="Isosceles Triangle 51"/>
            <p:cNvSpPr/>
            <p:nvPr/>
          </p:nvSpPr>
          <p:spPr>
            <a:xfrm rot="8353200">
              <a:off x="10261440" y="3743280"/>
              <a:ext cx="798480" cy="806400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50000"/>
              </a:schemeClr>
            </a:solidFill>
            <a:ln>
              <a:solidFill>
                <a:srgbClr val="bfbfb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9669240" y="4110840"/>
              <a:ext cx="951120" cy="1009080"/>
            </a:xfrm>
            <a:custGeom>
              <a:avLst/>
              <a:gdLst>
                <a:gd name="textAreaLeft" fmla="*/ 0 w 951120"/>
                <a:gd name="textAreaRight" fmla="*/ 951840 w 951120"/>
                <a:gd name="textAreaTop" fmla="*/ 0 h 1009080"/>
                <a:gd name="textAreaBottom" fmla="*/ 1009800 h 1009080"/>
              </a:gdLst>
              <a:ahLst/>
              <a:rect l="textAreaLeft" t="textAreaTop" r="textAreaRight" b="textAreaBottom"/>
              <a:pathLst>
                <a:path w="2644" h="2805">
                  <a:moveTo>
                    <a:pt x="2644" y="1676"/>
                  </a:moveTo>
                  <a:lnTo>
                    <a:pt x="0" y="2805"/>
                  </a:lnTo>
                  <a:lnTo>
                    <a:pt x="1160" y="0"/>
                  </a:lnTo>
                  <a:lnTo>
                    <a:pt x="2644" y="1676"/>
                  </a:lnTo>
                  <a:close/>
                </a:path>
              </a:pathLst>
            </a:custGeom>
            <a:solidFill>
              <a:srgbClr val="808080"/>
            </a:solidFill>
            <a:ln w="19080">
              <a:solidFill>
                <a:srgbClr val="bfbf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9360" rIns="99360" tIns="54360" bIns="5436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" name="Isosceles Triangle 8"/>
            <p:cNvSpPr/>
            <p:nvPr/>
          </p:nvSpPr>
          <p:spPr>
            <a:xfrm flipV="1" rot="20724600">
              <a:off x="9556920" y="4177440"/>
              <a:ext cx="644400" cy="874080"/>
            </a:xfrm>
            <a:prstGeom prst="triangle">
              <a:avLst>
                <a:gd name="adj" fmla="val 0"/>
              </a:avLst>
            </a:prstGeom>
            <a:solidFill>
              <a:schemeClr val="bg1">
                <a:lumMod val="50000"/>
              </a:schemeClr>
            </a:solidFill>
            <a:ln>
              <a:solidFill>
                <a:srgbClr val="bfbfb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lt1"/>
                </a:solidFill>
                <a:latin typeface="Arial"/>
              </a:endParaRPr>
            </a:p>
          </p:txBody>
        </p:sp>
        <p:sp>
          <p:nvSpPr>
            <p:cNvPr id="36" name="Isosceles Triangle 7"/>
            <p:cNvSpPr/>
            <p:nvPr/>
          </p:nvSpPr>
          <p:spPr>
            <a:xfrm rot="10495800">
              <a:off x="7882560" y="4315680"/>
              <a:ext cx="1750320" cy="884880"/>
            </a:xfrm>
            <a:prstGeom prst="triangle">
              <a:avLst>
                <a:gd name="adj" fmla="val 0"/>
              </a:avLst>
            </a:prstGeom>
            <a:solidFill>
              <a:schemeClr val="bg1">
                <a:lumMod val="50000"/>
              </a:schemeClr>
            </a:solidFill>
            <a:ln>
              <a:solidFill>
                <a:srgbClr val="bfbfb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lt1"/>
                </a:solidFill>
                <a:latin typeface="Arial"/>
              </a:endParaRPr>
            </a:p>
          </p:txBody>
        </p:sp>
        <p:cxnSp>
          <p:nvCxnSpPr>
            <p:cNvPr id="41" name="Straight Connector 25"/>
            <p:cNvCxnSpPr>
              <a:stCxn id="36" idx="2"/>
              <a:endCxn id="33" idx="2"/>
            </p:cNvCxnSpPr>
            <p:nvPr/>
          </p:nvCxnSpPr>
          <p:spPr>
            <a:xfrm flipH="1">
              <a:off x="7852680" y="4240440"/>
              <a:ext cx="1738800" cy="148320"/>
            </a:xfrm>
            <a:prstGeom prst="straightConnector1">
              <a:avLst/>
            </a:prstGeom>
            <a:ln w="38100">
              <a:solidFill>
                <a:srgbClr val="bf00bf"/>
              </a:solidFill>
              <a:round/>
            </a:ln>
          </p:spPr>
        </p:cxnSp>
        <p:cxnSp>
          <p:nvCxnSpPr>
            <p:cNvPr id="42" name="Straight Connector 30"/>
            <p:cNvCxnSpPr>
              <a:stCxn id="31" idx="4"/>
              <a:endCxn id="31" idx="2"/>
            </p:cNvCxnSpPr>
            <p:nvPr/>
          </p:nvCxnSpPr>
          <p:spPr>
            <a:xfrm flipH="1">
              <a:off x="9592560" y="4112280"/>
              <a:ext cx="493560" cy="132480"/>
            </a:xfrm>
            <a:prstGeom prst="straightConnector1">
              <a:avLst/>
            </a:prstGeom>
            <a:ln w="38100">
              <a:solidFill>
                <a:srgbClr val="bf00bf"/>
              </a:solidFill>
              <a:round/>
            </a:ln>
          </p:spPr>
        </p:cxnSp>
        <p:cxnSp>
          <p:nvCxnSpPr>
            <p:cNvPr id="43" name="Straight Connector 29"/>
            <p:cNvCxnSpPr>
              <a:stCxn id="31" idx="2"/>
              <a:endCxn id="40" idx="0"/>
            </p:cNvCxnSpPr>
            <p:nvPr/>
          </p:nvCxnSpPr>
          <p:spPr>
            <a:xfrm>
              <a:off x="9592560" y="4244400"/>
              <a:ext cx="85320" cy="875160"/>
            </a:xfrm>
            <a:prstGeom prst="straightConnector1">
              <a:avLst/>
            </a:prstGeom>
            <a:ln w="38100">
              <a:solidFill>
                <a:srgbClr val="bf00bf"/>
              </a:solidFill>
              <a:round/>
            </a:ln>
          </p:spPr>
        </p:cxnSp>
        <p:cxnSp>
          <p:nvCxnSpPr>
            <p:cNvPr id="44" name="Straight Arrow Connector 69"/>
            <p:cNvCxnSpPr>
              <a:stCxn id="33" idx="4"/>
              <a:endCxn id="36" idx="2"/>
            </p:cNvCxnSpPr>
            <p:nvPr/>
          </p:nvCxnSpPr>
          <p:spPr>
            <a:xfrm>
              <a:off x="9585360" y="4235400"/>
              <a:ext cx="6120" cy="5400"/>
            </a:xfrm>
            <a:prstGeom prst="straightConnector1">
              <a:avLst/>
            </a:prstGeom>
            <a:ln w="38100">
              <a:solidFill>
                <a:srgbClr val="0070c0"/>
              </a:solidFill>
              <a:round/>
              <a:tailEnd len="med" type="diamond" w="med"/>
            </a:ln>
          </p:spPr>
        </p:cxnSp>
        <p:cxnSp>
          <p:nvCxnSpPr>
            <p:cNvPr id="45" name="Straight Connector 56"/>
            <p:cNvCxnSpPr>
              <a:stCxn id="32" idx="0"/>
              <a:endCxn id="38" idx="0"/>
            </p:cNvCxnSpPr>
            <p:nvPr/>
          </p:nvCxnSpPr>
          <p:spPr>
            <a:xfrm flipH="1">
              <a:off x="10621440" y="3585240"/>
              <a:ext cx="79920" cy="1127880"/>
            </a:xfrm>
            <a:prstGeom prst="straightConnector1">
              <a:avLst/>
            </a:prstGeom>
            <a:ln w="38100">
              <a:solidFill>
                <a:srgbClr val="bf00bf"/>
              </a:solidFill>
              <a:round/>
            </a:ln>
          </p:spPr>
        </p:cxnSp>
        <p:cxnSp>
          <p:nvCxnSpPr>
            <p:cNvPr id="46" name="Straight Connector 52"/>
            <p:cNvCxnSpPr>
              <a:stCxn id="32" idx="0"/>
              <a:endCxn id="40" idx="4"/>
            </p:cNvCxnSpPr>
            <p:nvPr/>
          </p:nvCxnSpPr>
          <p:spPr>
            <a:xfrm flipH="1">
              <a:off x="10081080" y="3585240"/>
              <a:ext cx="620280" cy="525960"/>
            </a:xfrm>
            <a:prstGeom prst="straightConnector1">
              <a:avLst/>
            </a:prstGeom>
            <a:ln w="38100">
              <a:solidFill>
                <a:srgbClr val="bf00bf"/>
              </a:solidFill>
              <a:round/>
            </a:ln>
          </p:spPr>
        </p:cxnSp>
        <p:cxnSp>
          <p:nvCxnSpPr>
            <p:cNvPr id="47" name="Straight Connector 1"/>
            <p:cNvCxnSpPr>
              <a:endCxn id="36" idx="0"/>
            </p:cNvCxnSpPr>
            <p:nvPr/>
          </p:nvCxnSpPr>
          <p:spPr>
            <a:xfrm flipH="1">
              <a:off x="9668880" y="4110480"/>
              <a:ext cx="414720" cy="1011960"/>
            </a:xfrm>
            <a:prstGeom prst="straightConnector1">
              <a:avLst/>
            </a:prstGeom>
            <a:ln w="38100">
              <a:solidFill>
                <a:srgbClr val="bf00bf"/>
              </a:solidFill>
              <a:round/>
            </a:ln>
          </p:spPr>
        </p:cxnSp>
        <p:cxnSp>
          <p:nvCxnSpPr>
            <p:cNvPr id="48" name="Straight Connector 2"/>
            <p:cNvCxnSpPr/>
            <p:nvPr/>
          </p:nvCxnSpPr>
          <p:spPr>
            <a:xfrm>
              <a:off x="9526320" y="3490200"/>
              <a:ext cx="561240" cy="623160"/>
            </a:xfrm>
            <a:prstGeom prst="straightConnector1">
              <a:avLst/>
            </a:prstGeom>
            <a:ln w="38100">
              <a:solidFill>
                <a:srgbClr val="bf00bf"/>
              </a:solidFill>
              <a:round/>
            </a:ln>
          </p:spPr>
        </p:cxnSp>
        <p:cxnSp>
          <p:nvCxnSpPr>
            <p:cNvPr id="49" name="Straight Connector 3"/>
            <p:cNvCxnSpPr/>
            <p:nvPr/>
          </p:nvCxnSpPr>
          <p:spPr>
            <a:xfrm>
              <a:off x="10094400" y="4110480"/>
              <a:ext cx="540720" cy="608760"/>
            </a:xfrm>
            <a:prstGeom prst="straightConnector1">
              <a:avLst/>
            </a:prstGeom>
            <a:ln w="38100">
              <a:solidFill>
                <a:srgbClr val="bf00bf"/>
              </a:solidFill>
              <a:round/>
            </a:ln>
          </p:spPr>
        </p:cxnSp>
        <p:sp>
          <p:nvSpPr>
            <p:cNvPr id="50" name="Isosceles Triangle 1"/>
            <p:cNvSpPr/>
            <p:nvPr/>
          </p:nvSpPr>
          <p:spPr>
            <a:xfrm flipV="1" rot="12555000">
              <a:off x="8179920" y="3241800"/>
              <a:ext cx="1667880" cy="625320"/>
            </a:xfrm>
            <a:prstGeom prst="triangle">
              <a:avLst>
                <a:gd name="adj" fmla="val 25705"/>
              </a:avLst>
            </a:prstGeom>
            <a:solidFill>
              <a:schemeClr val="bg1">
                <a:lumMod val="50000"/>
              </a:schemeClr>
            </a:solidFill>
            <a:ln>
              <a:solidFill>
                <a:srgbClr val="bfbfb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chemeClr val="lt1"/>
                </a:solidFill>
                <a:latin typeface="Arial"/>
              </a:endParaRPr>
            </a:p>
          </p:txBody>
        </p:sp>
        <p:cxnSp>
          <p:nvCxnSpPr>
            <p:cNvPr id="51" name="Straight Connector 4"/>
            <p:cNvCxnSpPr>
              <a:stCxn id="50" idx="2"/>
              <a:endCxn id="50" idx="4"/>
            </p:cNvCxnSpPr>
            <p:nvPr/>
          </p:nvCxnSpPr>
          <p:spPr>
            <a:xfrm flipH="1" flipV="1">
              <a:off x="8134200" y="3420360"/>
              <a:ext cx="1455840" cy="815400"/>
            </a:xfrm>
            <a:prstGeom prst="straightConnector1">
              <a:avLst/>
            </a:prstGeom>
            <a:ln w="38100">
              <a:solidFill>
                <a:srgbClr val="bf00bf"/>
              </a:solidFill>
              <a:round/>
            </a:ln>
          </p:spPr>
        </p:cxnSp>
        <p:cxnSp>
          <p:nvCxnSpPr>
            <p:cNvPr id="52" name="Straight Connector 5"/>
            <p:cNvCxnSpPr>
              <a:stCxn id="50" idx="0"/>
              <a:endCxn id="50" idx="2"/>
            </p:cNvCxnSpPr>
            <p:nvPr/>
          </p:nvCxnSpPr>
          <p:spPr>
            <a:xfrm>
              <a:off x="9521280" y="3480120"/>
              <a:ext cx="68760" cy="755640"/>
            </a:xfrm>
            <a:prstGeom prst="straightConnector1">
              <a:avLst/>
            </a:prstGeom>
            <a:ln w="38100">
              <a:solidFill>
                <a:srgbClr val="bf00bf"/>
              </a:solidFill>
              <a:round/>
            </a:ln>
          </p:spPr>
        </p:cxnSp>
        <p:sp>
          <p:nvSpPr>
            <p:cNvPr id="53" name=""/>
            <p:cNvSpPr/>
            <p:nvPr/>
          </p:nvSpPr>
          <p:spPr>
            <a:xfrm>
              <a:off x="9520920" y="2804760"/>
              <a:ext cx="1167120" cy="775440"/>
            </a:xfrm>
            <a:custGeom>
              <a:avLst/>
              <a:gdLst>
                <a:gd name="textAreaLeft" fmla="*/ 0 w 1167120"/>
                <a:gd name="textAreaRight" fmla="*/ 1167840 w 1167120"/>
                <a:gd name="textAreaTop" fmla="*/ 0 h 775440"/>
                <a:gd name="textAreaBottom" fmla="*/ 776160 h 775440"/>
              </a:gdLst>
              <a:ahLst/>
              <a:rect l="textAreaLeft" t="textAreaTop" r="textAreaRight" b="textAreaBottom"/>
              <a:pathLst>
                <a:path w="3244" h="2156">
                  <a:moveTo>
                    <a:pt x="3244" y="2156"/>
                  </a:moveTo>
                  <a:lnTo>
                    <a:pt x="2553" y="0"/>
                  </a:lnTo>
                  <a:lnTo>
                    <a:pt x="0" y="1882"/>
                  </a:lnTo>
                  <a:lnTo>
                    <a:pt x="3244" y="2156"/>
                  </a:lnTo>
                  <a:close/>
                </a:path>
              </a:pathLst>
            </a:custGeom>
            <a:noFill/>
            <a:ln w="0">
              <a:solidFill>
                <a:srgbClr val="dddddd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8139600" y="2804760"/>
              <a:ext cx="1380600" cy="684720"/>
            </a:xfrm>
            <a:custGeom>
              <a:avLst/>
              <a:gdLst>
                <a:gd name="textAreaLeft" fmla="*/ 0 w 1380600"/>
                <a:gd name="textAreaRight" fmla="*/ 1381320 w 1380600"/>
                <a:gd name="textAreaTop" fmla="*/ 0 h 684720"/>
                <a:gd name="textAreaBottom" fmla="*/ 685440 h 684720"/>
              </a:gdLst>
              <a:ahLst/>
              <a:rect l="textAreaLeft" t="textAreaTop" r="textAreaRight" b="textAreaBottom"/>
              <a:pathLst>
                <a:path w="3837" h="1904">
                  <a:moveTo>
                    <a:pt x="0" y="1725"/>
                  </a:moveTo>
                  <a:lnTo>
                    <a:pt x="886" y="0"/>
                  </a:lnTo>
                  <a:lnTo>
                    <a:pt x="3837" y="1904"/>
                  </a:lnTo>
                  <a:lnTo>
                    <a:pt x="0" y="1716"/>
                  </a:lnTo>
                  <a:lnTo>
                    <a:pt x="0" y="1725"/>
                  </a:lnTo>
                  <a:close/>
                </a:path>
              </a:pathLst>
            </a:custGeom>
            <a:noFill/>
            <a:ln w="0">
              <a:solidFill>
                <a:srgbClr val="dddddd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7191360" y="2804760"/>
              <a:ext cx="947520" cy="974160"/>
            </a:xfrm>
            <a:custGeom>
              <a:avLst/>
              <a:gdLst>
                <a:gd name="textAreaLeft" fmla="*/ 0 w 947520"/>
                <a:gd name="textAreaRight" fmla="*/ 948240 w 947520"/>
                <a:gd name="textAreaTop" fmla="*/ 0 h 974160"/>
                <a:gd name="textAreaBottom" fmla="*/ 974880 h 974160"/>
              </a:gdLst>
              <a:ahLst/>
              <a:rect l="textAreaLeft" t="textAreaTop" r="textAreaRight" b="textAreaBottom"/>
              <a:pathLst>
                <a:path w="2634" h="2708">
                  <a:moveTo>
                    <a:pt x="2634" y="1716"/>
                  </a:moveTo>
                  <a:lnTo>
                    <a:pt x="885" y="0"/>
                  </a:lnTo>
                  <a:lnTo>
                    <a:pt x="0" y="2708"/>
                  </a:lnTo>
                  <a:lnTo>
                    <a:pt x="2634" y="1716"/>
                  </a:lnTo>
                  <a:close/>
                </a:path>
              </a:pathLst>
            </a:custGeom>
            <a:noFill/>
            <a:ln w="0">
              <a:solidFill>
                <a:srgbClr val="dddddd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10593360" y="4713480"/>
              <a:ext cx="649800" cy="436320"/>
            </a:xfrm>
            <a:custGeom>
              <a:avLst/>
              <a:gdLst>
                <a:gd name="textAreaLeft" fmla="*/ 0 w 649800"/>
                <a:gd name="textAreaRight" fmla="*/ 650520 w 649800"/>
                <a:gd name="textAreaTop" fmla="*/ 0 h 436320"/>
                <a:gd name="textAreaBottom" fmla="*/ 437040 h 436320"/>
              </a:gdLst>
              <a:ahLst/>
              <a:rect l="textAreaLeft" t="textAreaTop" r="textAreaRight" b="textAreaBottom"/>
              <a:pathLst>
                <a:path w="1807" h="1214">
                  <a:moveTo>
                    <a:pt x="78" y="0"/>
                  </a:moveTo>
                  <a:lnTo>
                    <a:pt x="0" y="1214"/>
                  </a:lnTo>
                  <a:lnTo>
                    <a:pt x="1807" y="1214"/>
                  </a:lnTo>
                  <a:lnTo>
                    <a:pt x="76" y="2"/>
                  </a:lnTo>
                  <a:lnTo>
                    <a:pt x="78" y="13"/>
                  </a:lnTo>
                  <a:lnTo>
                    <a:pt x="78" y="0"/>
                  </a:lnTo>
                  <a:close/>
                </a:path>
              </a:pathLst>
            </a:custGeom>
            <a:noFill/>
            <a:ln w="0">
              <a:solidFill>
                <a:srgbClr val="dddddd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7191360" y="4389480"/>
              <a:ext cx="821880" cy="760320"/>
            </a:xfrm>
            <a:custGeom>
              <a:avLst/>
              <a:gdLst>
                <a:gd name="textAreaLeft" fmla="*/ 0 w 821880"/>
                <a:gd name="textAreaRight" fmla="*/ 822600 w 821880"/>
                <a:gd name="textAreaTop" fmla="*/ 0 h 760320"/>
                <a:gd name="textAreaBottom" fmla="*/ 761040 h 760320"/>
              </a:gdLst>
              <a:ahLst/>
              <a:rect l="textAreaLeft" t="textAreaTop" r="textAreaRight" b="textAreaBottom"/>
              <a:pathLst>
                <a:path w="2285" h="2114">
                  <a:moveTo>
                    <a:pt x="1840" y="0"/>
                  </a:moveTo>
                  <a:lnTo>
                    <a:pt x="0" y="2114"/>
                  </a:lnTo>
                  <a:lnTo>
                    <a:pt x="2285" y="2114"/>
                  </a:lnTo>
                  <a:lnTo>
                    <a:pt x="1840" y="19"/>
                  </a:lnTo>
                  <a:lnTo>
                    <a:pt x="1840" y="0"/>
                  </a:lnTo>
                  <a:close/>
                </a:path>
              </a:pathLst>
            </a:custGeom>
            <a:noFill/>
            <a:ln w="0">
              <a:solidFill>
                <a:srgbClr val="dddddd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10688760" y="2804760"/>
              <a:ext cx="554400" cy="779400"/>
            </a:xfrm>
            <a:custGeom>
              <a:avLst/>
              <a:gdLst>
                <a:gd name="textAreaLeft" fmla="*/ 0 w 554400"/>
                <a:gd name="textAreaRight" fmla="*/ 555120 w 554400"/>
                <a:gd name="textAreaTop" fmla="*/ 0 h 779400"/>
                <a:gd name="textAreaBottom" fmla="*/ 780120 h 779400"/>
              </a:gdLst>
              <a:ahLst/>
              <a:rect l="textAreaLeft" t="textAreaTop" r="textAreaRight" b="textAreaBottom"/>
              <a:pathLst>
                <a:path w="1542" h="2167">
                  <a:moveTo>
                    <a:pt x="0" y="2156"/>
                  </a:moveTo>
                  <a:lnTo>
                    <a:pt x="1542" y="0"/>
                  </a:lnTo>
                  <a:lnTo>
                    <a:pt x="1542" y="2128"/>
                  </a:lnTo>
                  <a:lnTo>
                    <a:pt x="0" y="2167"/>
                  </a:lnTo>
                  <a:lnTo>
                    <a:pt x="0" y="2156"/>
                  </a:lnTo>
                  <a:close/>
                </a:path>
              </a:pathLst>
            </a:custGeom>
            <a:noFill/>
            <a:ln w="0">
              <a:solidFill>
                <a:srgbClr val="dddddd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68720" y="303480"/>
            <a:ext cx="11253240" cy="108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89" strike="noStrike">
                <a:solidFill>
                  <a:schemeClr val="lt1"/>
                </a:solidFill>
                <a:latin typeface="Garamond"/>
              </a:rPr>
              <a:t>Graphs: Preplanning Tables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50080" y="1570680"/>
            <a:ext cx="6450840" cy="45118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80555"/>
          </a:bodyPr>
          <a:p>
            <a:pPr indent="0" defTabSz="914400">
              <a:lnSpc>
                <a:spcPct val="100000"/>
              </a:lnSpc>
              <a:spcBef>
                <a:spcPts val="575"/>
              </a:spcBef>
              <a:buNone/>
              <a:tabLst>
                <a:tab algn="l" pos="0"/>
              </a:tabLst>
            </a:pPr>
            <a:r>
              <a:rPr b="0" lang="en-US" sz="2800" spc="-1" strike="noStrike" u="sng">
                <a:solidFill>
                  <a:srgbClr val="ffffff"/>
                </a:solidFill>
                <a:uFillTx/>
                <a:latin typeface="Garamond"/>
              </a:rPr>
              <a:t>Preplanning Benefits: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413640" indent="-285840" defTabSz="914400">
              <a:lnSpc>
                <a:spcPct val="100000"/>
              </a:lnSpc>
              <a:spcBef>
                <a:spcPts val="575"/>
              </a:spcBef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900" spc="-1" strike="noStrike">
                <a:solidFill>
                  <a:srgbClr val="ffffff"/>
                </a:solidFill>
                <a:latin typeface="Garamond"/>
              </a:rPr>
              <a:t> </a:t>
            </a:r>
            <a:r>
              <a:rPr b="0" lang="en-US" sz="2900" spc="-1" strike="noStrike">
                <a:solidFill>
                  <a:srgbClr val="ffffff"/>
                </a:solidFill>
                <a:latin typeface="Garamond"/>
              </a:rPr>
              <a:t>Extremely</a:t>
            </a:r>
            <a:r>
              <a:rPr b="0" lang="en-US" sz="2800" spc="-1" strike="noStrike">
                <a:solidFill>
                  <a:srgbClr val="ffffff"/>
                </a:solidFill>
                <a:latin typeface="Garamond"/>
              </a:rPr>
              <a:t> Fast (at search time)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413640" indent="-285840" defTabSz="914400">
              <a:lnSpc>
                <a:spcPct val="100000"/>
              </a:lnSpc>
              <a:spcBef>
                <a:spcPts val="575"/>
              </a:spcBef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Garamond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Garamond"/>
              </a:rPr>
              <a:t>Memory friendly (at search time)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575"/>
              </a:spcBef>
              <a:buNone/>
              <a:tabLst>
                <a:tab algn="l" pos="0"/>
              </a:tabLst>
            </a:pPr>
            <a:br>
              <a:rPr sz="2800"/>
            </a:br>
            <a:r>
              <a:rPr b="0" lang="en-US" sz="2800" spc="-1" strike="noStrike" u="sng">
                <a:solidFill>
                  <a:srgbClr val="ffffff"/>
                </a:solidFill>
                <a:uFillTx/>
                <a:latin typeface="Garamond"/>
              </a:rPr>
              <a:t>Preplanning Drawbacks: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413640" indent="-285840" defTabSz="914400">
              <a:lnSpc>
                <a:spcPct val="100000"/>
              </a:lnSpc>
              <a:spcBef>
                <a:spcPts val="575"/>
              </a:spcBef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900" spc="-1" strike="noStrike">
                <a:solidFill>
                  <a:srgbClr val="ffffff"/>
                </a:solidFill>
                <a:latin typeface="Garamond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Garamond"/>
              </a:rPr>
              <a:t>Not dynamic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413640" indent="-285840" defTabSz="914400">
              <a:lnSpc>
                <a:spcPct val="100000"/>
              </a:lnSpc>
              <a:spcBef>
                <a:spcPts val="575"/>
              </a:spcBef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Garamond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Garamond"/>
              </a:rPr>
              <a:t>Exponential memory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575"/>
              </a:spcBef>
              <a:buNone/>
              <a:tabLst>
                <a:tab algn="l" pos="0"/>
              </a:tabLst>
            </a:pPr>
            <a:br>
              <a:rPr sz="2800"/>
            </a:br>
            <a:r>
              <a:rPr b="0" lang="en-US" sz="2800" spc="-1" strike="noStrike" u="sng">
                <a:solidFill>
                  <a:srgbClr val="ffffff"/>
                </a:solidFill>
                <a:uFillTx/>
                <a:latin typeface="Garamond"/>
              </a:rPr>
              <a:t>Mitigation Techniques: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413640" indent="-285840" defTabSz="914400">
              <a:lnSpc>
                <a:spcPct val="100000"/>
              </a:lnSpc>
              <a:spcBef>
                <a:spcPts val="575"/>
              </a:spcBef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900" spc="-1" strike="noStrike">
                <a:solidFill>
                  <a:srgbClr val="ffffff"/>
                </a:solidFill>
                <a:latin typeface="Garamond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Garamond"/>
              </a:rPr>
              <a:t>Smaller data types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413640" indent="-285840" defTabSz="914400">
              <a:lnSpc>
                <a:spcPct val="100000"/>
              </a:lnSpc>
              <a:spcBef>
                <a:spcPts val="575"/>
              </a:spcBef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Garamond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Garamond"/>
              </a:rPr>
              <a:t>Relative indexing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1" name="Picture 5" descr="NodeMesh-PrePlanned"/>
          <p:cNvPicPr/>
          <p:nvPr/>
        </p:nvPicPr>
        <p:blipFill>
          <a:blip r:embed="rId1"/>
          <a:srcRect l="0" t="0" r="0" b="29854"/>
          <a:stretch/>
        </p:blipFill>
        <p:spPr>
          <a:xfrm>
            <a:off x="4235400" y="2946600"/>
            <a:ext cx="3679920" cy="3402720"/>
          </a:xfrm>
          <a:prstGeom prst="rect">
            <a:avLst/>
          </a:prstGeom>
          <a:ln w="0">
            <a:noFill/>
          </a:ln>
        </p:spPr>
      </p:pic>
      <p:pic>
        <p:nvPicPr>
          <p:cNvPr id="62" name="Picture 6" descr="NodeMesh-PrePlanned"/>
          <p:cNvPicPr/>
          <p:nvPr/>
        </p:nvPicPr>
        <p:blipFill>
          <a:blip r:embed="rId2"/>
          <a:srcRect l="52306" t="70906" r="9846" b="2332"/>
          <a:stretch/>
        </p:blipFill>
        <p:spPr>
          <a:xfrm>
            <a:off x="7986240" y="2947320"/>
            <a:ext cx="3651840" cy="3407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" dur="500" fill="hold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" dur="500" fill="hold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" dur="500" fill="hold"/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" dur="500" fill="hold"/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" dur="500" fill="hold"/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" dur="500" fill="hold"/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" dur="500" fill="hold"/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" dur="500" fill="hold"/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" dur="500" fill="hold"/>
                                        <p:tgtEl>
                                          <p:spTgt spid="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" dur="500" fill="hold"/>
                                        <p:tgtEl>
                                          <p:spTgt spid="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" dur="500" fill="hold"/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" dur="500" fill="hold"/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cap4053_ppt_template</Template>
  <TotalTime>1320</TotalTime>
  <Application>LibreOffice/24.2.7.2$Linux_X86_64 LibreOffice_project/420$Build-2</Application>
  <AppVersion>15.0000</AppVersion>
  <Words>674</Words>
  <Paragraphs>91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2018-09-23T01:33:33Z</dcterms:created>
  <dc:creator>Jeremiah Blanchard</dc:creator>
  <dc:description/>
  <dc:language>en-US</dc:language>
  <cp:lastModifiedBy/>
  <dcterms:modified xsi:type="dcterms:W3CDTF">2025-09-30T08:12:04Z</dcterms:modified>
  <cp:revision>162</cp:revision>
  <dc:subject/>
  <dc:title>Fundamentals of AI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8A5176DE-1C3A-4C5F-BD19-F0ED2390E70E</vt:lpwstr>
  </property>
  <property fmtid="{D5CDD505-2E9C-101B-9397-08002B2CF9AE}" pid="3" name="ArticulatePath">
    <vt:lpwstr>Presentation2</vt:lpwstr>
  </property>
  <property fmtid="{D5CDD505-2E9C-101B-9397-08002B2CF9AE}" pid="4" name="ArticulateProjectFull">
    <vt:lpwstr>H:\PowerPoint training for IDs\COIP-PPT-example-template.ppta</vt:lpwstr>
  </property>
  <property fmtid="{D5CDD505-2E9C-101B-9397-08002B2CF9AE}" pid="5" name="ArticulateProjectVersion">
    <vt:lpwstr>8</vt:lpwstr>
  </property>
  <property fmtid="{D5CDD505-2E9C-101B-9397-08002B2CF9AE}" pid="6" name="ArticulateUseProject">
    <vt:lpwstr>1</vt:lpwstr>
  </property>
  <property fmtid="{D5CDD505-2E9C-101B-9397-08002B2CF9AE}" pid="7" name="Notes">
    <vt:i4>2</vt:i4>
  </property>
  <property fmtid="{D5CDD505-2E9C-101B-9397-08002B2CF9AE}" pid="8" name="PresentationFormat">
    <vt:lpwstr>Widescreen</vt:lpwstr>
  </property>
  <property fmtid="{D5CDD505-2E9C-101B-9397-08002B2CF9AE}" pid="9" name="Slides">
    <vt:i4>8</vt:i4>
  </property>
</Properties>
</file>