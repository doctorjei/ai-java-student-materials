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0.png" ContentType="image/png"/>
  <Override PartName="/ppt/media/image1.png" ContentType="image/png"/>
  <Override PartName="/ppt/media/image19.svg" ContentType="image/svg"/>
  <Override PartName="/ppt/media/image21.svg" ContentType="image/svg"/>
  <Override PartName="/ppt/media/image12.png" ContentType="image/png"/>
  <Override PartName="/ppt/media/image3.png" ContentType="image/png"/>
  <Override PartName="/ppt/media/image23.svg" ContentType="image/svg"/>
  <Override PartName="/ppt/media/image8.png" ContentType="image/png"/>
  <Override PartName="/ppt/media/image13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6.svg" ContentType="image/svg"/>
  <Override PartName="/ppt/media/image5.png" ContentType="image/png"/>
  <Override PartName="/ppt/media/image14.png" ContentType="image/png"/>
  <Override PartName="/ppt/media/image25.svg" ContentType="image/svg"/>
  <Override PartName="/ppt/media/media29.WAV" ContentType="audio/x-wav"/>
  <Override PartName="/ppt/media/image26.png" ContentType="image/png"/>
  <Override PartName="/ppt/media/image24.png" ContentType="image/png"/>
  <Override PartName="/ppt/media/image22.png" ContentType="image/png"/>
  <Override PartName="/ppt/media/image17.svg" ContentType="image/svg"/>
  <Override PartName="/ppt/media/image16.png" ContentType="image/png"/>
  <Override PartName="/ppt/media/image27.svg" ContentType="image/svg"/>
  <Override PartName="/ppt/media/image15.png" ContentType="image/png"/>
  <Override PartName="/ppt/media/media28.WAV" ContentType="audio/x-wav"/>
  <Override PartName="/ppt/media/image4.svg" ContentType="image/svg"/>
  <Override PartName="/ppt/media/media7.WAV" ContentType="audio/x-wav"/>
  <Override PartName="/ppt/media/image11.png" ContentType="image/png"/>
  <Override PartName="/ppt/media/image2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DD0D932-2C78-411D-A0F9-5CCFF486449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EBE8F6-8BBF-44DB-953B-32211B731584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F4A930-5E98-4D94-B408-313E22934323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5FEE51-A9E6-4B94-847E-8D87C4FC5C1A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858BBF-6073-46A7-8D92-FF21406B62DF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0D8CDC-1630-408C-998B-00F81A322E4F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audio" Target="../media/media7.WAV"/><Relationship Id="rId4" Type="http://schemas.microsoft.com/office/2007/relationships/media" Target="../media/media7.WAV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image" Target="../media/image18.png"/><Relationship Id="rId4" Type="http://schemas.openxmlformats.org/officeDocument/2006/relationships/image" Target="../media/image19.svg"/><Relationship Id="rId5" Type="http://schemas.openxmlformats.org/officeDocument/2006/relationships/image" Target="../media/image20.png"/><Relationship Id="rId6" Type="http://schemas.openxmlformats.org/officeDocument/2006/relationships/image" Target="../media/image21.svg"/><Relationship Id="rId7" Type="http://schemas.openxmlformats.org/officeDocument/2006/relationships/image" Target="../media/image22.png"/><Relationship Id="rId8" Type="http://schemas.openxmlformats.org/officeDocument/2006/relationships/image" Target="../media/image23.svg"/><Relationship Id="rId9" Type="http://schemas.openxmlformats.org/officeDocument/2006/relationships/image" Target="../media/image24.png"/><Relationship Id="rId10" Type="http://schemas.openxmlformats.org/officeDocument/2006/relationships/image" Target="../media/image25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sv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audio" Target="../media/media28.WAV"/><Relationship Id="rId2" Type="http://schemas.microsoft.com/office/2007/relationships/media" Target="../media/media28.WAV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audio" Target="../media/media29.WAV"/><Relationship Id="rId2" Type="http://schemas.microsoft.com/office/2007/relationships/media" Target="../media/media29.WAV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879120" y="4998960"/>
            <a:ext cx="10432800" cy="46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Systematic Problem Solving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736200" y="1526760"/>
            <a:ext cx="10718640" cy="79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92" strike="noStrike">
                <a:solidFill>
                  <a:schemeClr val="lt1"/>
                </a:solidFill>
                <a:latin typeface="Garamond"/>
              </a:rPr>
              <a:t>Breadth-First Searches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Graphic 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371600" y="2440080"/>
            <a:ext cx="8941680" cy="223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68720" y="298440"/>
            <a:ext cx="1125360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Et Tu Brute?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916200"/>
            <a:ext cx="10971720" cy="5320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3888"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1" i="1" lang="en-US" sz="2400" spc="-1" strike="noStrike">
                <a:solidFill>
                  <a:srgbClr val="00ff00"/>
                </a:solidFill>
                <a:latin typeface="Arial Regular"/>
              </a:rPr>
              <a:t>Breadth-first search</a:t>
            </a: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 is a brute-force approach that explores sibling nodes before children.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Rectangle 17"/>
          <p:cNvSpPr/>
          <p:nvPr/>
        </p:nvSpPr>
        <p:spPr>
          <a:xfrm>
            <a:off x="468720" y="6136920"/>
            <a:ext cx="1125360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rmAutofit fontScale="93333"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The main difference between a breadth-first </a:t>
            </a:r>
            <a:r>
              <a:rPr b="0" i="1" lang="en-US" sz="2400" spc="-1" strike="noStrike">
                <a:solidFill>
                  <a:schemeClr val="lt1"/>
                </a:solidFill>
                <a:latin typeface="Garamond"/>
              </a:rPr>
              <a:t>traversal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 and </a:t>
            </a:r>
            <a:r>
              <a:rPr b="0" i="1" lang="en-US" sz="2400" spc="-1" strike="noStrike">
                <a:solidFill>
                  <a:schemeClr val="lt1"/>
                </a:solidFill>
                <a:latin typeface="Garamond"/>
              </a:rPr>
              <a:t>search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 is the </a:t>
            </a:r>
            <a:r>
              <a:rPr b="1" i="1" lang="en-US" sz="2400" spc="-1" strike="noStrike">
                <a:solidFill>
                  <a:srgbClr val="00ff00"/>
                </a:solidFill>
                <a:latin typeface="Garamond"/>
              </a:rPr>
              <a:t>goal check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Rectangle 18"/>
          <p:cNvSpPr/>
          <p:nvPr/>
        </p:nvSpPr>
        <p:spPr>
          <a:xfrm>
            <a:off x="8318520" y="279288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A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Rectangle 19"/>
          <p:cNvSpPr/>
          <p:nvPr/>
        </p:nvSpPr>
        <p:spPr>
          <a:xfrm>
            <a:off x="9080280" y="279288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B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Rectangle 20"/>
          <p:cNvSpPr/>
          <p:nvPr/>
        </p:nvSpPr>
        <p:spPr>
          <a:xfrm>
            <a:off x="9461520" y="279288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Rectangle 21"/>
          <p:cNvSpPr/>
          <p:nvPr/>
        </p:nvSpPr>
        <p:spPr>
          <a:xfrm>
            <a:off x="7939800" y="279288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I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ectangle 22"/>
          <p:cNvSpPr/>
          <p:nvPr/>
        </p:nvSpPr>
        <p:spPr>
          <a:xfrm>
            <a:off x="10223280" y="279288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F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Rectangle 23"/>
          <p:cNvSpPr/>
          <p:nvPr/>
        </p:nvSpPr>
        <p:spPr>
          <a:xfrm>
            <a:off x="8699400" y="279288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C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Rectangle 24"/>
          <p:cNvSpPr/>
          <p:nvPr/>
        </p:nvSpPr>
        <p:spPr>
          <a:xfrm>
            <a:off x="9842400" y="279288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Line 5"/>
          <p:cNvSpPr/>
          <p:nvPr/>
        </p:nvSpPr>
        <p:spPr>
          <a:xfrm flipH="1" flipV="1">
            <a:off x="7896600" y="275616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24" name="Line 16"/>
          <p:cNvSpPr/>
          <p:nvPr/>
        </p:nvSpPr>
        <p:spPr>
          <a:xfrm flipH="1" flipV="1">
            <a:off x="8274240" y="275616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25" name="Line 17"/>
          <p:cNvSpPr/>
          <p:nvPr/>
        </p:nvSpPr>
        <p:spPr>
          <a:xfrm flipH="1" flipV="1">
            <a:off x="8661240" y="275472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26" name="Line 18"/>
          <p:cNvSpPr/>
          <p:nvPr/>
        </p:nvSpPr>
        <p:spPr>
          <a:xfrm flipH="1" flipV="1">
            <a:off x="9042120" y="275616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27" name="Line 19"/>
          <p:cNvSpPr/>
          <p:nvPr/>
        </p:nvSpPr>
        <p:spPr>
          <a:xfrm flipH="1" flipV="1">
            <a:off x="9418680" y="275472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28" name="Line 20"/>
          <p:cNvSpPr/>
          <p:nvPr/>
        </p:nvSpPr>
        <p:spPr>
          <a:xfrm flipH="1" flipV="1">
            <a:off x="9799920" y="275328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29" name="Line 21"/>
          <p:cNvSpPr/>
          <p:nvPr/>
        </p:nvSpPr>
        <p:spPr>
          <a:xfrm flipH="1">
            <a:off x="5567760" y="2348280"/>
            <a:ext cx="3240" cy="160416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30" name="Line 22"/>
          <p:cNvSpPr/>
          <p:nvPr/>
        </p:nvSpPr>
        <p:spPr>
          <a:xfrm flipV="1">
            <a:off x="1920600" y="2348280"/>
            <a:ext cx="1334520" cy="80856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31" name="Line 23"/>
          <p:cNvSpPr/>
          <p:nvPr/>
        </p:nvSpPr>
        <p:spPr>
          <a:xfrm flipH="1" flipV="1">
            <a:off x="5544720" y="2333880"/>
            <a:ext cx="1334880" cy="80856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32" name="Line 24"/>
          <p:cNvSpPr/>
          <p:nvPr/>
        </p:nvSpPr>
        <p:spPr>
          <a:xfrm flipH="1">
            <a:off x="3255120" y="2348280"/>
            <a:ext cx="2289600" cy="36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33" name="Oval 10"/>
          <p:cNvSpPr/>
          <p:nvPr/>
        </p:nvSpPr>
        <p:spPr>
          <a:xfrm>
            <a:off x="5324040" y="2086560"/>
            <a:ext cx="522360" cy="52236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MS PGothic"/>
              </a:rPr>
              <a:t>B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Oval 11"/>
          <p:cNvSpPr/>
          <p:nvPr/>
        </p:nvSpPr>
        <p:spPr>
          <a:xfrm>
            <a:off x="2993760" y="2113920"/>
            <a:ext cx="522360" cy="52236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MS PGothic"/>
              </a:rPr>
              <a:t>A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Line 25"/>
          <p:cNvSpPr/>
          <p:nvPr/>
        </p:nvSpPr>
        <p:spPr>
          <a:xfrm flipH="1" flipV="1">
            <a:off x="1931040" y="3171240"/>
            <a:ext cx="1334520" cy="80856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36" name="Line 26"/>
          <p:cNvSpPr/>
          <p:nvPr/>
        </p:nvSpPr>
        <p:spPr>
          <a:xfrm flipV="1">
            <a:off x="5614200" y="3162600"/>
            <a:ext cx="1334520" cy="80892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37" name="Line 27"/>
          <p:cNvSpPr/>
          <p:nvPr/>
        </p:nvSpPr>
        <p:spPr>
          <a:xfrm>
            <a:off x="3265560" y="3979800"/>
            <a:ext cx="1186200" cy="116244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38" name="Line 28"/>
          <p:cNvSpPr/>
          <p:nvPr/>
        </p:nvSpPr>
        <p:spPr>
          <a:xfrm flipH="1">
            <a:off x="4428360" y="3952440"/>
            <a:ext cx="1233360" cy="116280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39" name="Oval 12"/>
          <p:cNvSpPr/>
          <p:nvPr/>
        </p:nvSpPr>
        <p:spPr>
          <a:xfrm>
            <a:off x="4167000" y="4853520"/>
            <a:ext cx="522360" cy="52236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MS PGothic"/>
              </a:rPr>
              <a:t>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Oval 13"/>
          <p:cNvSpPr/>
          <p:nvPr/>
        </p:nvSpPr>
        <p:spPr>
          <a:xfrm>
            <a:off x="2987280" y="3691080"/>
            <a:ext cx="522360" cy="52236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MS PGothic"/>
              </a:rPr>
              <a:t>C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Oval 14"/>
          <p:cNvSpPr/>
          <p:nvPr/>
        </p:nvSpPr>
        <p:spPr>
          <a:xfrm>
            <a:off x="5324040" y="3691800"/>
            <a:ext cx="522360" cy="52236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MS PGothic"/>
              </a:rPr>
              <a:t>F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Oval 15"/>
          <p:cNvSpPr/>
          <p:nvPr/>
        </p:nvSpPr>
        <p:spPr>
          <a:xfrm>
            <a:off x="6644160" y="2860200"/>
            <a:ext cx="522360" cy="52236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MS PGothic"/>
              </a:rPr>
              <a:t>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Oval 20"/>
          <p:cNvSpPr/>
          <p:nvPr/>
        </p:nvSpPr>
        <p:spPr>
          <a:xfrm>
            <a:off x="1669680" y="2866680"/>
            <a:ext cx="522360" cy="522360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MS PGothic"/>
              </a:rPr>
              <a:t>I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Box 3"/>
          <p:cNvSpPr/>
          <p:nvPr/>
        </p:nvSpPr>
        <p:spPr>
          <a:xfrm>
            <a:off x="8694000" y="2071800"/>
            <a:ext cx="1132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 u="sng">
                <a:solidFill>
                  <a:schemeClr val="lt1"/>
                </a:solidFill>
                <a:uFillTx/>
                <a:latin typeface="Arial"/>
              </a:rPr>
              <a:t>Queue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Box 4"/>
          <p:cNvSpPr/>
          <p:nvPr/>
        </p:nvSpPr>
        <p:spPr>
          <a:xfrm>
            <a:off x="7517520" y="4727880"/>
            <a:ext cx="1883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</a:rPr>
              <a:t>SOLUTION: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Rectangle 25"/>
          <p:cNvSpPr/>
          <p:nvPr/>
        </p:nvSpPr>
        <p:spPr>
          <a:xfrm>
            <a:off x="10617840" y="476820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Rectangle 26"/>
          <p:cNvSpPr/>
          <p:nvPr/>
        </p:nvSpPr>
        <p:spPr>
          <a:xfrm>
            <a:off x="10236960" y="476820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B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Rectangle 30"/>
          <p:cNvSpPr/>
          <p:nvPr/>
        </p:nvSpPr>
        <p:spPr>
          <a:xfrm>
            <a:off x="9853560" y="476820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A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Rectangle 31"/>
          <p:cNvSpPr/>
          <p:nvPr/>
        </p:nvSpPr>
        <p:spPr>
          <a:xfrm>
            <a:off x="9472320" y="476820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I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Arc 7"/>
          <p:cNvSpPr/>
          <p:nvPr/>
        </p:nvSpPr>
        <p:spPr>
          <a:xfrm rot="18699000">
            <a:off x="8228520" y="2494080"/>
            <a:ext cx="996120" cy="1431360"/>
          </a:xfrm>
          <a:prstGeom prst="arc">
            <a:avLst>
              <a:gd name="adj1" fmla="val 16200000"/>
              <a:gd name="adj2" fmla="val 20319166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Arc 8"/>
          <p:cNvSpPr/>
          <p:nvPr/>
        </p:nvSpPr>
        <p:spPr>
          <a:xfrm rot="18729600">
            <a:off x="8981280" y="2508120"/>
            <a:ext cx="996120" cy="1431360"/>
          </a:xfrm>
          <a:prstGeom prst="arc">
            <a:avLst>
              <a:gd name="adj1" fmla="val 16200000"/>
              <a:gd name="adj2" fmla="val 20319166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Arc 9"/>
          <p:cNvSpPr/>
          <p:nvPr/>
        </p:nvSpPr>
        <p:spPr>
          <a:xfrm rot="19749000">
            <a:off x="8871840" y="2608920"/>
            <a:ext cx="1830960" cy="1714320"/>
          </a:xfrm>
          <a:prstGeom prst="arc">
            <a:avLst>
              <a:gd name="adj1" fmla="val 16108016"/>
              <a:gd name="adj2" fmla="val 20325061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3" name="Arc 10"/>
          <p:cNvSpPr/>
          <p:nvPr/>
        </p:nvSpPr>
        <p:spPr>
          <a:xfrm flipV="1" rot="2901000">
            <a:off x="9347040" y="2036520"/>
            <a:ext cx="996120" cy="1431360"/>
          </a:xfrm>
          <a:prstGeom prst="arc">
            <a:avLst>
              <a:gd name="adj1" fmla="val 16200000"/>
              <a:gd name="adj2" fmla="val 20319166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4" name="Arc 11"/>
          <p:cNvSpPr/>
          <p:nvPr/>
        </p:nvSpPr>
        <p:spPr>
          <a:xfrm flipV="1" rot="2870400">
            <a:off x="8574840" y="2041560"/>
            <a:ext cx="997200" cy="1431000"/>
          </a:xfrm>
          <a:prstGeom prst="arc">
            <a:avLst>
              <a:gd name="adj1" fmla="val 16200000"/>
              <a:gd name="adj2" fmla="val 20319166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Arc 12"/>
          <p:cNvSpPr/>
          <p:nvPr/>
        </p:nvSpPr>
        <p:spPr>
          <a:xfrm flipV="1" rot="3059400">
            <a:off x="8084520" y="2791080"/>
            <a:ext cx="483840" cy="54288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56" name="Graphic 1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87440" y="2440800"/>
            <a:ext cx="2865960" cy="1361160"/>
          </a:xfrm>
          <a:prstGeom prst="rect">
            <a:avLst/>
          </a:prstGeom>
          <a:ln w="0">
            <a:noFill/>
          </a:ln>
        </p:spPr>
      </p:pic>
      <p:pic>
        <p:nvPicPr>
          <p:cNvPr id="57" name="" descr="">
            <a:hlinkClick r:id="" action="ppaction://media"/>
          </p:cNvPr>
          <p:cNvPicPr/>
          <p:nvPr>
            <a:audioFile r:link="rId3"/>
            <p:extLst>
              <p:ext uri="{DAA4B4D4-6D71-4841-9C94-3DE7FCFB9230}">
                <p14:media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79280" y="2410560"/>
            <a:ext cx="303840" cy="303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04040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04040"/>
                                      </p:to>
                                    </p:animClr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04040"/>
                                      </p:to>
                                    </p:animClr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8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9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19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04040"/>
                                      </p:to>
                                    </p:animClr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04040"/>
                                      </p:to>
                                    </p:animClr>
                                    <p:set>
                                      <p:cBhvr>
                                        <p:cTn id="2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6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6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2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3" dur="813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006 -2.59259E-006 L 0.10951 -0.11273 E">
                                      <p:cBhvr>
                                        <p:cTn id="28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951 -0.11273 L 0.29883 -0.11227 E">
                                      <p:cBhvr>
                                        <p:cTn id="29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883 -0.11227 L 0.40873 0.00209 E">
                                      <p:cBhvr>
                                        <p:cTn id="29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9" dur="813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00" nodeType="withEffect" fill="hold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301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2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showWhenStopped="0">
                <p:cTn>
                  <p:stCondLst>
                    <p:cond delay="indefinite"/>
                  </p:stCondLst>
                  <p:endCondLst>
                    <p:cond delay="0" evt="onNext"/>
                    <p:cond delay="0" evt="onPrev"/>
                    <p:cond delay="0" evt="onStopAudio"/>
                  </p:endCondLst>
                </p:cTn>
                <p:tgtEl>
                  <p:spTgt spid="5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360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Breadth-First: The 8-Puzzle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752480" y="1295280"/>
            <a:ext cx="8685720" cy="6084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chemeClr val="dk1"/>
                </a:solidFill>
                <a:uFillTx/>
                <a:latin typeface="Arial Regular"/>
              </a:rPr>
              <a:t>Example: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Line 1"/>
          <p:cNvSpPr/>
          <p:nvPr/>
        </p:nvSpPr>
        <p:spPr>
          <a:xfrm>
            <a:off x="6818760" y="3254760"/>
            <a:ext cx="1448640" cy="24012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Line 2"/>
          <p:cNvSpPr/>
          <p:nvPr/>
        </p:nvSpPr>
        <p:spPr>
          <a:xfrm flipH="1">
            <a:off x="7432920" y="4930920"/>
            <a:ext cx="838080" cy="22860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Line 3"/>
          <p:cNvSpPr/>
          <p:nvPr/>
        </p:nvSpPr>
        <p:spPr>
          <a:xfrm flipH="1">
            <a:off x="3921480" y="3254760"/>
            <a:ext cx="1449360" cy="22716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Line 4"/>
          <p:cNvSpPr/>
          <p:nvPr/>
        </p:nvSpPr>
        <p:spPr>
          <a:xfrm>
            <a:off x="9718920" y="4930920"/>
            <a:ext cx="838080" cy="22860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4" name="Line 6"/>
          <p:cNvSpPr/>
          <p:nvPr/>
        </p:nvSpPr>
        <p:spPr>
          <a:xfrm>
            <a:off x="8962920" y="4930920"/>
            <a:ext cx="360" cy="23580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65" name="Picture 1" descr=""/>
          <p:cNvPicPr/>
          <p:nvPr/>
        </p:nvPicPr>
        <p:blipFill>
          <a:blip r:embed="rId1"/>
          <a:stretch/>
        </p:blipFill>
        <p:spPr>
          <a:xfrm>
            <a:off x="2473200" y="3492720"/>
            <a:ext cx="1448640" cy="1448640"/>
          </a:xfrm>
          <a:prstGeom prst="rect">
            <a:avLst/>
          </a:prstGeom>
          <a:ln w="0">
            <a:noFill/>
          </a:ln>
        </p:spPr>
      </p:pic>
      <p:pic>
        <p:nvPicPr>
          <p:cNvPr id="66" name="Picture 14" descr=""/>
          <p:cNvPicPr/>
          <p:nvPr/>
        </p:nvPicPr>
        <p:blipFill>
          <a:blip r:embed="rId2"/>
          <a:stretch/>
        </p:blipFill>
        <p:spPr>
          <a:xfrm>
            <a:off x="5371200" y="1811880"/>
            <a:ext cx="1448640" cy="1448640"/>
          </a:xfrm>
          <a:prstGeom prst="rect">
            <a:avLst/>
          </a:prstGeom>
          <a:ln w="0">
            <a:noFill/>
          </a:ln>
        </p:spPr>
      </p:pic>
      <p:pic>
        <p:nvPicPr>
          <p:cNvPr id="67" name="Picture 15" descr=""/>
          <p:cNvPicPr/>
          <p:nvPr/>
        </p:nvPicPr>
        <p:blipFill>
          <a:blip r:embed="rId3"/>
          <a:stretch/>
        </p:blipFill>
        <p:spPr>
          <a:xfrm>
            <a:off x="8269200" y="3483360"/>
            <a:ext cx="1448640" cy="144864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16" descr=""/>
          <p:cNvPicPr/>
          <p:nvPr/>
        </p:nvPicPr>
        <p:blipFill>
          <a:blip r:embed="rId4"/>
          <a:stretch/>
        </p:blipFill>
        <p:spPr>
          <a:xfrm>
            <a:off x="10086120" y="5166720"/>
            <a:ext cx="1448640" cy="1448640"/>
          </a:xfrm>
          <a:prstGeom prst="rect">
            <a:avLst/>
          </a:prstGeom>
          <a:ln w="0">
            <a:noFill/>
          </a:ln>
        </p:spPr>
      </p:pic>
      <p:pic>
        <p:nvPicPr>
          <p:cNvPr id="69" name="Picture 17" descr=""/>
          <p:cNvPicPr/>
          <p:nvPr/>
        </p:nvPicPr>
        <p:blipFill>
          <a:blip r:embed="rId5"/>
          <a:stretch/>
        </p:blipFill>
        <p:spPr>
          <a:xfrm>
            <a:off x="8267760" y="5166720"/>
            <a:ext cx="1450080" cy="1448640"/>
          </a:xfrm>
          <a:prstGeom prst="rect">
            <a:avLst/>
          </a:prstGeom>
          <a:ln w="0">
            <a:noFill/>
          </a:ln>
        </p:spPr>
      </p:pic>
      <p:pic>
        <p:nvPicPr>
          <p:cNvPr id="70" name="Picture 18" descr=""/>
          <p:cNvPicPr/>
          <p:nvPr/>
        </p:nvPicPr>
        <p:blipFill>
          <a:blip r:embed="rId6"/>
          <a:stretch/>
        </p:blipFill>
        <p:spPr>
          <a:xfrm>
            <a:off x="6446160" y="5165280"/>
            <a:ext cx="1453320" cy="1451520"/>
          </a:xfrm>
          <a:prstGeom prst="rect">
            <a:avLst/>
          </a:prstGeom>
          <a:ln w="0">
            <a:noFill/>
          </a:ln>
        </p:spPr>
      </p:pic>
      <p:sp>
        <p:nvSpPr>
          <p:cNvPr id="71" name="Line 7"/>
          <p:cNvSpPr/>
          <p:nvPr/>
        </p:nvSpPr>
        <p:spPr>
          <a:xfrm>
            <a:off x="3203640" y="4932720"/>
            <a:ext cx="360" cy="22104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72" name="Picture 19" descr=""/>
          <p:cNvPicPr/>
          <p:nvPr/>
        </p:nvPicPr>
        <p:blipFill>
          <a:blip r:embed="rId7"/>
          <a:stretch/>
        </p:blipFill>
        <p:spPr>
          <a:xfrm>
            <a:off x="2477880" y="5166720"/>
            <a:ext cx="1448640" cy="1448640"/>
          </a:xfrm>
          <a:prstGeom prst="rect">
            <a:avLst/>
          </a:prstGeom>
          <a:ln w="0">
            <a:noFill/>
          </a:ln>
        </p:spPr>
      </p:pic>
      <p:pic>
        <p:nvPicPr>
          <p:cNvPr id="73" name="Picture 20" descr=""/>
          <p:cNvPicPr/>
          <p:nvPr/>
        </p:nvPicPr>
        <p:blipFill>
          <a:blip r:embed="rId8"/>
          <a:stretch/>
        </p:blipFill>
        <p:spPr>
          <a:xfrm>
            <a:off x="661680" y="5150880"/>
            <a:ext cx="1447560" cy="1447560"/>
          </a:xfrm>
          <a:prstGeom prst="rect">
            <a:avLst/>
          </a:prstGeom>
          <a:ln w="3175">
            <a:solidFill>
              <a:srgbClr val="ffffff"/>
            </a:solidFill>
            <a:round/>
          </a:ln>
        </p:spPr>
      </p:pic>
      <p:pic>
        <p:nvPicPr>
          <p:cNvPr id="74" name="Picture 21" descr=""/>
          <p:cNvPicPr/>
          <p:nvPr/>
        </p:nvPicPr>
        <p:blipFill>
          <a:blip r:embed="rId9"/>
          <a:stretch/>
        </p:blipFill>
        <p:spPr>
          <a:xfrm>
            <a:off x="4297320" y="5172480"/>
            <a:ext cx="1447560" cy="1447560"/>
          </a:xfrm>
          <a:prstGeom prst="rect">
            <a:avLst/>
          </a:prstGeom>
          <a:ln w="3175">
            <a:solidFill>
              <a:srgbClr val="ffffff"/>
            </a:solidFill>
            <a:round/>
          </a:ln>
        </p:spPr>
      </p:pic>
      <p:sp>
        <p:nvSpPr>
          <p:cNvPr id="75" name="Line 8"/>
          <p:cNvSpPr/>
          <p:nvPr/>
        </p:nvSpPr>
        <p:spPr>
          <a:xfrm flipH="1">
            <a:off x="1396080" y="4942080"/>
            <a:ext cx="1088280" cy="21168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6" name="Line 9"/>
          <p:cNvSpPr/>
          <p:nvPr/>
        </p:nvSpPr>
        <p:spPr>
          <a:xfrm>
            <a:off x="3928680" y="4942080"/>
            <a:ext cx="1100160" cy="21168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7" name="Line 10"/>
          <p:cNvSpPr/>
          <p:nvPr/>
        </p:nvSpPr>
        <p:spPr>
          <a:xfrm flipV="1">
            <a:off x="2472840" y="5150520"/>
            <a:ext cx="1525680" cy="14706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8" name="Line 11"/>
          <p:cNvSpPr/>
          <p:nvPr/>
        </p:nvSpPr>
        <p:spPr>
          <a:xfrm flipV="1">
            <a:off x="10025640" y="5170320"/>
            <a:ext cx="1525680" cy="14706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4" dur="indefinite" restart="never" nodeType="tmRoot">
          <p:childTnLst>
            <p:seq>
              <p:cTn id="305" dur="indefinite" nodeType="mainSeq">
                <p:childTnLst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360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Breadth-First Search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66280" y="2195280"/>
            <a:ext cx="8577360" cy="3454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600" spc="-1" strike="noStrike" u="sng">
                <a:solidFill>
                  <a:srgbClr val="ffffff"/>
                </a:solidFill>
                <a:uFillTx/>
                <a:latin typeface="Arial Regular"/>
              </a:rPr>
              <a:t>Breadth-First Search is: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600" spc="-1" strike="noStrike">
                <a:solidFill>
                  <a:srgbClr val="00ff00"/>
                </a:solidFill>
                <a:latin typeface="Arial Regular"/>
              </a:rPr>
              <a:t>Systematic</a:t>
            </a:r>
            <a:r>
              <a:rPr b="0" lang="en-US" sz="2600" spc="-1" strike="noStrike">
                <a:solidFill>
                  <a:schemeClr val="dk1"/>
                </a:solidFill>
                <a:latin typeface="Arial Regular"/>
              </a:rPr>
              <a:t> </a:t>
            </a: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(Processes in order)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600" spc="-1" strike="noStrike">
                <a:solidFill>
                  <a:srgbClr val="00ff00"/>
                </a:solidFill>
                <a:latin typeface="Arial Regular"/>
              </a:rPr>
              <a:t>Uninformed</a:t>
            </a: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 (no prior knowledge)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600" spc="-1" strike="noStrike">
                <a:solidFill>
                  <a:srgbClr val="00ff00"/>
                </a:solidFill>
                <a:latin typeface="Arial Regular"/>
              </a:rPr>
              <a:t>Optimal</a:t>
            </a:r>
            <a:r>
              <a:rPr b="1" i="1" lang="en-US" sz="2600" spc="-1" strike="noStrike">
                <a:solidFill>
                  <a:srgbClr val="ffffff"/>
                </a:solidFill>
                <a:latin typeface="Arial Regular"/>
              </a:rPr>
              <a:t> in </a:t>
            </a:r>
            <a:r>
              <a:rPr b="1" i="1" lang="en-US" sz="2600" spc="-1" strike="noStrike">
                <a:solidFill>
                  <a:srgbClr val="00ff00"/>
                </a:solidFill>
                <a:latin typeface="Arial Regular"/>
              </a:rPr>
              <a:t>steps</a:t>
            </a: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 (Any solution found is ”best”)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600" spc="-1" strike="noStrike">
                <a:solidFill>
                  <a:srgbClr val="00ff00"/>
                </a:solidFill>
                <a:latin typeface="Arial Regular"/>
              </a:rPr>
              <a:t>Complete</a:t>
            </a: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 (Will find a solution if it exists)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600" spc="-1" strike="noStrike">
                <a:solidFill>
                  <a:srgbClr val="00ff00"/>
                </a:solidFill>
                <a:latin typeface="Arial Regular"/>
              </a:rPr>
              <a:t>Exhaustive</a:t>
            </a:r>
            <a:r>
              <a:rPr b="0" lang="en-US" sz="2600" spc="-1" strike="noStrike">
                <a:solidFill>
                  <a:schemeClr val="dk1"/>
                </a:solidFill>
                <a:latin typeface="Arial Regular"/>
              </a:rPr>
              <a:t> </a:t>
            </a: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(Finds a solution if state space is finite)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1" name="Graphic 8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004600" y="1860120"/>
            <a:ext cx="3717720" cy="3717720"/>
          </a:xfrm>
          <a:prstGeom prst="rect">
            <a:avLst/>
          </a:prstGeom>
          <a:ln w="0">
            <a:noFill/>
          </a:ln>
        </p:spPr>
      </p:pic>
      <p:pic>
        <p:nvPicPr>
          <p:cNvPr id="82" name="Graphic 1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263800" y="2071080"/>
            <a:ext cx="3199320" cy="3199320"/>
          </a:xfrm>
          <a:prstGeom prst="rect">
            <a:avLst/>
          </a:prstGeom>
          <a:ln w="0">
            <a:noFill/>
          </a:ln>
        </p:spPr>
      </p:pic>
      <p:pic>
        <p:nvPicPr>
          <p:cNvPr id="83" name="Graphic 12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629560" y="2388240"/>
            <a:ext cx="2467800" cy="2467800"/>
          </a:xfrm>
          <a:prstGeom prst="rect">
            <a:avLst/>
          </a:prstGeom>
          <a:ln w="0">
            <a:noFill/>
          </a:ln>
        </p:spPr>
      </p:pic>
      <p:sp>
        <p:nvSpPr>
          <p:cNvPr id="84" name="TextBox 1"/>
          <p:cNvSpPr/>
          <p:nvPr/>
        </p:nvSpPr>
        <p:spPr>
          <a:xfrm>
            <a:off x="8958960" y="5082120"/>
            <a:ext cx="1859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Exhaustive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8962920" y="4398840"/>
            <a:ext cx="1859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Complete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6" name="Group 2"/>
          <p:cNvGrpSpPr/>
          <p:nvPr/>
        </p:nvGrpSpPr>
        <p:grpSpPr>
          <a:xfrm>
            <a:off x="8946360" y="2676240"/>
            <a:ext cx="1891800" cy="1891800"/>
            <a:chOff x="8946360" y="2676240"/>
            <a:chExt cx="1891800" cy="1891800"/>
          </a:xfrm>
        </p:grpSpPr>
        <p:pic>
          <p:nvPicPr>
            <p:cNvPr id="87" name="Graphic 13" descr="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>
              <a:off x="8946360" y="2676240"/>
              <a:ext cx="1891800" cy="1891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8" name="Graphic 14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020160" y="2735640"/>
              <a:ext cx="1773000" cy="17730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9" name="TextBox 6"/>
          <p:cNvSpPr/>
          <p:nvPr/>
        </p:nvSpPr>
        <p:spPr>
          <a:xfrm>
            <a:off x="9302400" y="3471120"/>
            <a:ext cx="1262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Optimal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5" dur="indefinite" restart="never" nodeType="tmRoot">
          <p:childTnLst>
            <p:seq>
              <p:cTn id="386" dur="indefinite" nodeType="mainSeq">
                <p:childTnLst>
                  <p:par>
                    <p:cTn id="387" nodeType="clickEffect" fill="hold">
                      <p:stCondLst>
                        <p:cond delay="indefinite"/>
                      </p:stCondLst>
                      <p:childTnLst>
                        <p:par>
                          <p:cTn id="3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91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nodeType="clickEffect" fill="hold">
                      <p:stCondLst>
                        <p:cond delay="indefinite"/>
                      </p:stCondLst>
                      <p:childTnLst>
                        <p:par>
                          <p:cTn id="3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96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nodeType="clickEffect" fill="hold">
                      <p:stCondLst>
                        <p:cond delay="indefinite"/>
                      </p:stCondLst>
                      <p:childTnLst>
                        <p:par>
                          <p:cTn id="3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01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nodeType="clickEffect" fill="hold">
                      <p:stCondLst>
                        <p:cond delay="indefinite"/>
                      </p:stCondLst>
                      <p:childTnLst>
                        <p:par>
                          <p:cTn id="4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06" dur="500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nodeType="clickEffect" fill="hold">
                      <p:stCondLst>
                        <p:cond delay="indefinite"/>
                      </p:stCondLst>
                      <p:childTnLst>
                        <p:par>
                          <p:cTn id="4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11" dur="500"/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indefinite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720" y="414360"/>
            <a:ext cx="1118160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400" spc="92" strike="noStrike">
                <a:solidFill>
                  <a:schemeClr val="lt1"/>
                </a:solidFill>
                <a:latin typeface="Garamond"/>
              </a:rPr>
              <a:t>Breadth-First Search: Static Graphs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4572000" y="1284480"/>
            <a:ext cx="7086240" cy="5064120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def breadthFirstSearch(start, goal):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open = list()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open.enqueue(PlannerNode(start, None))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visited = { start: open[0] }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while not len(open) is 0: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current = open.dequeue()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if current.vertex is goal: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return build_solution(start, current)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for edge in current.vertex.edges: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successor = edge.endpoint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if not visited[successor]: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newNode = PlannerNode(successor, current)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visited[successor] = newNode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open.enqueue(newNode)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457200" y="1284480"/>
            <a:ext cx="4114440" cy="5064120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class Vertex: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def __init__(d):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self.data = 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self.edges = []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class Edge: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def __init__(e, c):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self.endpoint = 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self.cost = c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class PlannerNode: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def __init__(self, v, p):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self.vertex = v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self.parent = 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Remember: we need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  <a:ea typeface="ＭＳ Ｐゴシック"/>
              </a:rPr>
              <a:t>to trace backwards at the end!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1" dur="indefinite" restart="never" nodeType="tmRoot">
          <p:childTnLst>
            <p:seq>
              <p:cTn id="442" dur="indefinite" nodeType="mainSeq">
                <p:childTnLst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0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3" dur="500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6" dur="50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9" dur="500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62" dur="500"/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65" dur="500"/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68" dur="500"/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1" dur="500"/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4" dur="500"/>
                                        <p:tgtEl>
                                          <p:spTgt spid="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7" dur="500"/>
                                        <p:tgtEl>
                                          <p:spTgt spid="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0" dur="500"/>
                                        <p:tgtEl>
                                          <p:spTgt spid="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3" dur="500"/>
                                        <p:tgtEl>
                                          <p:spTgt spid="9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6" dur="500"/>
                                        <p:tgtEl>
                                          <p:spTgt spid="9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6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1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6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1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6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1" dur="500"/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fill="hold">
                      <p:stCondLst>
                        <p:cond delay="indefinite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6" dur="500"/>
                                        <p:tgtEl>
                                          <p:spTgt spid="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indefinite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1" dur="500"/>
                                        <p:tgtEl>
                                          <p:spTgt spid="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indefinite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6" dur="500"/>
                                        <p:tgtEl>
                                          <p:spTgt spid="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1" dur="500"/>
                                        <p:tgtEl>
                                          <p:spTgt spid="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>
                      <p:stCondLst>
                        <p:cond delay="indefinite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6" dur="500"/>
                                        <p:tgtEl>
                                          <p:spTgt spid="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1" dur="500"/>
                                        <p:tgtEl>
                                          <p:spTgt spid="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2" fill="hold">
                      <p:stCondLst>
                        <p:cond delay="indefinite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id="55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6" dur="500"/>
                                        <p:tgtEl>
                                          <p:spTgt spid="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7" fill="hold">
                      <p:stCondLst>
                        <p:cond delay="indefinite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1" dur="500"/>
                                        <p:tgtEl>
                                          <p:spTgt spid="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7659000" y="1346040"/>
            <a:ext cx="4443840" cy="50554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chemeClr val="lt1"/>
                </a:solidFill>
                <a:uFillTx/>
                <a:latin typeface="Garamond"/>
              </a:rPr>
              <a:t>Successor generation is…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Problem-specific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Usually non-trivial in time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Sometimes inefficient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Search graphs are superior when practical.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360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Breadth-First Search: Dynamic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337680" y="1343880"/>
            <a:ext cx="7248960" cy="5057640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def breadthFirstSearch(start, goal):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open = list()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visited = { start: PlannerNode(start, None) 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open.append(visited[start])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while not len(open) is 0: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current = open.pop(0)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if current.state is goal: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return build_solution(start, current)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for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operator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in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get_valid_ops(current.state)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successor =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current.state.apply(operator)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if not visited[successor]: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newNode = PlannerNode(successor, current)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visited[successor] = newNode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open.append(newNode)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return None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931600" y="3540240"/>
            <a:ext cx="1218240" cy="1656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62" dur="indefinite" restart="never" nodeType="tmRoot">
          <p:childTnLst>
            <p:seq>
              <p:cTn id="563" dur="indefinite" nodeType="mainSeq">
                <p:childTnLst>
                  <p:par>
                    <p:cTn id="564" fill="hold">
                      <p:stCondLst>
                        <p:cond delay="indefinite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3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indefinite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8" dur="50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9" fill="hold">
                      <p:stCondLst>
                        <p:cond delay="indefinite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3" dur="5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>
                      <p:stCondLst>
                        <p:cond delay="indefinite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id="5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8" dur="50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2" fill="hold">
                      <p:stCondLst>
                        <p:cond delay="indefinite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id="5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6" dur="500"/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1"/>
          <p:cNvGrpSpPr/>
          <p:nvPr/>
        </p:nvGrpSpPr>
        <p:grpSpPr>
          <a:xfrm>
            <a:off x="3389400" y="2771640"/>
            <a:ext cx="5411880" cy="2725560"/>
            <a:chOff x="3389400" y="2771640"/>
            <a:chExt cx="5411880" cy="2725560"/>
          </a:xfrm>
        </p:grpSpPr>
        <p:sp>
          <p:nvSpPr>
            <p:cNvPr id="98" name="Line 12"/>
            <p:cNvSpPr/>
            <p:nvPr/>
          </p:nvSpPr>
          <p:spPr>
            <a:xfrm flipV="1">
              <a:off x="3636720" y="3029040"/>
              <a:ext cx="1314000" cy="795960"/>
            </a:xfrm>
            <a:prstGeom prst="line">
              <a:avLst/>
            </a:prstGeom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2400" spc="-1" strike="noStrike">
                <a:solidFill>
                  <a:schemeClr val="lt1"/>
                </a:solidFill>
                <a:latin typeface="Garamond"/>
              </a:endParaRPr>
            </a:p>
          </p:txBody>
        </p:sp>
        <p:sp>
          <p:nvSpPr>
            <p:cNvPr id="99" name="Line 13"/>
            <p:cNvSpPr/>
            <p:nvPr/>
          </p:nvSpPr>
          <p:spPr>
            <a:xfrm flipH="1" flipV="1">
              <a:off x="7205040" y="3015000"/>
              <a:ext cx="1314000" cy="795960"/>
            </a:xfrm>
            <a:prstGeom prst="line">
              <a:avLst/>
            </a:prstGeom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2400" spc="-1" strike="noStrike">
                <a:solidFill>
                  <a:schemeClr val="lt1"/>
                </a:solidFill>
                <a:latin typeface="Garamond"/>
              </a:endParaRPr>
            </a:p>
          </p:txBody>
        </p:sp>
        <p:sp>
          <p:nvSpPr>
            <p:cNvPr id="100" name="Line 14"/>
            <p:cNvSpPr/>
            <p:nvPr/>
          </p:nvSpPr>
          <p:spPr>
            <a:xfrm flipH="1">
              <a:off x="4950720" y="3029040"/>
              <a:ext cx="2254320" cy="360"/>
            </a:xfrm>
            <a:prstGeom prst="line">
              <a:avLst/>
            </a:prstGeom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2400" spc="-1" strike="noStrike">
                <a:solidFill>
                  <a:schemeClr val="lt1"/>
                </a:solidFill>
                <a:latin typeface="Garamond"/>
              </a:endParaRPr>
            </a:p>
          </p:txBody>
        </p:sp>
        <p:sp>
          <p:nvSpPr>
            <p:cNvPr id="101" name="Oval 1"/>
            <p:cNvSpPr/>
            <p:nvPr/>
          </p:nvSpPr>
          <p:spPr>
            <a:xfrm>
              <a:off x="6987600" y="2771640"/>
              <a:ext cx="514080" cy="51408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lt1"/>
                  </a:solidFill>
                  <a:latin typeface="Arial"/>
                  <a:ea typeface="MS PGothic"/>
                </a:rPr>
                <a:t>B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Oval 2"/>
            <p:cNvSpPr/>
            <p:nvPr/>
          </p:nvSpPr>
          <p:spPr>
            <a:xfrm>
              <a:off x="4692960" y="2798280"/>
              <a:ext cx="514080" cy="51408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lt1"/>
                  </a:solidFill>
                  <a:latin typeface="Arial"/>
                  <a:ea typeface="MS PGothic"/>
                </a:rPr>
                <a:t>A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Line 15"/>
            <p:cNvSpPr/>
            <p:nvPr/>
          </p:nvSpPr>
          <p:spPr>
            <a:xfrm flipH="1" flipV="1">
              <a:off x="3647160" y="3839040"/>
              <a:ext cx="2481480" cy="1445760"/>
            </a:xfrm>
            <a:prstGeom prst="line">
              <a:avLst/>
            </a:prstGeom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2400" spc="-1" strike="noStrike">
                <a:solidFill>
                  <a:schemeClr val="lt1"/>
                </a:solidFill>
                <a:latin typeface="Garamond"/>
              </a:endParaRPr>
            </a:p>
          </p:txBody>
        </p:sp>
        <p:sp>
          <p:nvSpPr>
            <p:cNvPr id="104" name="Line 30"/>
            <p:cNvSpPr/>
            <p:nvPr/>
          </p:nvSpPr>
          <p:spPr>
            <a:xfrm flipV="1">
              <a:off x="6128640" y="3830760"/>
              <a:ext cx="2458800" cy="1433880"/>
            </a:xfrm>
            <a:prstGeom prst="line">
              <a:avLst/>
            </a:prstGeom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2400" spc="-1" strike="noStrike">
                <a:solidFill>
                  <a:schemeClr val="lt1"/>
                </a:solidFill>
                <a:latin typeface="Garamond"/>
              </a:endParaRPr>
            </a:p>
          </p:txBody>
        </p:sp>
        <p:sp>
          <p:nvSpPr>
            <p:cNvPr id="105" name="Oval 3"/>
            <p:cNvSpPr/>
            <p:nvPr/>
          </p:nvSpPr>
          <p:spPr>
            <a:xfrm>
              <a:off x="5848200" y="4983120"/>
              <a:ext cx="514080" cy="51408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lt1"/>
                  </a:solidFill>
                  <a:latin typeface="Arial"/>
                  <a:ea typeface="MS PGothic"/>
                </a:rPr>
                <a:t>C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Oval 4"/>
            <p:cNvSpPr/>
            <p:nvPr/>
          </p:nvSpPr>
          <p:spPr>
            <a:xfrm>
              <a:off x="8287200" y="3533040"/>
              <a:ext cx="514080" cy="514080"/>
            </a:xfrm>
            <a:prstGeom prst="ellipse">
              <a:avLst/>
            </a:prstGeom>
            <a:solidFill>
              <a:srgbClr val="7030a0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lt1"/>
                  </a:solidFill>
                  <a:latin typeface="Arial"/>
                  <a:ea typeface="MS PGothic"/>
                </a:rPr>
                <a:t>D</a:t>
              </a:r>
              <a:endParaRPr b="0" lang="en-U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" name="Oval 5"/>
            <p:cNvSpPr/>
            <p:nvPr/>
          </p:nvSpPr>
          <p:spPr>
            <a:xfrm>
              <a:off x="3389400" y="3539160"/>
              <a:ext cx="514080" cy="51408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lt1"/>
                  </a:solidFill>
                  <a:latin typeface="Arial"/>
                  <a:ea typeface="MS PGothic"/>
                </a:rPr>
                <a:t>I</a:t>
              </a:r>
              <a:endParaRPr b="0" lang="en-U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1480" y="392760"/>
            <a:ext cx="1125360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Problems with Breadth-First Search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9" name="" descr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219480" y="3055320"/>
            <a:ext cx="303840" cy="303840"/>
          </a:xfrm>
          <a:prstGeom prst="rect">
            <a:avLst/>
          </a:prstGeom>
          <a:ln w="0">
            <a:noFill/>
          </a:ln>
        </p:spPr>
      </p:pic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1506240" y="1263240"/>
            <a:ext cx="9167400" cy="1383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ffffff"/>
                </a:solidFill>
                <a:uFillTx/>
                <a:latin typeface="Arial Regular"/>
              </a:rPr>
              <a:t>While breadth-first search is effective, it has problems: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Lots of memory and lots of time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Optimal in terms of </a:t>
            </a:r>
            <a:r>
              <a:rPr b="1" i="1" lang="en-US" sz="2400" spc="-1" strike="noStrike">
                <a:solidFill>
                  <a:srgbClr val="ffffff"/>
                </a:solidFill>
                <a:latin typeface="Arial Regular"/>
              </a:rPr>
              <a:t>steps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(not necessarily </a:t>
            </a:r>
            <a:r>
              <a:rPr b="1" i="1" lang="en-US" sz="2400" spc="-1" strike="noStrike">
                <a:solidFill>
                  <a:srgbClr val="ffffff"/>
                </a:solidFill>
                <a:latin typeface="Arial Regular"/>
              </a:rPr>
              <a:t>cost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Rectangle 33"/>
          <p:cNvSpPr/>
          <p:nvPr/>
        </p:nvSpPr>
        <p:spPr>
          <a:xfrm>
            <a:off x="457200" y="5711040"/>
            <a:ext cx="11429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28160"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We can expand via a </a:t>
            </a:r>
            <a:r>
              <a:rPr b="1" i="1" lang="en-US" sz="2200" spc="-1" strike="noStrike">
                <a:solidFill>
                  <a:srgbClr val="00ff00"/>
                </a:solidFill>
                <a:latin typeface="Garamond"/>
              </a:rPr>
              <a:t>best-first search</a:t>
            </a: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 - one that processes elements according to some evaluation - with the “best” coming first, usually via priority queue.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" name="Graphic 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2180520" y="3104640"/>
            <a:ext cx="2865960" cy="136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7" dur="indefinite" restart="never" nodeType="tmRoot">
          <p:childTnLst>
            <p:seq>
              <p:cTn id="598" dur="indefinite" nodeType="mainSeq">
                <p:childTnLst>
                  <p:par>
                    <p:cTn id="599" fill="hold">
                      <p:stCondLst>
                        <p:cond delay="indefinite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3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4" fill="hold">
                      <p:stCondLst>
                        <p:cond delay="indefinite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id="6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8" dur="500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3" dur="500"/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4" fill="hold">
                      <p:stCondLst>
                        <p:cond delay="indefinite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id="6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fill="hold">
                      <p:stCondLst>
                        <p:cond delay="indefinite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5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6" dur="813" fill="hold"/>
                                        <p:tgtEl>
                                          <p:spTgt spid="10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7" fill="hold">
                      <p:stCondLst>
                        <p:cond delay="indefinite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006 -3.33333E-006 L 0.20287 0.21227 E">
                                      <p:cBhvr>
                                        <p:cTn id="630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1" fill="hold">
                      <p:stCondLst>
                        <p:cond delay="indefinite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287 0.21227 L 0.40612 0.00648 E">
                                      <p:cBhvr>
                                        <p:cTn id="634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5" fill="hold">
                      <p:stCondLst>
                        <p:cond delay="indefinite"/>
                      </p:stCondLst>
                      <p:childTnLst>
                        <p:par>
                          <p:cTn id="636" fill="hold">
                            <p:stCondLst>
                              <p:cond delay="0"/>
                            </p:stCondLst>
                            <p:childTnLst>
                              <p:par>
                                <p:cTn id="637" nodeType="clickEffect" fill="hold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638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9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1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42" dur="813" fill="hold"/>
                                        <p:tgtEl>
                                          <p:spTgt spid="10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3" fill="hold">
                      <p:stCondLst>
                        <p:cond delay="indefinite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showWhenStopped="0">
                <p:cTn>
                  <p:stCondLst>
                    <p:cond delay="indefinite"/>
                  </p:stCondLst>
                  <p:endCondLst>
                    <p:cond delay="0" evt="onNext"/>
                    <p:cond delay="0" evt="onPrev"/>
                    <p:cond delay="0" evt="onStopAudio"/>
                  </p:endCondLst>
                </p:cTn>
                <p:tgtEl>
                  <p:spTgt spid="109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Line 29"/>
          <p:cNvSpPr/>
          <p:nvPr/>
        </p:nvSpPr>
        <p:spPr>
          <a:xfrm flipH="1" flipV="1">
            <a:off x="8013960" y="3117600"/>
            <a:ext cx="3360960" cy="810000"/>
          </a:xfrm>
          <a:prstGeom prst="line">
            <a:avLst/>
          </a:prstGeom>
          <a:ln w="38100">
            <a:solidFill>
              <a:srgbClr val="a6a6a6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14" name="Line 40"/>
          <p:cNvSpPr/>
          <p:nvPr/>
        </p:nvSpPr>
        <p:spPr>
          <a:xfrm flipV="1">
            <a:off x="6424200" y="3109680"/>
            <a:ext cx="1589760" cy="80388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15" name="Line 41"/>
          <p:cNvSpPr/>
          <p:nvPr/>
        </p:nvSpPr>
        <p:spPr>
          <a:xfrm flipH="1" flipV="1">
            <a:off x="9713880" y="3102120"/>
            <a:ext cx="1592640" cy="80388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16" name="Line 42"/>
          <p:cNvSpPr/>
          <p:nvPr/>
        </p:nvSpPr>
        <p:spPr>
          <a:xfrm flipH="1">
            <a:off x="8013960" y="3124800"/>
            <a:ext cx="1699920" cy="648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17" name="Line 43"/>
          <p:cNvSpPr/>
          <p:nvPr/>
        </p:nvSpPr>
        <p:spPr>
          <a:xfrm flipH="1" flipV="1">
            <a:off x="6434280" y="3927600"/>
            <a:ext cx="2481840" cy="165240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18" name="Line 44"/>
          <p:cNvSpPr/>
          <p:nvPr/>
        </p:nvSpPr>
        <p:spPr>
          <a:xfrm flipV="1">
            <a:off x="8893080" y="3919320"/>
            <a:ext cx="2481840" cy="166068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981080" y="88200"/>
            <a:ext cx="8228520" cy="79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Greedy Best-First Search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92520" y="882720"/>
            <a:ext cx="12005640" cy="4924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algn="ctr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ff00"/>
                </a:solidFill>
                <a:latin typeface="Arial Regular"/>
              </a:rPr>
              <a:t>Greedy Best-First Search</a:t>
            </a:r>
            <a:r>
              <a:rPr b="0" lang="en-US" sz="2500" spc="-1" strike="noStrike">
                <a:solidFill>
                  <a:schemeClr val="dk1"/>
                </a:solidFill>
                <a:latin typeface="Arial Regular"/>
              </a:rPr>
              <a:t> sorts according to estimate of cost ahead, calculated via </a:t>
            </a:r>
            <a:r>
              <a:rPr b="1" i="1" lang="en-US" sz="2500" spc="-1" strike="noStrike">
                <a:solidFill>
                  <a:srgbClr val="00ff00"/>
                </a:solidFill>
                <a:latin typeface="Arial Regular"/>
              </a:rPr>
              <a:t>heuristic</a:t>
            </a:r>
            <a:r>
              <a:rPr b="0" lang="en-US" sz="2500" spc="-1" strike="noStrike">
                <a:solidFill>
                  <a:schemeClr val="dk1"/>
                </a:solidFill>
                <a:latin typeface="Arial Regular"/>
              </a:rPr>
              <a:t>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indent="0" algn="ctr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Oval 21"/>
          <p:cNvSpPr/>
          <p:nvPr/>
        </p:nvSpPr>
        <p:spPr>
          <a:xfrm>
            <a:off x="8636040" y="5317920"/>
            <a:ext cx="520560" cy="52056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eorgia"/>
                <a:ea typeface="MS PGothic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Oval 22"/>
          <p:cNvSpPr/>
          <p:nvPr/>
        </p:nvSpPr>
        <p:spPr>
          <a:xfrm>
            <a:off x="11114280" y="3659760"/>
            <a:ext cx="520560" cy="520560"/>
          </a:xfrm>
          <a:prstGeom prst="ellipse">
            <a:avLst/>
          </a:prstGeom>
          <a:solidFill>
            <a:srgbClr val="7030a0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eorgia"/>
                <a:ea typeface="MS PGothic"/>
              </a:rPr>
              <a:t>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Oval 23"/>
          <p:cNvSpPr/>
          <p:nvPr/>
        </p:nvSpPr>
        <p:spPr>
          <a:xfrm>
            <a:off x="9482040" y="2859480"/>
            <a:ext cx="520560" cy="52056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eorgia"/>
                <a:ea typeface="MS PGothic"/>
              </a:rPr>
              <a:t>B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Oval 24"/>
          <p:cNvSpPr/>
          <p:nvPr/>
        </p:nvSpPr>
        <p:spPr>
          <a:xfrm>
            <a:off x="7744320" y="2859480"/>
            <a:ext cx="520560" cy="52056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eorgia"/>
                <a:ea typeface="MS PGothic"/>
              </a:rPr>
              <a:t>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18"/>
          <p:cNvSpPr/>
          <p:nvPr/>
        </p:nvSpPr>
        <p:spPr>
          <a:xfrm>
            <a:off x="8548200" y="2683800"/>
            <a:ext cx="684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00"/>
                </a:solidFill>
                <a:latin typeface="Arial"/>
              </a:rPr>
              <a:t>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Box 19"/>
          <p:cNvSpPr/>
          <p:nvPr/>
        </p:nvSpPr>
        <p:spPr>
          <a:xfrm>
            <a:off x="10134720" y="4623840"/>
            <a:ext cx="721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00"/>
                </a:solidFill>
                <a:latin typeface="Arial"/>
              </a:rPr>
              <a:t>2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Box 20"/>
          <p:cNvSpPr/>
          <p:nvPr/>
        </p:nvSpPr>
        <p:spPr>
          <a:xfrm>
            <a:off x="10556640" y="3097080"/>
            <a:ext cx="56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00"/>
                </a:solidFill>
                <a:latin typeface="Arial"/>
              </a:rPr>
              <a:t>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Box 21"/>
          <p:cNvSpPr/>
          <p:nvPr/>
        </p:nvSpPr>
        <p:spPr>
          <a:xfrm>
            <a:off x="7282800" y="4623840"/>
            <a:ext cx="65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00"/>
                </a:solidFill>
                <a:latin typeface="Arial"/>
              </a:rPr>
              <a:t>2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Oval 25"/>
          <p:cNvSpPr/>
          <p:nvPr/>
        </p:nvSpPr>
        <p:spPr>
          <a:xfrm>
            <a:off x="6173640" y="3659760"/>
            <a:ext cx="520560" cy="520560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eorgia"/>
                <a:ea typeface="MS PGothic"/>
              </a:rPr>
              <a:t>I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Box 22"/>
          <p:cNvSpPr/>
          <p:nvPr/>
        </p:nvSpPr>
        <p:spPr>
          <a:xfrm>
            <a:off x="6996960" y="5981040"/>
            <a:ext cx="1883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</a:rPr>
              <a:t>SOLUTION: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ectangle 37"/>
          <p:cNvSpPr/>
          <p:nvPr/>
        </p:nvSpPr>
        <p:spPr>
          <a:xfrm>
            <a:off x="10097280" y="602136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 38"/>
          <p:cNvSpPr/>
          <p:nvPr/>
        </p:nvSpPr>
        <p:spPr>
          <a:xfrm>
            <a:off x="9716400" y="602136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B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Rectangle 39"/>
          <p:cNvSpPr/>
          <p:nvPr/>
        </p:nvSpPr>
        <p:spPr>
          <a:xfrm>
            <a:off x="9333000" y="602136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A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ectangle 40"/>
          <p:cNvSpPr/>
          <p:nvPr/>
        </p:nvSpPr>
        <p:spPr>
          <a:xfrm>
            <a:off x="8952120" y="602136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I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ectangle 41"/>
          <p:cNvSpPr/>
          <p:nvPr/>
        </p:nvSpPr>
        <p:spPr>
          <a:xfrm>
            <a:off x="8300880" y="209916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A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Rectangle 42"/>
          <p:cNvSpPr/>
          <p:nvPr/>
        </p:nvSpPr>
        <p:spPr>
          <a:xfrm>
            <a:off x="8683200" y="210060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B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Rectangle 43"/>
          <p:cNvSpPr/>
          <p:nvPr/>
        </p:nvSpPr>
        <p:spPr>
          <a:xfrm>
            <a:off x="9074160" y="209916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Rectangle 44"/>
          <p:cNvSpPr/>
          <p:nvPr/>
        </p:nvSpPr>
        <p:spPr>
          <a:xfrm>
            <a:off x="7922160" y="209916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I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Rectangle 45"/>
          <p:cNvSpPr/>
          <p:nvPr/>
        </p:nvSpPr>
        <p:spPr>
          <a:xfrm>
            <a:off x="9460440" y="2099160"/>
            <a:ext cx="379800" cy="37980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C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Line 45"/>
          <p:cNvSpPr/>
          <p:nvPr/>
        </p:nvSpPr>
        <p:spPr>
          <a:xfrm flipH="1" flipV="1">
            <a:off x="7878960" y="206244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41" name="Line 46"/>
          <p:cNvSpPr/>
          <p:nvPr/>
        </p:nvSpPr>
        <p:spPr>
          <a:xfrm flipH="1" flipV="1">
            <a:off x="8256600" y="206244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42" name="Line 47"/>
          <p:cNvSpPr/>
          <p:nvPr/>
        </p:nvSpPr>
        <p:spPr>
          <a:xfrm flipH="1" flipV="1">
            <a:off x="8644680" y="206388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43" name="Line 48"/>
          <p:cNvSpPr/>
          <p:nvPr/>
        </p:nvSpPr>
        <p:spPr>
          <a:xfrm flipH="1" flipV="1">
            <a:off x="9031680" y="206100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44" name="Arc 1"/>
          <p:cNvSpPr/>
          <p:nvPr/>
        </p:nvSpPr>
        <p:spPr>
          <a:xfrm rot="18540600">
            <a:off x="8060040" y="1953360"/>
            <a:ext cx="483840" cy="54288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5" name="TextBox 23"/>
          <p:cNvSpPr/>
          <p:nvPr/>
        </p:nvSpPr>
        <p:spPr>
          <a:xfrm>
            <a:off x="8325720" y="1360800"/>
            <a:ext cx="1132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 u="sng">
                <a:solidFill>
                  <a:schemeClr val="lt1"/>
                </a:solidFill>
                <a:uFillTx/>
                <a:latin typeface="Arial"/>
              </a:rPr>
              <a:t>Queue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Arc 2"/>
          <p:cNvSpPr/>
          <p:nvPr/>
        </p:nvSpPr>
        <p:spPr>
          <a:xfrm flipV="1" rot="5400000">
            <a:off x="8404560" y="1209600"/>
            <a:ext cx="963360" cy="1993680"/>
          </a:xfrm>
          <a:prstGeom prst="arc">
            <a:avLst>
              <a:gd name="adj1" fmla="val 17434069"/>
              <a:gd name="adj2" fmla="val 4129286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7" name="Arc 3"/>
          <p:cNvSpPr/>
          <p:nvPr/>
        </p:nvSpPr>
        <p:spPr>
          <a:xfrm rot="18540600">
            <a:off x="8879760" y="1959120"/>
            <a:ext cx="483840" cy="54288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8" name="Arc 4"/>
          <p:cNvSpPr/>
          <p:nvPr/>
        </p:nvSpPr>
        <p:spPr>
          <a:xfrm rot="18508800">
            <a:off x="8591040" y="1860840"/>
            <a:ext cx="503280" cy="914040"/>
          </a:xfrm>
          <a:prstGeom prst="arc">
            <a:avLst>
              <a:gd name="adj1" fmla="val 15973294"/>
              <a:gd name="adj2" fmla="val 19775590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49" name="" descr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635920" y="419040"/>
            <a:ext cx="303840" cy="303840"/>
          </a:xfrm>
          <a:prstGeom prst="rect">
            <a:avLst/>
          </a:prstGeom>
          <a:ln w="0">
            <a:noFill/>
          </a:ln>
        </p:spPr>
      </p:pic>
      <p:sp>
        <p:nvSpPr>
          <p:cNvPr id="150" name="TextBox 24"/>
          <p:cNvSpPr/>
          <p:nvPr/>
        </p:nvSpPr>
        <p:spPr>
          <a:xfrm>
            <a:off x="6804360" y="3097080"/>
            <a:ext cx="56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00"/>
                </a:solidFill>
                <a:latin typeface="Arial"/>
              </a:rPr>
              <a:t>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25"/>
          <p:cNvSpPr/>
          <p:nvPr/>
        </p:nvSpPr>
        <p:spPr>
          <a:xfrm>
            <a:off x="9314640" y="3503520"/>
            <a:ext cx="807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>
                    <a:lumMod val="85000"/>
                  </a:schemeClr>
                </a:solidFill>
                <a:latin typeface="Arial"/>
              </a:rPr>
              <a:t>1.75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2" name="Graphic 15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999320" y="3220560"/>
            <a:ext cx="2865960" cy="1361160"/>
          </a:xfrm>
          <a:prstGeom prst="rect">
            <a:avLst/>
          </a:prstGeom>
          <a:ln w="0">
            <a:noFill/>
          </a:ln>
        </p:spPr>
      </p:pic>
      <p:sp>
        <p:nvSpPr>
          <p:cNvPr id="153" name="Rectangle 58"/>
          <p:cNvSpPr/>
          <p:nvPr/>
        </p:nvSpPr>
        <p:spPr>
          <a:xfrm>
            <a:off x="485640" y="1535400"/>
            <a:ext cx="5288760" cy="49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rmAutofit fontScale="98333" lnSpcReduction="1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r>
              <a:rPr b="0" lang="en-US" sz="2500" spc="-1" strike="noStrike" u="sng">
                <a:solidFill>
                  <a:schemeClr val="lt1"/>
                </a:solidFill>
                <a:uFillTx/>
                <a:latin typeface="Garamond"/>
              </a:rPr>
              <a:t>Greedy Best-First Search is…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500" spc="-1" strike="noStrike">
                <a:solidFill>
                  <a:schemeClr val="lt1"/>
                </a:solidFill>
                <a:latin typeface="Garamond"/>
              </a:rPr>
              <a:t>Systematic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500" spc="-1" strike="noStrike">
                <a:solidFill>
                  <a:srgbClr val="00ff00"/>
                </a:solidFill>
                <a:latin typeface="Garamond"/>
              </a:rPr>
              <a:t>Informed</a:t>
            </a:r>
            <a:r>
              <a:rPr b="0" lang="en-US" sz="2500" spc="-1" strike="noStrike">
                <a:solidFill>
                  <a:schemeClr val="lt1"/>
                </a:solidFill>
                <a:latin typeface="Garamond"/>
              </a:rPr>
              <a:t> (uses some knowledge)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500" spc="-1" strike="noStrike">
                <a:solidFill>
                  <a:schemeClr val="lt1"/>
                </a:solidFill>
                <a:latin typeface="Garamond"/>
              </a:rPr>
              <a:t>Not optimal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500" spc="-1" strike="noStrike">
                <a:solidFill>
                  <a:schemeClr val="lt1"/>
                </a:solidFill>
                <a:latin typeface="Garamond"/>
              </a:rPr>
              <a:t>Complete* (sometimes)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500" spc="-1" strike="noStrike">
                <a:solidFill>
                  <a:schemeClr val="lt1"/>
                </a:solidFill>
                <a:latin typeface="Garamond"/>
              </a:rPr>
              <a:t>Exhaustive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2500" spc="-1" strike="noStrike">
                <a:solidFill>
                  <a:schemeClr val="lt1"/>
                </a:solidFill>
                <a:latin typeface="Garamond"/>
              </a:rPr>
              <a:t>We will need to track the </a:t>
            </a:r>
            <a:r>
              <a:rPr b="1" lang="en-US" sz="2500" spc="-1" strike="noStrike">
                <a:solidFill>
                  <a:srgbClr val="00ff00"/>
                </a:solidFill>
                <a:latin typeface="Garamond"/>
              </a:rPr>
              <a:t>heuristic cost </a:t>
            </a:r>
            <a:r>
              <a:rPr b="0" lang="en-US" sz="2500" spc="-1" strike="noStrike">
                <a:solidFill>
                  <a:schemeClr val="lt1"/>
                </a:solidFill>
                <a:latin typeface="Garamond"/>
              </a:rPr>
              <a:t>for each state we encounter.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48" dur="indefinite" restart="never" nodeType="tmRoot">
          <p:childTnLst>
            <p:seq>
              <p:cTn id="649" dur="indefinite" nodeType="mainSeq">
                <p:childTnLst>
                  <p:par>
                    <p:cTn id="650" fill="hold">
                      <p:stCondLst>
                        <p:cond delay="indefinite"/>
                      </p:stCondLst>
                      <p:childTnLst>
                        <p:par>
                          <p:cTn id="651" fill="hold">
                            <p:stCondLst>
                              <p:cond delay="0"/>
                            </p:stCondLst>
                            <p:childTnLst>
                              <p:par>
                                <p:cTn id="6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4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1" fill="hold">
                      <p:stCondLst>
                        <p:cond delay="indefinite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6" fill="hold">
                      <p:stCondLst>
                        <p:cond delay="indefinite"/>
                      </p:stCondLst>
                      <p:childTnLst>
                        <p:par>
                          <p:cTn id="717" fill="hold">
                            <p:stCondLst>
                              <p:cond delay="0"/>
                            </p:stCondLst>
                            <p:childTnLst>
                              <p:par>
                                <p:cTn id="718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19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20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5" fill="hold">
                      <p:stCondLst>
                        <p:cond delay="indefinite"/>
                      </p:stCondLst>
                      <p:childTnLst>
                        <p:par>
                          <p:cTn id="726" fill="hold">
                            <p:stCondLst>
                              <p:cond delay="0"/>
                            </p:stCondLst>
                            <p:childTnLst>
                              <p:par>
                                <p:cTn id="727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2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72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7" fill="hold">
                      <p:stCondLst>
                        <p:cond delay="indefinite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id="739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4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74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9" fill="hold">
                      <p:stCondLst>
                        <p:cond delay="indefinite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5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75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8" fill="hold">
                      <p:stCondLst>
                        <p:cond delay="indefinite"/>
                      </p:stCondLst>
                      <p:childTnLst>
                        <p:par>
                          <p:cTn id="759" fill="hold">
                            <p:stCondLst>
                              <p:cond delay="0"/>
                            </p:stCondLst>
                            <p:childTnLst>
                              <p:par>
                                <p:cTn id="760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6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6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4" fill="hold">
                      <p:stCondLst>
                        <p:cond delay="indefinite"/>
                      </p:stCondLst>
                      <p:childTnLst>
                        <p:par>
                          <p:cTn id="765" fill="hold">
                            <p:stCondLst>
                              <p:cond delay="0"/>
                            </p:stCondLst>
                            <p:childTnLst>
                              <p:par>
                                <p:cTn id="766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6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76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6" fill="hold">
                      <p:stCondLst>
                        <p:cond delay="indefinite"/>
                      </p:stCondLst>
                      <p:childTnLst>
                        <p:par>
                          <p:cTn id="777" fill="hold">
                            <p:stCondLst>
                              <p:cond delay="0"/>
                            </p:stCondLst>
                            <p:childTnLst>
                              <p:par>
                                <p:cTn id="778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7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78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2" fill="hold">
                      <p:stCondLst>
                        <p:cond delay="indefinite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id="784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8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8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1" fill="hold">
                      <p:stCondLst>
                        <p:cond delay="indefinite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9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79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3" fill="hold">
                      <p:stCondLst>
                        <p:cond delay="indefinite"/>
                      </p:stCondLst>
                      <p:childTnLst>
                        <p:par>
                          <p:cTn id="804" fill="hold">
                            <p:stCondLst>
                              <p:cond delay="0"/>
                            </p:stCondLst>
                            <p:childTnLst>
                              <p:par>
                                <p:cTn id="805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80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80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9" fill="hold">
                      <p:stCondLst>
                        <p:cond delay="indefinite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id="811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81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1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8" fill="hold">
                      <p:stCondLst>
                        <p:cond delay="indefinite"/>
                      </p:stCondLst>
                      <p:childTnLst>
                        <p:par>
                          <p:cTn id="819" fill="hold">
                            <p:stCondLst>
                              <p:cond delay="0"/>
                            </p:stCondLst>
                            <p:childTnLst>
                              <p:par>
                                <p:cTn id="8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6" fill="hold">
                      <p:stCondLst>
                        <p:cond delay="indefinite"/>
                      </p:stCondLst>
                      <p:childTnLst>
                        <p:par>
                          <p:cTn id="827" fill="hold">
                            <p:stCondLst>
                              <p:cond delay="0"/>
                            </p:stCondLst>
                            <p:childTnLst>
                              <p:par>
                                <p:cTn id="8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1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83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83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4" fill="hold">
                      <p:stCondLst>
                        <p:cond delay="indefinite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9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840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84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2" fill="hold">
                      <p:stCondLst>
                        <p:cond delay="indefinite"/>
                      </p:stCondLst>
                      <p:childTnLst>
                        <p:par>
                          <p:cTn id="843" fill="hold">
                            <p:stCondLst>
                              <p:cond delay="0"/>
                            </p:stCondLst>
                            <p:childTnLst>
                              <p:par>
                                <p:cTn id="8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7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84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849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0" fill="hold">
                      <p:stCondLst>
                        <p:cond delay="indefinite"/>
                      </p:stCondLst>
                      <p:childTnLst>
                        <p:par>
                          <p:cTn id="851" fill="hold">
                            <p:stCondLst>
                              <p:cond delay="0"/>
                            </p:stCondLst>
                            <p:childTnLst>
                              <p:par>
                                <p:cTn id="852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54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6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57" dur="813" fill="hold"/>
                                        <p:tgtEl>
                                          <p:spTgt spid="1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8" fill="hold">
                      <p:stCondLst>
                        <p:cond delay="indefinite"/>
                      </p:stCondLst>
                      <p:childTnLst>
                        <p:par>
                          <p:cTn id="859" fill="hold">
                            <p:stCondLst>
                              <p:cond delay="0"/>
                            </p:stCondLst>
                            <p:childTnLst>
                              <p:par>
                                <p:cTn id="860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006 -1.48148E-006 L 0.13086 -0.11111 E">
                                      <p:cBhvr>
                                        <p:cTn id="861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2" fill="hold">
                      <p:stCondLst>
                        <p:cond delay="indefinite"/>
                      </p:stCondLst>
                      <p:childTnLst>
                        <p:par>
                          <p:cTn id="863" fill="hold">
                            <p:stCondLst>
                              <p:cond delay="0"/>
                            </p:stCondLst>
                            <p:childTnLst>
                              <p:par>
                                <p:cTn id="864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086 -0.11111 L 0.26914 -0.11435 E">
                                      <p:cBhvr>
                                        <p:cTn id="865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6" fill="hold">
                      <p:stCondLst>
                        <p:cond delay="indefinite"/>
                      </p:stCondLst>
                      <p:childTnLst>
                        <p:par>
                          <p:cTn id="867" fill="hold">
                            <p:stCondLst>
                              <p:cond delay="0"/>
                            </p:stCondLst>
                            <p:childTnLst>
                              <p:par>
                                <p:cTn id="868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14 -0.11435 L 0.40534 0.00185 E">
                                      <p:cBhvr>
                                        <p:cTn id="869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0" fill="hold">
                      <p:stCondLst>
                        <p:cond delay="indefinite"/>
                      </p:stCondLst>
                      <p:childTnLst>
                        <p:par>
                          <p:cTn id="871" fill="hold">
                            <p:stCondLst>
                              <p:cond delay="0"/>
                            </p:stCondLst>
                            <p:childTnLst>
                              <p:par>
                                <p:cTn id="872" nodeType="clickEffect" fill="hold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873"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74"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6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77" dur="813" fill="hold"/>
                                        <p:tgtEl>
                                          <p:spTgt spid="1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8" fill="hold">
                      <p:stCondLst>
                        <p:cond delay="indefinite"/>
                      </p:stCondLst>
                      <p:childTnLst>
                        <p:par>
                          <p:cTn id="879" fill="hold">
                            <p:stCondLst>
                              <p:cond delay="0"/>
                            </p:stCondLst>
                            <p:childTnLst>
                              <p:par>
                                <p:cTn id="8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2" dur="5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3" fill="hold">
                      <p:stCondLst>
                        <p:cond delay="indefinite"/>
                      </p:stCondLst>
                      <p:childTnLst>
                        <p:par>
                          <p:cTn id="884" fill="hold">
                            <p:stCondLst>
                              <p:cond delay="0"/>
                            </p:stCondLst>
                            <p:childTnLst>
                              <p:par>
                                <p:cTn id="88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87" dur="500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8" fill="hold">
                      <p:stCondLst>
                        <p:cond delay="indefinite"/>
                      </p:stCondLst>
                      <p:childTnLst>
                        <p:par>
                          <p:cTn id="889" fill="hold">
                            <p:stCondLst>
                              <p:cond delay="0"/>
                            </p:stCondLst>
                            <p:childTnLst>
                              <p:par>
                                <p:cTn id="89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92" dur="500"/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3" fill="hold">
                      <p:stCondLst>
                        <p:cond delay="indefinite"/>
                      </p:stCondLst>
                      <p:childTnLst>
                        <p:par>
                          <p:cTn id="894" fill="hold">
                            <p:stCondLst>
                              <p:cond delay="0"/>
                            </p:stCondLst>
                            <p:childTnLst>
                              <p:par>
                                <p:cTn id="89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97" dur="500"/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8" fill="hold">
                      <p:stCondLst>
                        <p:cond delay="indefinite"/>
                      </p:stCondLst>
                      <p:childTnLst>
                        <p:par>
                          <p:cTn id="899" fill="hold">
                            <p:stCondLst>
                              <p:cond delay="0"/>
                            </p:stCondLst>
                            <p:childTnLst>
                              <p:par>
                                <p:cTn id="90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02" dur="500"/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3" fill="hold">
                      <p:stCondLst>
                        <p:cond delay="indefinite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07" dur="500"/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8" fill="hold">
                      <p:stCondLst>
                        <p:cond delay="indefinite"/>
                      </p:stCondLst>
                      <p:childTnLst>
                        <p:par>
                          <p:cTn id="909" fill="hold">
                            <p:stCondLst>
                              <p:cond delay="0"/>
                            </p:stCondLst>
                            <p:childTnLst>
                              <p:par>
                                <p:cTn id="91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12" dur="500"/>
                                        <p:tgtEl>
                                          <p:spTgt spid="1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showWhenStopped="0">
                <p:cTn>
                  <p:stCondLst>
                    <p:cond delay="indefinite"/>
                  </p:stCondLst>
                  <p:endCondLst>
                    <p:cond delay="0" evt="onNext"/>
                    <p:cond delay="0" evt="onPrev"/>
                    <p:cond delay="0" evt="onStopAudio"/>
                  </p:endCondLst>
                </p:cTn>
                <p:tgtEl>
                  <p:spTgt spid="14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720" y="414360"/>
            <a:ext cx="1118160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Greedy Best-First Search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Box 9"/>
          <p:cNvSpPr/>
          <p:nvPr/>
        </p:nvSpPr>
        <p:spPr>
          <a:xfrm>
            <a:off x="4441320" y="1252800"/>
            <a:ext cx="7756200" cy="4247280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def breadthFirstSearch(start, goal):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open = </a:t>
            </a:r>
            <a:r>
              <a:rPr b="1" lang="en-US" sz="1500" spc="-1" strike="noStrike">
                <a:solidFill>
                  <a:srgbClr val="ffff00"/>
                </a:solidFill>
                <a:latin typeface="Consolas"/>
              </a:rPr>
              <a:t>priority_queue()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open.enqueue(PlannerNode(start, None, </a:t>
            </a:r>
            <a:r>
              <a:rPr b="1" lang="en-US" sz="1500" spc="-1" strike="noStrike">
                <a:solidFill>
                  <a:srgbClr val="ffff00"/>
                </a:solidFill>
                <a:latin typeface="Consolas"/>
              </a:rPr>
              <a:t>est(start, goal)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))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visited = { start: open.peek() 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while not len(open) is 0: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current = open.pop()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if current.vertex is goal: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return build_solution(start, current)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for edge in current.vertex.edges: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successor = edge.endpoint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if not visited[successor]: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newNode = PlannerNode(successor, current, </a:t>
            </a:r>
            <a:r>
              <a:rPr b="1" lang="en-US" sz="1500" spc="-1" strike="noStrike">
                <a:solidFill>
                  <a:srgbClr val="ffff00"/>
                </a:solidFill>
                <a:latin typeface="Consolas"/>
              </a:rPr>
              <a:t>est(start, goal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visited[successor] = newNode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open.enqueue(newNode)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Box 10"/>
          <p:cNvSpPr/>
          <p:nvPr/>
        </p:nvSpPr>
        <p:spPr>
          <a:xfrm>
            <a:off x="1800" y="1252800"/>
            <a:ext cx="4431600" cy="2010600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class PlannerNode: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def __init__(self, v, p, h):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self.vertex = v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self.parent = 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00ff00"/>
                </a:solidFill>
                <a:latin typeface="Consolas"/>
              </a:rPr>
              <a:t>    </a:t>
            </a:r>
            <a:r>
              <a:rPr b="1" lang="en-US" sz="1500" spc="-1" strike="noStrike">
                <a:solidFill>
                  <a:srgbClr val="00ff00"/>
                </a:solidFill>
                <a:latin typeface="Consolas"/>
              </a:rPr>
              <a:t>self.hCost = h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ff00"/>
                </a:solidFill>
                <a:latin typeface="Consolas"/>
              </a:rPr>
              <a:t>  </a:t>
            </a:r>
            <a:r>
              <a:rPr b="1" lang="en-US" sz="1500" spc="-1" strike="noStrike">
                <a:solidFill>
                  <a:srgbClr val="00ff00"/>
                </a:solidFill>
                <a:latin typeface="Consolas"/>
              </a:rPr>
              <a:t>def __cmp__(self, oth):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ff00"/>
                </a:solidFill>
                <a:latin typeface="Consolas"/>
              </a:rPr>
              <a:t>    </a:t>
            </a:r>
            <a:r>
              <a:rPr b="1" lang="en-US" sz="1500" spc="-1" strike="noStrike">
                <a:solidFill>
                  <a:srgbClr val="00ff00"/>
                </a:solidFill>
                <a:latin typeface="Consolas"/>
              </a:rPr>
              <a:t>return cmp(self.hCost, oth.hCost)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13" dur="indefinite" restart="never" nodeType="tmRoot">
          <p:childTnLst>
            <p:seq>
              <p:cTn id="914" dur="indefinite" nodeType="mainSeq">
                <p:childTnLst>
                  <p:par>
                    <p:cTn id="915" fill="hold">
                      <p:stCondLst>
                        <p:cond delay="indefinite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1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22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25" dur="5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28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31" dur="500"/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2" fill="hold">
                      <p:stCondLst>
                        <p:cond delay="indefinite"/>
                      </p:stCondLst>
                      <p:childTnLst>
                        <p:par>
                          <p:cTn id="933" fill="hold">
                            <p:stCondLst>
                              <p:cond delay="0"/>
                            </p:stCondLst>
                            <p:childTnLst>
                              <p:par>
                                <p:cTn id="93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36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7" fill="hold">
                      <p:stCondLst>
                        <p:cond delay="indefinite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41" dur="5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2" fill="hold">
                      <p:stCondLst>
                        <p:cond delay="indefinite"/>
                      </p:stCondLst>
                      <p:childTnLst>
                        <p:par>
                          <p:cTn id="943" fill="hold">
                            <p:stCondLst>
                              <p:cond delay="0"/>
                            </p:stCondLst>
                            <p:childTnLst>
                              <p:par>
                                <p:cTn id="94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46" dur="500"/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7" fill="hold">
                      <p:stCondLst>
                        <p:cond delay="indefinite"/>
                      </p:stCondLst>
                      <p:childTnLst>
                        <p:par>
                          <p:cTn id="948" fill="hold">
                            <p:stCondLst>
                              <p:cond delay="0"/>
                            </p:stCondLst>
                            <p:childTnLst>
                              <p:par>
                                <p:cTn id="94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5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54" dur="5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57" dur="500"/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60" dur="500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63" dur="500"/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66" dur="500"/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69" dur="500"/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72" dur="500"/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75" dur="500"/>
                                        <p:tgtEl>
                                          <p:spTgt spid="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78" dur="500"/>
                                        <p:tgtEl>
                                          <p:spTgt spid="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81" dur="500"/>
                                        <p:tgtEl>
                                          <p:spTgt spid="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84" dur="500"/>
                                        <p:tgtEl>
                                          <p:spTgt spid="1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87" dur="500"/>
                                        <p:tgtEl>
                                          <p:spTgt spid="1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90" dur="500"/>
                                        <p:tgtEl>
                                          <p:spTgt spid="1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93" dur="500"/>
                                        <p:tgtEl>
                                          <p:spTgt spid="1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/>
          </p:nvPr>
        </p:nvSpPr>
        <p:spPr>
          <a:xfrm>
            <a:off x="1377000" y="1056600"/>
            <a:ext cx="9517320" cy="55904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3333"/>
          </a:bodyPr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Greedy Best-first search has some benefits and drawbacks.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</a:rPr>
              <a:t>The Good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Much faster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Uses less memory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Can find better solutions than breadth-first sometimes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</a:rPr>
              <a:t>The Bad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Not guaranteed to use minimal steps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Highly dependent on choice of heuristic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</a:rPr>
              <a:t>The Ugly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Can find worse solutions than breadth-first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In infinite spaces, may never find a solution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Due to its limitations, greedy best-first has limited application in modern games.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title"/>
          </p:nvPr>
        </p:nvSpPr>
        <p:spPr>
          <a:xfrm>
            <a:off x="468720" y="209880"/>
            <a:ext cx="1125360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Shortcomings of Greedy Best-First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94" dur="indefinite" restart="never" nodeType="tmRoot">
          <p:childTnLst>
            <p:seq>
              <p:cTn id="995" dur="indefinite" nodeType="mainSeq">
                <p:childTnLst>
                  <p:par>
                    <p:cTn id="996" fill="hold">
                      <p:stCondLst>
                        <p:cond delay="indefinite"/>
                      </p:stCondLst>
                      <p:childTnLst>
                        <p:par>
                          <p:cTn id="997" fill="hold">
                            <p:stCondLst>
                              <p:cond delay="0"/>
                            </p:stCondLst>
                            <p:childTnLst>
                              <p:par>
                                <p:cTn id="9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0" dur="500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1" fill="hold">
                      <p:stCondLst>
                        <p:cond delay="indefinite"/>
                      </p:stCondLst>
                      <p:childTnLst>
                        <p:par>
                          <p:cTn id="1002" fill="hold">
                            <p:stCondLst>
                              <p:cond delay="0"/>
                            </p:stCondLst>
                            <p:childTnLst>
                              <p:par>
                                <p:cTn id="10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5" dur="500"/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8" dur="500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1" dur="500"/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4" dur="500"/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par>
                                <p:cTn id="10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9" dur="500"/>
                                        <p:tgtEl>
                                          <p:spTgt spid="1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2" dur="500"/>
                                        <p:tgtEl>
                                          <p:spTgt spid="1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5" dur="500"/>
                                        <p:tgtEl>
                                          <p:spTgt spid="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6" fill="hold">
                      <p:stCondLst>
                        <p:cond delay="indefinite"/>
                      </p:stCondLst>
                      <p:childTnLst>
                        <p:par>
                          <p:cTn id="1027" fill="hold">
                            <p:stCondLst>
                              <p:cond delay="0"/>
                            </p:stCondLst>
                            <p:childTnLst>
                              <p:par>
                                <p:cTn id="10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0" dur="500"/>
                                        <p:tgtEl>
                                          <p:spTgt spid="1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3" dur="500"/>
                                        <p:tgtEl>
                                          <p:spTgt spid="15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6" dur="500"/>
                                        <p:tgtEl>
                                          <p:spTgt spid="15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>
                      <p:stCondLst>
                        <p:cond delay="indefinite"/>
                      </p:stCondLst>
                      <p:childTnLst>
                        <p:par>
                          <p:cTn id="1038" fill="hold">
                            <p:stCondLst>
                              <p:cond delay="0"/>
                            </p:stCondLst>
                            <p:childTnLst>
                              <p:par>
                                <p:cTn id="10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41" dur="500"/>
                                        <p:tgtEl>
                                          <p:spTgt spid="15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28160" y="2943000"/>
            <a:ext cx="11934720" cy="80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194" strike="noStrike">
                <a:solidFill>
                  <a:schemeClr val="lt1"/>
                </a:solidFill>
                <a:latin typeface="Arial"/>
              </a:rPr>
              <a:t>Fin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cap4053_ppt_template_rev4</Template>
  <TotalTime>1948</TotalTime>
  <Application>LibreOffice/24.2.7.2$Linux_X86_64 LibreOffice_project/420$Build-2</Application>
  <AppVersion>15.0000</AppVersion>
  <Words>582</Words>
  <Paragraphs>115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2018-12-03T19:06:11Z</dcterms:created>
  <dc:creator>Jeremiah Blanchard</dc:creator>
  <dc:description/>
  <dc:language>en-US</dc:language>
  <cp:lastModifiedBy/>
  <dcterms:modified xsi:type="dcterms:W3CDTF">2025-09-25T09:12:47Z</dcterms:modified>
  <cp:revision>23</cp:revision>
  <dc:subject/>
  <dc:title>Search Spaces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Notes">
    <vt:i4>2</vt:i4>
  </property>
  <property fmtid="{D5CDD505-2E9C-101B-9397-08002B2CF9AE}" pid="8" name="PresentationFormat">
    <vt:lpwstr>Widescreen</vt:lpwstr>
  </property>
  <property fmtid="{D5CDD505-2E9C-101B-9397-08002B2CF9AE}" pid="9" name="Slides">
    <vt:i4>11</vt:i4>
  </property>
</Properties>
</file>