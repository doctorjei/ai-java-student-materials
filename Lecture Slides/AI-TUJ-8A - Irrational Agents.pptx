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10.wmf" ContentType="image/x-wmf"/>
  <Override PartName="/ppt/media/image5.png" ContentType="image/png"/>
  <Override PartName="/ppt/media/image6.svg" ContentType="image/svg"/>
  <Override PartName="/ppt/media/image8.wmf" ContentType="image/x-wmf"/>
  <Override PartName="/ppt/media/image9.png" ContentType="image/png"/>
  <Override PartName="/ppt/media/image7.wmf" ContentType="image/x-wmf"/>
  <Override PartName="/ppt/media/image11.wmf" ContentType="image/x-wmf"/>
  <Override PartName="/ppt/media/image1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8AB5E528-E033-4B77-83A9-ED07DF0991C9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C6FF029B-F708-44F7-8C38-FE62C96DDF7D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B3FBC6C5-1CBD-4AA0-82B0-4B28B5FB16E5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60E91247-1D02-4FCF-8B24-A1C7F54FF034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C0B4708F-EFFD-4E56-8D70-5A24D18C2942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4CB2B8A4-981F-4424-A238-BE12EEF7FED8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9A1FF87F-C3AB-4271-A7DE-812FF7F9B8D0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821311C8-701D-45F4-AF96-5893D52FB961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288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defRPr>
            </a:lvl1pPr>
          </a:lstStyle>
          <a:p>
            <a:pPr indent="0" algn="r" defTabSz="928800">
              <a:lnSpc>
                <a:spcPct val="100000"/>
              </a:lnSpc>
              <a:buNone/>
              <a:tabLst>
                <a:tab algn="l" pos="0"/>
              </a:tabLst>
            </a:pPr>
            <a:fld id="{4465DE15-36FA-4414-8AED-CBA57C9F5260}" type="slidenum">
              <a:rPr b="0" lang="en-US" sz="1200" spc="-1" strike="noStrike">
                <a:solidFill>
                  <a:schemeClr val="dk1"/>
                </a:solidFill>
                <a:latin typeface="Arial"/>
                <a:ea typeface="ＭＳ Ｐゴシック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160" cy="4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Handling Illogical Behavior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000" cy="7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4" strike="noStrike">
                <a:solidFill>
                  <a:schemeClr val="lt1"/>
                </a:solidFill>
                <a:latin typeface="Garamond"/>
              </a:rPr>
              <a:t>Irrational Agents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Graphic 11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82760" y="2318760"/>
            <a:ext cx="2225520" cy="246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Rationality in Agents: Review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828800" y="1471320"/>
            <a:ext cx="9753120" cy="5003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Rationality is degree of reason an agent uses in its decisions.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A perfectly rational agent…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Assumes opponents are rational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Makes predictions about opponents’ behaviors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Makes logical decisions based on those predictions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Multiplayer games can be: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Symmetric (all players have the same abilities)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Asymmetric (players have different abilities)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nodeType="clickEffect" fill="hold">
                      <p:stCondLst>
                        <p:cond delay="indefinite"/>
                      </p:stCondLst>
                      <p:childTnLst>
                        <p:par>
                          <p:cTn id="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nodeType="clickEffect" fill="hold">
                      <p:stCondLst>
                        <p:cond delay="indefinite"/>
                      </p:stCondLst>
                      <p:childTnLst>
                        <p:par>
                          <p:cTn id="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nodeType="clickEffect" fill="hold">
                      <p:stCondLst>
                        <p:cond delay="indefinite"/>
                      </p:stCondLst>
                      <p:childTnLst>
                        <p:par>
                          <p:cTn id="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8720" y="36504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  <a:ea typeface="ＭＳ Ｐゴシック"/>
              </a:rPr>
              <a:t>Rationality – The Pirate Game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606680" y="1279440"/>
            <a:ext cx="9217080" cy="5212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7222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Let’s consider rational agents in “The Pirate Game.”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There are 100 gold coins to be split.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The most senior pirate proposes a distribution.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All pirates vote on whether to accept (senior wins ties).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If the proposal is rejected, senior is thrown overboard.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All else being equal, pirates will opt to eliminate each other.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Until there is an agreement, continue voting.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Consider a game with five pirates, oldest to youngest: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Albert, Barry, Clyde, Doug, Evan.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At first, perhaps we think Albert should try to be equitable. However, this is not actually the most rational decision – it is an </a:t>
            </a:r>
            <a:r>
              <a:rPr b="1" i="1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appeal to emotion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(fairness).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307360" y="1873800"/>
            <a:ext cx="2213280" cy="221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" dur="indefinite" restart="never" nodeType="tmRoot">
          <p:childTnLst>
            <p:seq>
              <p:cTn id="44" dur="indefinite" nodeType="mainSeq">
                <p:childTnLst>
                  <p:par>
                    <p:cTn id="45" nodeType="clickEffect" fill="hold">
                      <p:stCondLst>
                        <p:cond delay="indefinite"/>
                      </p:stCondLst>
                      <p:childTnLst>
                        <p:par>
                          <p:cTn id="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nodeType="clickEffect" fill="hold">
                      <p:stCondLst>
                        <p:cond delay="indefinite"/>
                      </p:stCondLst>
                      <p:childTnLst>
                        <p:par>
                          <p:cTn id="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9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8720" y="28836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  <a:ea typeface="ＭＳ Ｐゴシック"/>
              </a:rPr>
              <a:t>Rationality – The Pirate Game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Rectangle 13"/>
          <p:cNvSpPr/>
          <p:nvPr/>
        </p:nvSpPr>
        <p:spPr>
          <a:xfrm>
            <a:off x="2621880" y="962640"/>
            <a:ext cx="6947640" cy="532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Instead, let’s work backwards, starting with just Doug and Evan.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756800" y="1495800"/>
            <a:ext cx="3900960" cy="1878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ffff"/>
                </a:solidFill>
                <a:latin typeface="Arial"/>
                <a:ea typeface="ＭＳ Ｐゴシック"/>
              </a:rPr>
              <a:t>Doug knows that he wins ties: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Garamond"/>
                <a:ea typeface="ＭＳ Ｐゴシック"/>
              </a:rPr>
              <a:t>Pirate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rgbClr val="ffffff"/>
                </a:solidFill>
                <a:uFillTx/>
                <a:latin typeface="Garamond"/>
                <a:ea typeface="ＭＳ Ｐゴシック"/>
              </a:rPr>
              <a:t>Gold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rgbClr val="ffffff"/>
                </a:solidFill>
                <a:uFillTx/>
                <a:latin typeface="Garamond"/>
                <a:ea typeface="ＭＳ Ｐゴシック"/>
              </a:rPr>
              <a:t>Vote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Doug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100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Yes*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Evan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0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Garamond"/>
                <a:ea typeface="ＭＳ Ｐゴシック"/>
              </a:rPr>
              <a:t>No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ight Arrow 14"/>
          <p:cNvSpPr/>
          <p:nvPr/>
        </p:nvSpPr>
        <p:spPr>
          <a:xfrm rot="5400000">
            <a:off x="3010320" y="3535200"/>
            <a:ext cx="54864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9525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1" lang="en-US" sz="3200" spc="-1" strike="noStrike" u="sng">
              <a:solidFill>
                <a:srgbClr val="00ff00"/>
              </a:solidFill>
              <a:uFillTx/>
              <a:latin typeface="Garamond"/>
            </a:endParaRPr>
          </a:p>
        </p:txBody>
      </p:sp>
      <p:sp>
        <p:nvSpPr>
          <p:cNvPr id="24" name="Rectangle 13"/>
          <p:cNvSpPr/>
          <p:nvPr/>
        </p:nvSpPr>
        <p:spPr>
          <a:xfrm>
            <a:off x="1706760" y="3968640"/>
            <a:ext cx="3088440" cy="21027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ff00"/>
                </a:solidFill>
                <a:latin typeface="Garamond"/>
                <a:ea typeface="ＭＳ Ｐゴシック"/>
              </a:rPr>
              <a:t>What if we add Clyde?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Pirate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Gold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Vote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Clyde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99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Yes*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Doug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0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No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Evan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1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ight Arrow 18"/>
          <p:cNvSpPr/>
          <p:nvPr/>
        </p:nvSpPr>
        <p:spPr>
          <a:xfrm>
            <a:off x="4359240" y="5157720"/>
            <a:ext cx="45648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9525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1" lang="en-US" sz="3200" spc="-1" strike="noStrike" u="sng">
              <a:solidFill>
                <a:srgbClr val="00ff00"/>
              </a:solidFill>
              <a:uFillTx/>
              <a:latin typeface="Garamond"/>
            </a:endParaRPr>
          </a:p>
        </p:txBody>
      </p:sp>
      <p:sp>
        <p:nvSpPr>
          <p:cNvPr id="26" name="Rectangle 13"/>
          <p:cNvSpPr/>
          <p:nvPr/>
        </p:nvSpPr>
        <p:spPr>
          <a:xfrm>
            <a:off x="4906800" y="3968640"/>
            <a:ext cx="2742480" cy="22410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ff00"/>
                </a:solidFill>
                <a:latin typeface="Garamond"/>
                <a:ea typeface="ＭＳ Ｐゴシック"/>
              </a:rPr>
              <a:t>Let’s add in Barry…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Pirate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Gold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Vote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Barry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99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Yes*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Clyde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0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No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Doug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1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Evan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0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No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ight Arrow 19"/>
          <p:cNvSpPr/>
          <p:nvPr/>
        </p:nvSpPr>
        <p:spPr>
          <a:xfrm>
            <a:off x="7375680" y="5203800"/>
            <a:ext cx="45648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9525">
            <a:solidFill>
              <a:srgbClr val="00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1" lang="en-US" sz="3200" spc="-1" strike="noStrike" u="sng">
              <a:solidFill>
                <a:srgbClr val="00ff00"/>
              </a:solidFill>
              <a:uFillTx/>
              <a:latin typeface="Garamond"/>
            </a:endParaRPr>
          </a:p>
        </p:txBody>
      </p:sp>
      <p:sp>
        <p:nvSpPr>
          <p:cNvPr id="28" name="Rectangle 13"/>
          <p:cNvSpPr/>
          <p:nvPr/>
        </p:nvSpPr>
        <p:spPr>
          <a:xfrm>
            <a:off x="7878600" y="3968640"/>
            <a:ext cx="2606040" cy="26060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ffff00"/>
                </a:solidFill>
                <a:latin typeface="Garamond"/>
                <a:ea typeface="ＭＳ Ｐゴシック"/>
              </a:rPr>
              <a:t>And finally, Albert: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Pirate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Gold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Vote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Albert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98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Yes*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Barry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0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No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Clyde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1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Doug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0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No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Evan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1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	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Yes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Picture 2" descr="C:\Users\Jeremiah Blanchard\AppData\Local\Microsoft\Windows\Temporary Internet Files\Content.IE5\WCR576N9\MC900088726[1].wmf"/>
          <p:cNvPicPr/>
          <p:nvPr/>
        </p:nvPicPr>
        <p:blipFill>
          <a:blip r:embed="rId1"/>
          <a:stretch/>
        </p:blipFill>
        <p:spPr>
          <a:xfrm>
            <a:off x="5135400" y="1454040"/>
            <a:ext cx="1739160" cy="1572480"/>
          </a:xfrm>
          <a:prstGeom prst="rect">
            <a:avLst/>
          </a:prstGeom>
          <a:ln w="0">
            <a:noFill/>
          </a:ln>
        </p:spPr>
      </p:pic>
      <p:sp>
        <p:nvSpPr>
          <p:cNvPr id="30" name="PubOvalCallout"/>
          <p:cNvSpPr/>
          <p:nvPr/>
        </p:nvSpPr>
        <p:spPr>
          <a:xfrm flipH="1" flipV="1">
            <a:off x="5317560" y="2963160"/>
            <a:ext cx="2241000" cy="775440"/>
          </a:xfrm>
          <a:custGeom>
            <a:avLst/>
            <a:gdLst>
              <a:gd name="textAreaLeft" fmla="*/ 327600 w 2241000"/>
              <a:gd name="textAreaRight" fmla="*/ 1913040 w 2241000"/>
              <a:gd name="textAreaTop" fmla="*/ 85320 h 775440"/>
              <a:gd name="textAreaBottom" fmla="*/ 497520 h 775440"/>
            </a:gdLst>
            <a:ahLst/>
            <a:rect l="textAreaLeft" t="textAreaTop" r="textAreaRight" b="textAreaBottom"/>
            <a:pathLst>
              <a:path w="21600" h="21600">
                <a:moveTo>
                  <a:pt x="10766" y="21600"/>
                </a:moveTo>
                <a:lnTo>
                  <a:pt x="9590" y="16158"/>
                </a:lnTo>
                <a:cubicBezTo>
                  <a:pt x="9991" y="16192"/>
                  <a:pt x="10395" y="16210"/>
                  <a:pt x="10800" y="16210"/>
                </a:cubicBezTo>
                <a:cubicBezTo>
                  <a:pt x="16764" y="16210"/>
                  <a:pt x="21600" y="12581"/>
                  <a:pt x="21600" y="8105"/>
                </a:cubicBezTo>
                <a:cubicBezTo>
                  <a:pt x="21600" y="3628"/>
                  <a:pt x="16764" y="0"/>
                  <a:pt x="10800" y="0"/>
                </a:cubicBezTo>
                <a:cubicBezTo>
                  <a:pt x="4835" y="0"/>
                  <a:pt x="0" y="3628"/>
                  <a:pt x="0" y="8105"/>
                </a:cubicBezTo>
                <a:cubicBezTo>
                  <a:pt x="-1" y="10568"/>
                  <a:pt x="1493" y="12898"/>
                  <a:pt x="4057" y="14436"/>
                </a:cubicBezTo>
                <a:lnTo>
                  <a:pt x="10766" y="21600"/>
                </a:lnTo>
                <a:close/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/>
          </a:ln>
          <a:effectLst>
            <a:outerShdw algn="ctr" dir="2700000" dist="106914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1" name="Picture 2" descr="C:\Users\Jeremiah Blanchard\AppData\Local\Microsoft\Windows\Temporary Internet Files\Content.IE5\WCR576N9\MC900088728[1].wmf"/>
          <p:cNvPicPr/>
          <p:nvPr/>
        </p:nvPicPr>
        <p:blipFill>
          <a:blip r:embed="rId2"/>
          <a:stretch/>
        </p:blipFill>
        <p:spPr>
          <a:xfrm>
            <a:off x="8615520" y="2157480"/>
            <a:ext cx="1502640" cy="1810440"/>
          </a:xfrm>
          <a:prstGeom prst="rect">
            <a:avLst/>
          </a:prstGeom>
          <a:ln w="0">
            <a:noFill/>
          </a:ln>
        </p:spPr>
      </p:pic>
      <p:sp>
        <p:nvSpPr>
          <p:cNvPr id="32" name="PubRRectCallout"/>
          <p:cNvSpPr/>
          <p:nvPr/>
        </p:nvSpPr>
        <p:spPr>
          <a:xfrm>
            <a:off x="7878600" y="1454040"/>
            <a:ext cx="2010600" cy="793080"/>
          </a:xfrm>
          <a:custGeom>
            <a:avLst/>
            <a:gdLst>
              <a:gd name="textAreaLeft" fmla="*/ 13320 w 2010600"/>
              <a:gd name="textAreaRight" fmla="*/ 1993320 w 2010600"/>
              <a:gd name="textAreaTop" fmla="*/ 5040 h 793080"/>
              <a:gd name="textAreaBottom" fmla="*/ 628560 h 793080"/>
            </a:gdLst>
            <a:ahLst/>
            <a:rect l="textAreaLeft" t="textAreaTop" r="textAreaRight" b="textAreaBottom"/>
            <a:pathLst>
              <a:path w="21600" h="21600">
                <a:moveTo>
                  <a:pt x="532" y="0"/>
                </a:moveTo>
                <a:cubicBezTo>
                  <a:pt x="238" y="0"/>
                  <a:pt x="0" y="238"/>
                  <a:pt x="0" y="532"/>
                </a:cubicBezTo>
                <a:lnTo>
                  <a:pt x="0" y="16745"/>
                </a:lnTo>
                <a:cubicBezTo>
                  <a:pt x="0" y="17039"/>
                  <a:pt x="238" y="17277"/>
                  <a:pt x="532" y="17277"/>
                </a:cubicBezTo>
                <a:lnTo>
                  <a:pt x="2623" y="17277"/>
                </a:lnTo>
                <a:lnTo>
                  <a:pt x="8607" y="21600"/>
                </a:lnTo>
                <a:lnTo>
                  <a:pt x="6515" y="17277"/>
                </a:lnTo>
                <a:lnTo>
                  <a:pt x="21016" y="17277"/>
                </a:lnTo>
                <a:cubicBezTo>
                  <a:pt x="21339" y="17277"/>
                  <a:pt x="21600" y="17039"/>
                  <a:pt x="21600" y="16745"/>
                </a:cubicBezTo>
                <a:lnTo>
                  <a:pt x="21600" y="532"/>
                </a:lnTo>
                <a:cubicBezTo>
                  <a:pt x="21600" y="238"/>
                  <a:pt x="21339" y="0"/>
                  <a:pt x="21016" y="0"/>
                </a:cubicBezTo>
                <a:lnTo>
                  <a:pt x="532" y="0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/>
          </a:ln>
          <a:effectLst>
            <a:outerShdw algn="ctr" dir="2700000" dist="106914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TextBox 12"/>
          <p:cNvSpPr/>
          <p:nvPr/>
        </p:nvSpPr>
        <p:spPr>
          <a:xfrm>
            <a:off x="5644800" y="3146400"/>
            <a:ext cx="18187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chemeClr val="dk1"/>
                </a:solidFill>
                <a:latin typeface="Garamond"/>
                <a:ea typeface="ＭＳ Ｐゴシック"/>
              </a:rPr>
              <a:t>You’ll take one gold and like it!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Box 13"/>
          <p:cNvSpPr/>
          <p:nvPr/>
        </p:nvSpPr>
        <p:spPr>
          <a:xfrm>
            <a:off x="7878600" y="1454040"/>
            <a:ext cx="201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Garamond"/>
                <a:ea typeface="ＭＳ Ｐゴシック"/>
              </a:rPr>
              <a:t>Arr! Curse you, rationality!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nodeType="clickEffect" fill="hold">
                      <p:stCondLst>
                        <p:cond delay="indefinite"/>
                      </p:stCondLst>
                      <p:childTnLst>
                        <p:par>
                          <p:cTn id="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nodeType="clickEffect" fill="hold">
                      <p:stCondLst>
                        <p:cond delay="indefinite"/>
                      </p:stCondLst>
                      <p:childTnLst>
                        <p:par>
                          <p:cTn id="1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nodeType="clickEffect" fill="hold">
                      <p:stCondLst>
                        <p:cond delay="indefinite"/>
                      </p:stCondLst>
                      <p:childTnLst>
                        <p:par>
                          <p:cTn id="1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nodeType="clickEffect" fill="hold">
                      <p:stCondLst>
                        <p:cond delay="indefinite"/>
                      </p:stCondLst>
                      <p:childTnLst>
                        <p:par>
                          <p:cTn id="1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6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nodeType="clickEffect" fill="hold">
                      <p:stCondLst>
                        <p:cond delay="indefinite"/>
                      </p:stCondLst>
                      <p:childTnLst>
                        <p:par>
                          <p:cTn id="1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nodeType="clickEffect" fill="hold">
                      <p:stCondLst>
                        <p:cond delay="indefinite"/>
                      </p:stCondLst>
                      <p:childTnLst>
                        <p:par>
                          <p:cTn id="1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nodeType="clickEffect" fill="hold">
                      <p:stCondLst>
                        <p:cond delay="indefinite"/>
                      </p:stCondLst>
                      <p:childTnLst>
                        <p:par>
                          <p:cTn id="1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1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nodeType="clickEffect" fill="hold">
                      <p:stCondLst>
                        <p:cond delay="indefinite"/>
                      </p:stCondLst>
                      <p:childTnLst>
                        <p:par>
                          <p:cTn id="1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6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nodeType="clickEffect" fill="hold">
                      <p:stCondLst>
                        <p:cond delay="indefinite"/>
                      </p:stCondLst>
                      <p:childTnLst>
                        <p:par>
                          <p:cTn id="1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nodeType="clickEffect" fill="hold">
                      <p:stCondLst>
                        <p:cond delay="indefinite"/>
                      </p:stCondLst>
                      <p:childTnLst>
                        <p:par>
                          <p:cTn id="1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6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nodeType="clickEffect" fill="hold">
                      <p:stCondLst>
                        <p:cond delay="indefinite"/>
                      </p:stCondLst>
                      <p:childTnLst>
                        <p:par>
                          <p:cTn id="1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nodeType="clickEffect" fill="hold">
                      <p:stCondLst>
                        <p:cond delay="indefinite"/>
                      </p:stCondLst>
                      <p:childTnLst>
                        <p:par>
                          <p:cTn id="1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nodeType="clickEffect" fill="hold">
                      <p:stCondLst>
                        <p:cond delay="indefinite"/>
                      </p:stCondLst>
                      <p:childTnLst>
                        <p:par>
                          <p:cTn id="1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1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nodeType="clickEffect" fill="hold">
                      <p:stCondLst>
                        <p:cond delay="indefinite"/>
                      </p:stCondLst>
                      <p:childTnLst>
                        <p:par>
                          <p:cTn id="1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6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nodeType="clickEffect" fill="hold">
                      <p:stCondLst>
                        <p:cond delay="indefinite"/>
                      </p:stCondLst>
                      <p:childTnLst>
                        <p:par>
                          <p:cTn id="1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1" dur="5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nodeType="clickEffect" fill="hold">
                      <p:stCondLst>
                        <p:cond delay="indefinite"/>
                      </p:stCondLst>
                      <p:childTnLst>
                        <p:par>
                          <p:cTn id="1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6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nodeType="clickEffect" fill="hold">
                      <p:stCondLst>
                        <p:cond delay="indefinite"/>
                      </p:stCondLst>
                      <p:childTnLst>
                        <p:par>
                          <p:cTn id="1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nodeType="clickEffect" fill="hold">
                      <p:stCondLst>
                        <p:cond delay="indefinite"/>
                      </p:stCondLst>
                      <p:childTnLst>
                        <p:par>
                          <p:cTn id="1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6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nodeType="clickEffect" fill="hold">
                      <p:stCondLst>
                        <p:cond delay="indefinite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1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nodeType="clickEffect" fill="hold">
                      <p:stCondLst>
                        <p:cond delay="indefinite"/>
                      </p:stCondLst>
                      <p:childTnLst>
                        <p:par>
                          <p:cTn id="1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6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nodeType="clickEffect" fill="hold">
                      <p:stCondLst>
                        <p:cond delay="indefinite"/>
                      </p:stCondLst>
                      <p:childTnLst>
                        <p:par>
                          <p:cTn id="1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1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nodeType="clickEffect" fill="hold">
                      <p:stCondLst>
                        <p:cond delay="indefinite"/>
                      </p:stCondLst>
                      <p:childTnLst>
                        <p:par>
                          <p:cTn id="2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6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nodeType="clickEffect" fill="hold">
                      <p:stCondLst>
                        <p:cond delay="indefinite"/>
                      </p:stCondLst>
                      <p:childTnLst>
                        <p:par>
                          <p:cTn id="2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1" dur="500"/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8"/>
          <p:cNvSpPr/>
          <p:nvPr/>
        </p:nvSpPr>
        <p:spPr>
          <a:xfrm>
            <a:off x="2941560" y="4083120"/>
            <a:ext cx="6582600" cy="1828080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1" lang="en-US" sz="3200" spc="-1" strike="noStrike" u="sng">
              <a:solidFill>
                <a:srgbClr val="00ff00"/>
              </a:solidFill>
              <a:uFillTx/>
              <a:latin typeface="Garamond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706400" y="0"/>
            <a:ext cx="873216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Depth of Rationality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798560" y="1006560"/>
            <a:ext cx="8517960" cy="20646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7222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We might be better served by estimating how far an agent will go to be rational.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Guess Two-Thirds Game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Get a group of people to choose a number, 0 to 100.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Winner is the one who is closest to two-thirds of average.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8" name="Group 27"/>
          <p:cNvGrpSpPr/>
          <p:nvPr/>
        </p:nvGrpSpPr>
        <p:grpSpPr>
          <a:xfrm>
            <a:off x="3032280" y="4173840"/>
            <a:ext cx="6400080" cy="1645560"/>
            <a:chOff x="3032280" y="4173840"/>
            <a:chExt cx="6400080" cy="1645560"/>
          </a:xfrm>
        </p:grpSpPr>
        <p:sp>
          <p:nvSpPr>
            <p:cNvPr id="39" name="Rectangle 3"/>
            <p:cNvSpPr/>
            <p:nvPr/>
          </p:nvSpPr>
          <p:spPr>
            <a:xfrm>
              <a:off x="3032280" y="4173840"/>
              <a:ext cx="456480" cy="164556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1600" spc="-1" strike="noStrike">
                <a:solidFill>
                  <a:schemeClr val="lt2"/>
                </a:solidFill>
                <a:latin typeface="Garamond"/>
              </a:endParaRPr>
            </a:p>
          </p:txBody>
        </p:sp>
        <p:sp>
          <p:nvSpPr>
            <p:cNvPr id="40" name="Rectangle 4"/>
            <p:cNvSpPr/>
            <p:nvPr/>
          </p:nvSpPr>
          <p:spPr>
            <a:xfrm>
              <a:off x="3032280" y="4173840"/>
              <a:ext cx="456480" cy="5598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1" name="Rectangle 5"/>
            <p:cNvSpPr/>
            <p:nvPr/>
          </p:nvSpPr>
          <p:spPr>
            <a:xfrm>
              <a:off x="3625920" y="4734000"/>
              <a:ext cx="456480" cy="108504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2" name="Rectangle 6"/>
            <p:cNvSpPr/>
            <p:nvPr/>
          </p:nvSpPr>
          <p:spPr>
            <a:xfrm>
              <a:off x="3625920" y="4734000"/>
              <a:ext cx="456480" cy="36108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3" name="Rectangle 7"/>
            <p:cNvSpPr/>
            <p:nvPr/>
          </p:nvSpPr>
          <p:spPr>
            <a:xfrm>
              <a:off x="4221000" y="5096160"/>
              <a:ext cx="456480" cy="72324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4" name="Rectangle 8"/>
            <p:cNvSpPr/>
            <p:nvPr/>
          </p:nvSpPr>
          <p:spPr>
            <a:xfrm>
              <a:off x="4221000" y="5096160"/>
              <a:ext cx="456480" cy="2455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5" name="Rectangle 9"/>
            <p:cNvSpPr/>
            <p:nvPr/>
          </p:nvSpPr>
          <p:spPr>
            <a:xfrm>
              <a:off x="4815000" y="5342040"/>
              <a:ext cx="456480" cy="47700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6" name="Rectangle 10"/>
            <p:cNvSpPr/>
            <p:nvPr/>
          </p:nvSpPr>
          <p:spPr>
            <a:xfrm>
              <a:off x="4815000" y="5342040"/>
              <a:ext cx="456480" cy="1645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7" name="Rectangle 11"/>
            <p:cNvSpPr/>
            <p:nvPr/>
          </p:nvSpPr>
          <p:spPr>
            <a:xfrm>
              <a:off x="5410080" y="5507280"/>
              <a:ext cx="456480" cy="31212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8" name="Rectangle 12"/>
            <p:cNvSpPr/>
            <p:nvPr/>
          </p:nvSpPr>
          <p:spPr>
            <a:xfrm>
              <a:off x="5410080" y="5507280"/>
              <a:ext cx="456480" cy="975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49" name="Rectangle 13"/>
            <p:cNvSpPr/>
            <p:nvPr/>
          </p:nvSpPr>
          <p:spPr>
            <a:xfrm>
              <a:off x="6004080" y="5605560"/>
              <a:ext cx="456480" cy="21348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0" name="Rectangle 14"/>
            <p:cNvSpPr/>
            <p:nvPr/>
          </p:nvSpPr>
          <p:spPr>
            <a:xfrm>
              <a:off x="6004080" y="5605560"/>
              <a:ext cx="456480" cy="6588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600" bIns="216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1" name="Rectangle 15"/>
            <p:cNvSpPr/>
            <p:nvPr/>
          </p:nvSpPr>
          <p:spPr>
            <a:xfrm>
              <a:off x="6597720" y="5672160"/>
              <a:ext cx="456480" cy="14688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2" name="Rectangle 16"/>
            <p:cNvSpPr/>
            <p:nvPr/>
          </p:nvSpPr>
          <p:spPr>
            <a:xfrm>
              <a:off x="6597720" y="5672160"/>
              <a:ext cx="456480" cy="486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20" bIns="432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3" name="Rectangle 17"/>
            <p:cNvSpPr/>
            <p:nvPr/>
          </p:nvSpPr>
          <p:spPr>
            <a:xfrm>
              <a:off x="7192800" y="5721480"/>
              <a:ext cx="456480" cy="9756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4" name="Rectangle 18"/>
            <p:cNvSpPr/>
            <p:nvPr/>
          </p:nvSpPr>
          <p:spPr>
            <a:xfrm>
              <a:off x="7192800" y="5721480"/>
              <a:ext cx="456480" cy="327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1520" bIns="-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5" name="Rectangle 19"/>
            <p:cNvSpPr/>
            <p:nvPr/>
          </p:nvSpPr>
          <p:spPr>
            <a:xfrm>
              <a:off x="7786800" y="5754960"/>
              <a:ext cx="456480" cy="6444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6" name="Rectangle 20"/>
            <p:cNvSpPr/>
            <p:nvPr/>
          </p:nvSpPr>
          <p:spPr>
            <a:xfrm>
              <a:off x="7786800" y="5754960"/>
              <a:ext cx="456480" cy="3096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3320" bIns="-1332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7" name="Rectangle 23"/>
            <p:cNvSpPr/>
            <p:nvPr/>
          </p:nvSpPr>
          <p:spPr>
            <a:xfrm>
              <a:off x="8381880" y="5786640"/>
              <a:ext cx="456480" cy="32760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1520" bIns="-1152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8" name="Rectangle 24"/>
            <p:cNvSpPr/>
            <p:nvPr/>
          </p:nvSpPr>
          <p:spPr>
            <a:xfrm>
              <a:off x="8381880" y="5786640"/>
              <a:ext cx="456480" cy="169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7360" bIns="-2736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  <p:sp>
          <p:nvSpPr>
            <p:cNvPr id="59" name="Rectangle 25"/>
            <p:cNvSpPr/>
            <p:nvPr/>
          </p:nvSpPr>
          <p:spPr>
            <a:xfrm>
              <a:off x="8975880" y="5803920"/>
              <a:ext cx="456480" cy="1512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9160" bIns="-29160" anchor="t">
              <a:noAutofit/>
            </a:bodyPr>
            <a:p>
              <a:pPr defTabSz="457200">
                <a:lnSpc>
                  <a:spcPct val="100000"/>
                </a:lnSpc>
              </a:pPr>
              <a:endParaRPr b="1" lang="en-US" sz="3200" spc="-1" strike="noStrike" u="sng">
                <a:solidFill>
                  <a:srgbClr val="00ff00"/>
                </a:solidFill>
                <a:uFillTx/>
                <a:latin typeface="Garamond"/>
              </a:endParaRPr>
            </a:p>
          </p:txBody>
        </p:sp>
      </p:grpSp>
      <p:sp>
        <p:nvSpPr>
          <p:cNvPr id="60" name="TextBox 30"/>
          <p:cNvSpPr/>
          <p:nvPr/>
        </p:nvSpPr>
        <p:spPr>
          <a:xfrm>
            <a:off x="1981080" y="3716640"/>
            <a:ext cx="75430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Iteration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   1        2        3       4       5       6        7       8       9       10      11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31"/>
          <p:cNvSpPr/>
          <p:nvPr/>
        </p:nvSpPr>
        <p:spPr>
          <a:xfrm>
            <a:off x="1981080" y="5864400"/>
            <a:ext cx="75430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Garamond"/>
                <a:ea typeface="ＭＳ Ｐゴシック"/>
              </a:rPr>
              <a:t>Value</a:t>
            </a:r>
            <a:r>
              <a:rPr b="0" lang="en-US" sz="20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        66      44      29     19      13      9        6       4        2       1        0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nodeType="clickEffect" fill="hold">
                      <p:stCondLst>
                        <p:cond delay="indefinite"/>
                      </p:stCondLst>
                      <p:childTnLst>
                        <p:par>
                          <p:cTn id="2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nodeType="clickEffect" fill="hold">
                      <p:stCondLst>
                        <p:cond delay="indefinite"/>
                      </p:stCondLst>
                      <p:childTnLst>
                        <p:par>
                          <p:cTn id="2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3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nodeType="clickEffect" fill="hold">
                      <p:stCondLst>
                        <p:cond delay="indefinite"/>
                      </p:stCondLst>
                      <p:childTnLst>
                        <p:par>
                          <p:cTn id="2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8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nodeType="clickEffect" fill="hold">
                      <p:stCondLst>
                        <p:cond delay="indefinite"/>
                      </p:stCondLst>
                      <p:childTnLst>
                        <p:par>
                          <p:cTn id="2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3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29440" y="723600"/>
            <a:ext cx="8732160" cy="81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Decision Equilibrium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232640" y="1798200"/>
            <a:ext cx="9712800" cy="1599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Eventually most decisions will reach a </a:t>
            </a:r>
            <a:r>
              <a:rPr b="1" lang="en-US" sz="2400" spc="-1" strike="noStrike">
                <a:solidFill>
                  <a:srgbClr val="00ff00"/>
                </a:solidFill>
                <a:latin typeface="Arial Regular"/>
                <a:ea typeface="ＭＳ Ｐゴシック"/>
              </a:rPr>
              <a:t>Nash equilibrium</a:t>
            </a:r>
            <a:r>
              <a:rPr b="0" lang="en-US" sz="2400" spc="-1" strike="noStrike">
                <a:solidFill>
                  <a:srgbClr val="00ff00"/>
                </a:solidFill>
                <a:latin typeface="Arial Regular"/>
                <a:ea typeface="ＭＳ Ｐゴシック"/>
              </a:rPr>
              <a:t>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In the “Guess 2/3” game, the most common choices are 22 and 33.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4" name="Group 9"/>
          <p:cNvGrpSpPr/>
          <p:nvPr/>
        </p:nvGrpSpPr>
        <p:grpSpPr>
          <a:xfrm>
            <a:off x="2438280" y="3907440"/>
            <a:ext cx="4204440" cy="2123280"/>
            <a:chOff x="2438280" y="3907440"/>
            <a:chExt cx="4204440" cy="2123280"/>
          </a:xfrm>
        </p:grpSpPr>
        <p:pic>
          <p:nvPicPr>
            <p:cNvPr id="65" name="Picture 1" descr="C:\Users\Jeremiah Blanchard\Desktop\distribution.png"/>
            <p:cNvPicPr/>
            <p:nvPr/>
          </p:nvPicPr>
          <p:blipFill>
            <a:blip r:embed="rId1"/>
            <a:stretch/>
          </p:blipFill>
          <p:spPr>
            <a:xfrm>
              <a:off x="2438280" y="3907440"/>
              <a:ext cx="4204440" cy="2123280"/>
            </a:xfrm>
            <a:prstGeom prst="rect">
              <a:avLst/>
            </a:prstGeom>
            <a:ln w="25400">
              <a:solidFill>
                <a:srgbClr val="ffffff"/>
              </a:solidFill>
              <a:round/>
            </a:ln>
          </p:spPr>
        </p:pic>
        <p:sp>
          <p:nvSpPr>
            <p:cNvPr id="66" name="TextBox 8"/>
            <p:cNvSpPr/>
            <p:nvPr/>
          </p:nvSpPr>
          <p:spPr>
            <a:xfrm>
              <a:off x="5272560" y="3998880"/>
              <a:ext cx="1324800" cy="69948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000" spc="-1" strike="noStrike">
                  <a:solidFill>
                    <a:schemeClr val="lt1"/>
                  </a:solidFill>
                  <a:latin typeface="Garamond"/>
                  <a:ea typeface="ＭＳ Ｐゴシック"/>
                </a:rPr>
                <a:t>Guess 2/3</a:t>
              </a:r>
              <a:endParaRPr b="0" lang="en-US" sz="20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67" name="Picture 2" descr="C:\Users\Jeremiah Blanchard\AppData\Local\Microsoft\Windows\Temporary Internet Files\Content.IE5\IVBVX2R3\MC900434411[1].wmf"/>
          <p:cNvPicPr/>
          <p:nvPr/>
        </p:nvPicPr>
        <p:blipFill>
          <a:blip r:embed="rId2"/>
          <a:stretch/>
        </p:blipFill>
        <p:spPr>
          <a:xfrm>
            <a:off x="7512480" y="3907440"/>
            <a:ext cx="2018880" cy="227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4" dur="indefinite" restart="never" nodeType="tmRoot">
          <p:childTnLst>
            <p:seq>
              <p:cTn id="235" dur="indefinite" nodeType="mainSeq">
                <p:childTnLst>
                  <p:par>
                    <p:cTn id="236" nodeType="clickEffect" fill="hold">
                      <p:stCondLst>
                        <p:cond delay="indefinite"/>
                      </p:stCondLst>
                      <p:childTnLst>
                        <p:par>
                          <p:cTn id="2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0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nodeType="clickEffect" fill="hold">
                      <p:stCondLst>
                        <p:cond delay="indefinite"/>
                      </p:stCondLst>
                      <p:childTnLst>
                        <p:par>
                          <p:cTn id="2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5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37360" y="137160"/>
            <a:ext cx="8732160" cy="87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Rationality &amp; Emotion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124280" y="1199160"/>
            <a:ext cx="10254600" cy="54252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Many agents (especially humans) exhibit irrationality because they are influenced by emotion. They are often guided by trust and, when trust is violated, they often have a desire for revenge (tit-for-tat).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The Ultimatum Game – Greed vs. Fear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The Giver decides the split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The Decider accepts or rejects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If rejected, no one gets anything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The Dictator Game – Altruism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The Giver decides the split. The end.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Picture 6" descr="C:\Users\Jeremiah Blanchard\AppData\Local\Microsoft\Windows\Temporary Internet Files\Content.IE5\IVBVX2R3\MC900194032[1].wmf"/>
          <p:cNvPicPr/>
          <p:nvPr/>
        </p:nvPicPr>
        <p:blipFill>
          <a:blip r:embed="rId1"/>
          <a:stretch/>
        </p:blipFill>
        <p:spPr>
          <a:xfrm>
            <a:off x="7159320" y="2437560"/>
            <a:ext cx="2613960" cy="392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6" dur="indefinite" restart="never" nodeType="tmRoot">
          <p:childTnLst>
            <p:seq>
              <p:cTn id="247" dur="indefinite" nodeType="mainSeq">
                <p:childTnLst>
                  <p:par>
                    <p:cTn id="248" nodeType="clickEffect" fill="hold">
                      <p:stCondLst>
                        <p:cond delay="indefinite"/>
                      </p:stCondLst>
                      <p:childTnLst>
                        <p:par>
                          <p:cTn id="2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nodeType="clickEffect" fill="hold">
                      <p:stCondLst>
                        <p:cond delay="indefinite"/>
                      </p:stCondLst>
                      <p:childTnLst>
                        <p:par>
                          <p:cTn id="2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7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nodeType="clickEffect" fill="hold">
                      <p:stCondLst>
                        <p:cond delay="indefinite"/>
                      </p:stCondLst>
                      <p:childTnLst>
                        <p:par>
                          <p:cTn id="2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2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nodeType="clickEffect" fill="hold">
                      <p:stCondLst>
                        <p:cond delay="indefinite"/>
                      </p:stCondLst>
                      <p:childTnLst>
                        <p:par>
                          <p:cTn id="2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7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nodeType="clickEffect" fill="hold">
                      <p:stCondLst>
                        <p:cond delay="indefinite"/>
                      </p:stCondLst>
                      <p:childTnLst>
                        <p:par>
                          <p:cTn id="2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2" dur="500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nodeType="clickEffect" fill="hold">
                      <p:stCondLst>
                        <p:cond delay="indefinite"/>
                      </p:stCondLst>
                      <p:childTnLst>
                        <p:par>
                          <p:cTn id="2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7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nodeType="clickEffect" fill="hold">
                      <p:stCondLst>
                        <p:cond delay="indefinite"/>
                      </p:stCondLst>
                      <p:childTnLst>
                        <p:par>
                          <p:cTn id="2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2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Rationality &amp; Cooperation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110600" y="1417680"/>
            <a:ext cx="9753480" cy="5112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Sometimes rationality makes everyone a loser.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  <a:ea typeface="ＭＳ Ｐゴシック"/>
              </a:rPr>
              <a:t>Prisoner’s Dilemma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Two prisoners are suspected of a crime.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If both stay silent, both stay in jail for 6 months.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If one talks, he goes free and partner gets 8 years.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If both talk, each gets 5 years.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The </a:t>
            </a:r>
            <a:r>
              <a:rPr b="1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strictly dominant strategy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 sucks – both get 5 years.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" name="Picture 4" descr="C:\Users\Jeremiah Blanchard\AppData\Local\Microsoft\Windows\Temporary Internet Files\Content.IE5\7HLUF9OA\MC900391034[1].wmf"/>
          <p:cNvPicPr/>
          <p:nvPr/>
        </p:nvPicPr>
        <p:blipFill>
          <a:blip r:embed="rId1"/>
          <a:stretch/>
        </p:blipFill>
        <p:spPr>
          <a:xfrm>
            <a:off x="8931240" y="1600200"/>
            <a:ext cx="1612080" cy="196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3" dur="indefinite" restart="never" nodeType="tmRoot">
          <p:childTnLst>
            <p:seq>
              <p:cTn id="284" dur="indefinite" nodeType="mainSeq">
                <p:childTnLst>
                  <p:par>
                    <p:cTn id="285" nodeType="clickEffect" fill="hold">
                      <p:stCondLst>
                        <p:cond delay="indefinite"/>
                      </p:stCondLst>
                      <p:childTnLst>
                        <p:par>
                          <p:cTn id="2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9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nodeType="clickEffect" fill="hold">
                      <p:stCondLst>
                        <p:cond delay="indefinite"/>
                      </p:stCondLst>
                      <p:childTnLst>
                        <p:par>
                          <p:cTn id="2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4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nodeType="clickEffect" fill="hold">
                      <p:stCondLst>
                        <p:cond delay="indefinite"/>
                      </p:stCondLst>
                      <p:childTnLst>
                        <p:par>
                          <p:cTn id="2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9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nodeType="clickEffect" fill="hold">
                      <p:stCondLst>
                        <p:cond delay="indefinite"/>
                      </p:stCondLst>
                      <p:childTnLst>
                        <p:par>
                          <p:cTn id="3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4" dur="500"/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nodeType="clickEffect" fill="hold">
                      <p:stCondLst>
                        <p:cond delay="indefinite"/>
                      </p:stCondLst>
                      <p:childTnLst>
                        <p:par>
                          <p:cTn id="3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9" dur="500"/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nodeType="clickEffect" fill="hold">
                      <p:stCondLst>
                        <p:cond delay="indefinite"/>
                      </p:stCondLst>
                      <p:childTnLst>
                        <p:par>
                          <p:cTn id="3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4" dur="500"/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nodeType="clickEffect" fill="hold">
                      <p:stCondLst>
                        <p:cond delay="indefinite"/>
                      </p:stCondLst>
                      <p:childTnLst>
                        <p:par>
                          <p:cTn id="3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9" dur="500"/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706400" y="182520"/>
            <a:ext cx="873216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Artificial Emotion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65760" y="1262520"/>
            <a:ext cx="11432880" cy="8874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Regular"/>
                <a:ea typeface="ＭＳ Ｐゴシック"/>
              </a:rPr>
              <a:t>By simulating emotion, we can make emotional levels another factor in the decision making process. This can affect the rationality of an agent, making it more “lifelike”.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13"/>
          <p:cNvSpPr/>
          <p:nvPr/>
        </p:nvSpPr>
        <p:spPr>
          <a:xfrm>
            <a:off x="799200" y="5824440"/>
            <a:ext cx="10579680" cy="5868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79"/>
              </a:spcBef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In this model, emotion is broken into </a:t>
            </a:r>
            <a:r>
              <a:rPr b="1" i="1" lang="en-US" sz="24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personality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, </a:t>
            </a:r>
            <a:r>
              <a:rPr b="1" i="1" lang="en-US" sz="24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mood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, and </a:t>
            </a:r>
            <a:r>
              <a:rPr b="1" i="1" lang="en-US" sz="2400" spc="-1" strike="noStrike">
                <a:solidFill>
                  <a:srgbClr val="00ff00"/>
                </a:solidFill>
                <a:latin typeface="Garamond"/>
                <a:ea typeface="ＭＳ Ｐゴシック"/>
              </a:rPr>
              <a:t>feeling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  <a:ea typeface="ＭＳ Ｐゴシック"/>
              </a:rPr>
              <a:t>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7" name="Group 2"/>
          <p:cNvGrpSpPr/>
          <p:nvPr/>
        </p:nvGrpSpPr>
        <p:grpSpPr>
          <a:xfrm>
            <a:off x="2983320" y="2367720"/>
            <a:ext cx="6224400" cy="3227400"/>
            <a:chOff x="2983320" y="2367720"/>
            <a:chExt cx="6224400" cy="3227400"/>
          </a:xfrm>
        </p:grpSpPr>
        <p:sp>
          <p:nvSpPr>
            <p:cNvPr id="78" name="Rectangle 7"/>
            <p:cNvSpPr/>
            <p:nvPr/>
          </p:nvSpPr>
          <p:spPr>
            <a:xfrm>
              <a:off x="2983680" y="2367720"/>
              <a:ext cx="6213240" cy="3209760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ff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ＭＳ Ｐゴシック"/>
              </a:endParaRPr>
            </a:p>
          </p:txBody>
        </p:sp>
        <p:cxnSp>
          <p:nvCxnSpPr>
            <p:cNvPr id="79" name="Straight Connector 9"/>
            <p:cNvCxnSpPr/>
            <p:nvPr/>
          </p:nvCxnSpPr>
          <p:spPr>
            <a:xfrm>
              <a:off x="2983320" y="4646160"/>
              <a:ext cx="6214680" cy="720"/>
            </a:xfrm>
            <a:prstGeom prst="straightConnector1">
              <a:avLst/>
            </a:prstGeom>
            <a:ln w="25400">
              <a:solidFill>
                <a:srgbClr val="ff0000"/>
              </a:solidFill>
              <a:round/>
            </a:ln>
          </p:spPr>
        </p:cxnSp>
        <p:sp>
          <p:nvSpPr>
            <p:cNvPr id="80" name="Freeform 14"/>
            <p:cNvSpPr/>
            <p:nvPr/>
          </p:nvSpPr>
          <p:spPr>
            <a:xfrm>
              <a:off x="2983680" y="3714120"/>
              <a:ext cx="6224040" cy="1190160"/>
            </a:xfrm>
            <a:custGeom>
              <a:avLst/>
              <a:gdLst>
                <a:gd name="textAreaLeft" fmla="*/ 0 w 6224040"/>
                <a:gd name="textAreaRight" fmla="*/ 6224760 w 6224040"/>
                <a:gd name="textAreaTop" fmla="*/ 0 h 1190160"/>
                <a:gd name="textAreaBottom" fmla="*/ 1190880 h 1190160"/>
              </a:gdLst>
              <a:ahLst/>
              <a:rect l="textAreaLeft" t="textAreaTop" r="textAreaRight" b="textAreaBottom"/>
              <a:pathLst>
                <a:path w="4580965" h="877046">
                  <a:moveTo>
                    <a:pt x="0" y="877046"/>
                  </a:moveTo>
                  <a:cubicBezTo>
                    <a:pt x="367553" y="544605"/>
                    <a:pt x="735106" y="212164"/>
                    <a:pt x="1228165" y="106082"/>
                  </a:cubicBezTo>
                  <a:cubicBezTo>
                    <a:pt x="1721224" y="0"/>
                    <a:pt x="2399553" y="112058"/>
                    <a:pt x="2958353" y="240552"/>
                  </a:cubicBezTo>
                  <a:cubicBezTo>
                    <a:pt x="3517153" y="369046"/>
                    <a:pt x="4049059" y="623046"/>
                    <a:pt x="4580965" y="877046"/>
                  </a:cubicBezTo>
                </a:path>
              </a:pathLst>
            </a:custGeom>
            <a:noFill/>
            <a:ln w="25400">
              <a:solidFill>
                <a:srgbClr val="ffc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81" name="Freeform 16"/>
            <p:cNvSpPr/>
            <p:nvPr/>
          </p:nvSpPr>
          <p:spPr>
            <a:xfrm>
              <a:off x="3013920" y="3774600"/>
              <a:ext cx="523440" cy="1820160"/>
            </a:xfrm>
            <a:custGeom>
              <a:avLst/>
              <a:gdLst>
                <a:gd name="textAreaLeft" fmla="*/ 0 w 523440"/>
                <a:gd name="textAreaRight" fmla="*/ 524160 w 523440"/>
                <a:gd name="textAreaTop" fmla="*/ 0 h 1820160"/>
                <a:gd name="textAreaBottom" fmla="*/ 1820880 h 1820160"/>
              </a:gdLst>
              <a:ahLst/>
              <a:rect l="textAreaLeft" t="textAreaTop" r="textAreaRight" b="textAreaBottom"/>
              <a:pathLst>
                <a:path w="385482" h="1340223">
                  <a:moveTo>
                    <a:pt x="0" y="640976"/>
                  </a:moveTo>
                  <a:cubicBezTo>
                    <a:pt x="66488" y="324970"/>
                    <a:pt x="132977" y="8964"/>
                    <a:pt x="188259" y="4482"/>
                  </a:cubicBezTo>
                  <a:cubicBezTo>
                    <a:pt x="243541" y="0"/>
                    <a:pt x="298824" y="391459"/>
                    <a:pt x="331694" y="614082"/>
                  </a:cubicBezTo>
                  <a:cubicBezTo>
                    <a:pt x="364564" y="836705"/>
                    <a:pt x="375023" y="1208741"/>
                    <a:pt x="385482" y="1340223"/>
                  </a:cubicBezTo>
                </a:path>
              </a:pathLst>
            </a:custGeom>
            <a:noFill/>
            <a:ln w="25400">
              <a:solidFill>
                <a:srgbClr val="ffff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82" name="Freeform 17"/>
            <p:cNvSpPr/>
            <p:nvPr/>
          </p:nvSpPr>
          <p:spPr>
            <a:xfrm>
              <a:off x="3745440" y="2829600"/>
              <a:ext cx="316440" cy="2765520"/>
            </a:xfrm>
            <a:custGeom>
              <a:avLst/>
              <a:gdLst>
                <a:gd name="textAreaLeft" fmla="*/ 0 w 316440"/>
                <a:gd name="textAreaRight" fmla="*/ 317160 w 316440"/>
                <a:gd name="textAreaTop" fmla="*/ 0 h 2765520"/>
                <a:gd name="textAreaBottom" fmla="*/ 2766240 h 2765520"/>
              </a:gdLst>
              <a:ahLst/>
              <a:rect l="textAreaLeft" t="textAreaTop" r="textAreaRight" b="textAreaBottom"/>
              <a:pathLst>
                <a:path w="233082" h="2036482">
                  <a:moveTo>
                    <a:pt x="0" y="2036482"/>
                  </a:moveTo>
                  <a:cubicBezTo>
                    <a:pt x="61259" y="1019735"/>
                    <a:pt x="122518" y="2988"/>
                    <a:pt x="161365" y="1494"/>
                  </a:cubicBezTo>
                  <a:cubicBezTo>
                    <a:pt x="200212" y="0"/>
                    <a:pt x="228600" y="1643529"/>
                    <a:pt x="233082" y="2027517"/>
                  </a:cubicBezTo>
                </a:path>
              </a:pathLst>
            </a:custGeom>
            <a:noFill/>
            <a:ln w="25400">
              <a:solidFill>
                <a:srgbClr val="ffff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83" name="Freeform 18"/>
            <p:cNvSpPr/>
            <p:nvPr/>
          </p:nvSpPr>
          <p:spPr>
            <a:xfrm>
              <a:off x="4500360" y="3084120"/>
              <a:ext cx="363960" cy="2510640"/>
            </a:xfrm>
            <a:custGeom>
              <a:avLst/>
              <a:gdLst>
                <a:gd name="textAreaLeft" fmla="*/ 0 w 363960"/>
                <a:gd name="textAreaRight" fmla="*/ 364680 w 363960"/>
                <a:gd name="textAreaTop" fmla="*/ 0 h 2510640"/>
                <a:gd name="textAreaBottom" fmla="*/ 2511360 h 2510640"/>
              </a:gdLst>
              <a:ahLst/>
              <a:rect l="textAreaLeft" t="textAreaTop" r="textAreaRight" b="textAreaBottom"/>
              <a:pathLst>
                <a:path w="268941" h="1848223">
                  <a:moveTo>
                    <a:pt x="0" y="1839258"/>
                  </a:moveTo>
                  <a:cubicBezTo>
                    <a:pt x="40341" y="919629"/>
                    <a:pt x="80683" y="0"/>
                    <a:pt x="125506" y="1494"/>
                  </a:cubicBezTo>
                  <a:cubicBezTo>
                    <a:pt x="170329" y="2988"/>
                    <a:pt x="219635" y="925605"/>
                    <a:pt x="268941" y="1848223"/>
                  </a:cubicBezTo>
                </a:path>
              </a:pathLst>
            </a:custGeom>
            <a:noFill/>
            <a:ln w="25400">
              <a:solidFill>
                <a:srgbClr val="ffff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84" name="Freeform 19"/>
            <p:cNvSpPr/>
            <p:nvPr/>
          </p:nvSpPr>
          <p:spPr>
            <a:xfrm>
              <a:off x="5987160" y="3714120"/>
              <a:ext cx="340200" cy="1880640"/>
            </a:xfrm>
            <a:custGeom>
              <a:avLst/>
              <a:gdLst>
                <a:gd name="textAreaLeft" fmla="*/ 0 w 340200"/>
                <a:gd name="textAreaRight" fmla="*/ 340920 w 340200"/>
                <a:gd name="textAreaTop" fmla="*/ 0 h 1880640"/>
                <a:gd name="textAreaBottom" fmla="*/ 1881360 h 1880640"/>
              </a:gdLst>
              <a:ahLst/>
              <a:rect l="textAreaLeft" t="textAreaTop" r="textAreaRight" b="textAreaBottom"/>
              <a:pathLst>
                <a:path w="259977" h="1776506">
                  <a:moveTo>
                    <a:pt x="0" y="1776506"/>
                  </a:moveTo>
                  <a:cubicBezTo>
                    <a:pt x="27641" y="889747"/>
                    <a:pt x="55283" y="2988"/>
                    <a:pt x="98612" y="1494"/>
                  </a:cubicBezTo>
                  <a:cubicBezTo>
                    <a:pt x="141941" y="0"/>
                    <a:pt x="213659" y="1500094"/>
                    <a:pt x="259977" y="1767541"/>
                  </a:cubicBezTo>
                </a:path>
              </a:pathLst>
            </a:custGeom>
            <a:noFill/>
            <a:ln w="25400">
              <a:solidFill>
                <a:srgbClr val="ffff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85" name="Freeform 20"/>
            <p:cNvSpPr/>
            <p:nvPr/>
          </p:nvSpPr>
          <p:spPr>
            <a:xfrm>
              <a:off x="5262120" y="3610440"/>
              <a:ext cx="199800" cy="1984320"/>
            </a:xfrm>
            <a:custGeom>
              <a:avLst/>
              <a:gdLst>
                <a:gd name="textAreaLeft" fmla="*/ 0 w 199800"/>
                <a:gd name="textAreaRight" fmla="*/ 200520 w 199800"/>
                <a:gd name="textAreaTop" fmla="*/ 0 h 1984320"/>
                <a:gd name="textAreaBottom" fmla="*/ 1985040 h 1984320"/>
              </a:gdLst>
              <a:ahLst/>
              <a:rect l="textAreaLeft" t="textAreaTop" r="textAreaRight" b="textAreaBottom"/>
              <a:pathLst>
                <a:path w="143436" h="1328270">
                  <a:moveTo>
                    <a:pt x="0" y="1328270"/>
                  </a:moveTo>
                  <a:cubicBezTo>
                    <a:pt x="23906" y="665629"/>
                    <a:pt x="47812" y="2988"/>
                    <a:pt x="71718" y="1494"/>
                  </a:cubicBezTo>
                  <a:cubicBezTo>
                    <a:pt x="95624" y="0"/>
                    <a:pt x="119530" y="659652"/>
                    <a:pt x="143436" y="1319305"/>
                  </a:cubicBezTo>
                </a:path>
              </a:pathLst>
            </a:custGeom>
            <a:noFill/>
            <a:ln w="25400">
              <a:solidFill>
                <a:srgbClr val="ffff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00"/>
                </a:solidFill>
                <a:latin typeface="Arial"/>
                <a:ea typeface="ＭＳ Ｐゴシック"/>
              </a:endParaRPr>
            </a:p>
          </p:txBody>
        </p:sp>
        <p:sp>
          <p:nvSpPr>
            <p:cNvPr id="86" name="Freeform 21"/>
            <p:cNvSpPr/>
            <p:nvPr/>
          </p:nvSpPr>
          <p:spPr>
            <a:xfrm>
              <a:off x="6608520" y="4231800"/>
              <a:ext cx="273240" cy="1352160"/>
            </a:xfrm>
            <a:custGeom>
              <a:avLst/>
              <a:gdLst>
                <a:gd name="textAreaLeft" fmla="*/ 0 w 273240"/>
                <a:gd name="textAreaRight" fmla="*/ 273960 w 273240"/>
                <a:gd name="textAreaTop" fmla="*/ 0 h 1352160"/>
                <a:gd name="textAreaBottom" fmla="*/ 1352880 h 1352160"/>
              </a:gdLst>
              <a:ahLst/>
              <a:rect l="textAreaLeft" t="textAreaTop" r="textAreaRight" b="textAreaBottom"/>
              <a:pathLst>
                <a:path w="188259" h="932329">
                  <a:moveTo>
                    <a:pt x="0" y="932329"/>
                  </a:moveTo>
                  <a:cubicBezTo>
                    <a:pt x="15688" y="466164"/>
                    <a:pt x="31377" y="0"/>
                    <a:pt x="62753" y="0"/>
                  </a:cubicBezTo>
                  <a:cubicBezTo>
                    <a:pt x="94129" y="0"/>
                    <a:pt x="141194" y="466164"/>
                    <a:pt x="188259" y="932329"/>
                  </a:cubicBezTo>
                </a:path>
              </a:pathLst>
            </a:custGeom>
            <a:noFill/>
            <a:ln w="25400">
              <a:solidFill>
                <a:srgbClr val="ffff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rgbClr val="ffff00"/>
                </a:solidFill>
                <a:latin typeface="Arial"/>
                <a:ea typeface="ＭＳ Ｐゴシック"/>
              </a:endParaRPr>
            </a:p>
          </p:txBody>
        </p:sp>
      </p:grpSp>
      <p:sp>
        <p:nvSpPr>
          <p:cNvPr id="87" name="TextBox 1"/>
          <p:cNvSpPr/>
          <p:nvPr/>
        </p:nvSpPr>
        <p:spPr>
          <a:xfrm>
            <a:off x="7062120" y="5089680"/>
            <a:ext cx="140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Personality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15"/>
          <p:cNvSpPr/>
          <p:nvPr/>
        </p:nvSpPr>
        <p:spPr>
          <a:xfrm>
            <a:off x="8314200" y="3098520"/>
            <a:ext cx="765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Mood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Straight Arrow Connector 5"/>
          <p:cNvCxnSpPr/>
          <p:nvPr/>
        </p:nvCxnSpPr>
        <p:spPr>
          <a:xfrm flipV="1">
            <a:off x="7742520" y="4684680"/>
            <a:ext cx="720" cy="447480"/>
          </a:xfrm>
          <a:prstGeom prst="straightConnector1">
            <a:avLst/>
          </a:prstGeom>
          <a:ln w="19050">
            <a:solidFill>
              <a:srgbClr val="ffffff"/>
            </a:solidFill>
            <a:round/>
            <a:tailEnd len="lg" type="stealth" w="lg"/>
          </a:ln>
        </p:spPr>
      </p:cxnSp>
      <p:cxnSp>
        <p:nvCxnSpPr>
          <p:cNvPr id="90" name="Straight Arrow Connector 22"/>
          <p:cNvCxnSpPr>
            <a:stCxn id="88" idx="2"/>
          </p:cNvCxnSpPr>
          <p:nvPr/>
        </p:nvCxnSpPr>
        <p:spPr>
          <a:xfrm flipH="1">
            <a:off x="7844760" y="3462480"/>
            <a:ext cx="852480" cy="719640"/>
          </a:xfrm>
          <a:prstGeom prst="straightConnector1">
            <a:avLst/>
          </a:prstGeom>
          <a:ln w="19050">
            <a:solidFill>
              <a:srgbClr val="ffffff"/>
            </a:solidFill>
            <a:round/>
            <a:tailEnd len="lg" type="stealth" w="lg"/>
          </a:ln>
        </p:spPr>
      </p:cxnSp>
      <p:sp>
        <p:nvSpPr>
          <p:cNvPr id="91" name="TextBox 25"/>
          <p:cNvSpPr/>
          <p:nvPr/>
        </p:nvSpPr>
        <p:spPr>
          <a:xfrm>
            <a:off x="4874400" y="2371320"/>
            <a:ext cx="101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Feeling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2" name="Straight Arrow Connector 30"/>
          <p:cNvCxnSpPr/>
          <p:nvPr/>
        </p:nvCxnSpPr>
        <p:spPr>
          <a:xfrm flipH="1">
            <a:off x="4759920" y="2708280"/>
            <a:ext cx="472680" cy="333360"/>
          </a:xfrm>
          <a:prstGeom prst="straightConnector1">
            <a:avLst/>
          </a:prstGeom>
          <a:ln w="19050">
            <a:solidFill>
              <a:srgbClr val="ffffff"/>
            </a:solidFill>
            <a:round/>
            <a:tailEnd len="lg" type="stealth" w="lg"/>
          </a:ln>
        </p:spPr>
      </p:cxnSp>
      <p:cxnSp>
        <p:nvCxnSpPr>
          <p:cNvPr id="93" name="Straight Arrow Connector 32"/>
          <p:cNvCxnSpPr>
            <a:stCxn id="91" idx="2"/>
          </p:cNvCxnSpPr>
          <p:nvPr/>
        </p:nvCxnSpPr>
        <p:spPr>
          <a:xfrm>
            <a:off x="5382360" y="2735280"/>
            <a:ext cx="720" cy="691200"/>
          </a:xfrm>
          <a:prstGeom prst="straightConnector1">
            <a:avLst/>
          </a:prstGeom>
          <a:ln w="19050">
            <a:solidFill>
              <a:srgbClr val="ffffff"/>
            </a:solidFill>
            <a:round/>
            <a:tailEnd len="lg" type="stealth" w="lg"/>
          </a:ln>
        </p:spPr>
      </p:cxnSp>
      <p:cxnSp>
        <p:nvCxnSpPr>
          <p:cNvPr id="94" name="Straight Arrow Connector 37"/>
          <p:cNvCxnSpPr/>
          <p:nvPr/>
        </p:nvCxnSpPr>
        <p:spPr>
          <a:xfrm>
            <a:off x="5579280" y="2708280"/>
            <a:ext cx="511920" cy="902880"/>
          </a:xfrm>
          <a:prstGeom prst="straightConnector1">
            <a:avLst/>
          </a:prstGeom>
          <a:ln w="19050">
            <a:solidFill>
              <a:srgbClr val="ffffff"/>
            </a:solidFill>
            <a:round/>
            <a:tailEnd len="lg" type="stealth" w="lg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0" dur="indefinite" restart="never" nodeType="tmRoot">
          <p:childTnLst>
            <p:seq>
              <p:cTn id="321" dur="indefinite" nodeType="mainSeq">
                <p:childTnLst>
                  <p:par>
                    <p:cTn id="322" nodeType="clickEffect" fill="hold">
                      <p:stCondLst>
                        <p:cond delay="indefinite"/>
                      </p:stCondLst>
                      <p:childTnLst>
                        <p:par>
                          <p:cTn id="3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6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nodeType="clickEffect" fill="hold">
                      <p:stCondLst>
                        <p:cond delay="indefinite"/>
                      </p:stCondLst>
                      <p:childTnLst>
                        <p:par>
                          <p:cTn id="3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6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28160" y="1536120"/>
            <a:ext cx="1193508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7" strike="noStrike">
                <a:solidFill>
                  <a:schemeClr val="lt1"/>
                </a:solidFill>
                <a:latin typeface="Garamond"/>
              </a:rPr>
              <a:t>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Content Placeholder 1"/>
          <p:cNvSpPr/>
          <p:nvPr/>
        </p:nvSpPr>
        <p:spPr>
          <a:xfrm>
            <a:off x="801360" y="2717640"/>
            <a:ext cx="10588680" cy="25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 lnSpcReduction="10000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D. Mark. 2009.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Behavioral Mathematics for Game AI.</a:t>
            </a:r>
            <a:br>
              <a:rPr sz="3200"/>
            </a:b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Cengage Learning.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00ff"/>
              </a:buClr>
              <a:buFont typeface="Tw Cen MT"/>
              <a:buChar char=" 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I. Wilson. 1999. </a:t>
            </a:r>
            <a:r>
              <a:rPr b="0" i="1" lang="en-US" sz="3200" spc="-1" strike="noStrike">
                <a:solidFill>
                  <a:schemeClr val="lt1"/>
                </a:solidFill>
                <a:latin typeface="Garamond"/>
              </a:rPr>
              <a:t>Artificial Emotion: Simulating Mood and Personality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.</a:t>
            </a:r>
            <a:br>
              <a:rPr sz="3200"/>
            </a:b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Gamasutra.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586</TotalTime>
  <Application>LibreOffice/24.2.7.2$Linux_X86_64 LibreOffice_project/420$Build-2</Application>
  <AppVersion>15.0000</AppVersion>
  <Words>709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ja-JP</dc:language>
  <cp:lastModifiedBy>Jeremiah Blanchard</cp:lastModifiedBy>
  <dcterms:modified xsi:type="dcterms:W3CDTF">2025-11-11T08:57:40Z</dcterms:modified>
  <cp:revision>103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8</vt:i4>
  </property>
  <property fmtid="{D5CDD505-2E9C-101B-9397-08002B2CF9AE}" pid="8" name="PresentationFormat">
    <vt:lpwstr>Widescreen</vt:lpwstr>
  </property>
  <property fmtid="{D5CDD505-2E9C-101B-9397-08002B2CF9AE}" pid="9" name="Slides">
    <vt:i4>10</vt:i4>
  </property>
</Properties>
</file>